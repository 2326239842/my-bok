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48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979AA7-477B-2538-24BB-0312791724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A4B44F1-17E2-5912-7882-311F99134B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FF1C0C-3A86-50F0-FB7D-90808E34E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89C5A-6249-48D3-851A-BD6931F9B6EF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739943-A7DE-DF63-E4C3-F2A80E746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21DFF9-963A-4BFF-89E9-F7829DCE9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80FD9-882D-4F86-9BAA-B13DA01A53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3975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D154A6-FD48-FC0B-BEAC-E5774E4B0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C4A03A-2F61-40EB-FD94-2E8E91279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4DF58D-47E4-4744-0A57-574EEE994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89C5A-6249-48D3-851A-BD6931F9B6EF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E10A21-C44D-C8CA-3A31-D3E16C1DA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86263C-94F6-F945-96F5-91E342668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80FD9-882D-4F86-9BAA-B13DA01A53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149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98129D-62C0-3D1F-800B-E156A5236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7C17C4-6A67-2BD7-EF88-C5480A23A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A48A5F-30B1-0EC7-B605-17F00EE1B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89C5A-6249-48D3-851A-BD6931F9B6EF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3E625A-5824-FCD7-94E0-5BCB33A41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E32AB0-B16E-83D0-4A8D-B4E75FE05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80FD9-882D-4F86-9BAA-B13DA01A53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5210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7B82BC-EF6B-8D0B-9CA8-460D3B6FA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EDC8C5-BCD6-A349-8FC3-E4D1CCAF0B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0F648E5-E47D-D511-7352-C28B248FA0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97795A9-29B0-9777-7291-4B30ABF2E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89C5A-6249-48D3-851A-BD6931F9B6EF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7E62B2E-2A9E-B4AB-46B9-5B458B9B4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95B0BBC-A71C-1FF2-F471-A77005745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80FD9-882D-4F86-9BAA-B13DA01A53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9255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803C99-CF95-B649-2689-CD26E9DC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DEFB1E-088F-EFF0-24FA-7EDD029114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2FAE81D-D8AE-2F14-9D58-F2E8789586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08A293E-AC9F-3F3D-C9C0-A98BA7EE6F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3D1D98E-83AE-6335-F070-56E856C7EE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7CEC2C8-8E2D-C524-2714-6B4990279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89C5A-6249-48D3-851A-BD6931F9B6EF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64F0347-B44C-61AB-639D-A4D8A20D2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905E754-EC9B-D92A-03A3-949AAB2E4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80FD9-882D-4F86-9BAA-B13DA01A53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0462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DD350E-B721-9CE6-FF95-F41F5B131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B55860B-10AA-D1D3-7265-AB7B162FD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89C5A-6249-48D3-851A-BD6931F9B6EF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91CE64F-73D8-1170-61A3-7FA243CA9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EFFA43C-CCCE-F301-4820-FEAE02D20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80FD9-882D-4F86-9BAA-B13DA01A53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1591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D07D963-E9BD-11E1-3578-5354B6916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89C5A-6249-48D3-851A-BD6931F9B6EF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BA521A1-5331-FFC8-AF08-AE26BC4F1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C86487-880B-7321-5982-DCAAC2E41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80FD9-882D-4F86-9BAA-B13DA01A53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695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5EF5A5-5AD1-093E-42E2-9EBBDB11E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C3E7E4-DBAD-7D90-9045-15178EECB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B55B4D4-65D0-B99D-7DD6-8EEFD7DB9A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FDE3A94-67C1-0E98-926C-660B44E40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89C5A-6249-48D3-851A-BD6931F9B6EF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AEA3B7-699E-949E-44BC-07D011A09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4D0D1B9-63B1-373E-49D7-066EDB169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80FD9-882D-4F86-9BAA-B13DA01A53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666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3279D9-7E02-03BC-4D1C-22A51AAF0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A30547D-7970-0CDA-769F-50BDD68D1E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723BC8C-BA20-55BF-7048-1553A55E78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ED78961-212C-16B0-7208-3F9E7670A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89C5A-6249-48D3-851A-BD6931F9B6EF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3C91017-F59E-E2F3-4E90-8173D41DE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386CF38-6AF6-A8F4-322E-56E22CEE9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80FD9-882D-4F86-9BAA-B13DA01A53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6315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CC7AB1-63F1-5F9B-3D66-691C54279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DA27C97-E66A-C613-CCEB-44CA368323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46AEB8-672F-C7EE-1DB2-6C6599557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89C5A-6249-48D3-851A-BD6931F9B6EF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1B3AF7-9EBC-CB83-78B2-40EA0A915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D9E328-1BB0-F520-633C-148F4E240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80FD9-882D-4F86-9BAA-B13DA01A53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8708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245EE87-DD49-FFA3-D56A-3961C5788D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538778B-F873-DB14-B55E-6E8D084237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A01168-D955-16DF-8327-4EEEB69B0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89C5A-6249-48D3-851A-BD6931F9B6EF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0994EF-C0DB-977D-4823-9C93BF524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4812D3-5A40-2581-5C20-82DFC9E7A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80FD9-882D-4F86-9BAA-B13DA01A53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008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17F4902-65A8-219F-36EA-A8F07C1E3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A2B380-76CF-8973-F79C-8BDA508E78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A58034-25EF-18B8-566C-B1057A2EA7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089C5A-6249-48D3-851A-BD6931F9B6EF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BEE9C3-A800-4562-6071-1ED9EB4DEC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247207-FD9E-256B-46E9-DD1EF42FB4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B80FD9-882D-4F86-9BAA-B13DA01A53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5570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75616C67-854D-AB21-1E51-EE3B784AA12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8281B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BFCA603-1334-690E-255B-DA7700D3D3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1B0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247577B-CDE3-2E98-C6C7-4B02D3295F6C}"/>
              </a:ext>
            </a:extLst>
          </p:cNvPr>
          <p:cNvSpPr/>
          <p:nvPr/>
        </p:nvSpPr>
        <p:spPr>
          <a:xfrm>
            <a:off x="6350000" y="635000"/>
            <a:ext cx="5080000" cy="5080000"/>
          </a:xfrm>
          <a:prstGeom prst="rect">
            <a:avLst/>
          </a:prstGeom>
          <a:solidFill>
            <a:srgbClr val="C0651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82CBC5-6DF3-B8D5-9160-0F55DED72402}"/>
              </a:ext>
            </a:extLst>
          </p:cNvPr>
          <p:cNvSpPr/>
          <p:nvPr/>
        </p:nvSpPr>
        <p:spPr>
          <a:xfrm>
            <a:off x="6350000" y="635000"/>
            <a:ext cx="5080000" cy="5080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BB13663-E281-C5B3-6EF4-6CCFAA840AC7}"/>
              </a:ext>
            </a:extLst>
          </p:cNvPr>
          <p:cNvSpPr/>
          <p:nvPr/>
        </p:nvSpPr>
        <p:spPr>
          <a:xfrm>
            <a:off x="6985000" y="1270000"/>
            <a:ext cx="3810000" cy="3810000"/>
          </a:xfrm>
          <a:prstGeom prst="ellipse">
            <a:avLst/>
          </a:prstGeom>
          <a:solidFill>
            <a:srgbClr val="C06515">
              <a:alpha val="3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225828D-BC62-35DF-5F3F-BDA6EEC74BC1}"/>
              </a:ext>
            </a:extLst>
          </p:cNvPr>
          <p:cNvSpPr/>
          <p:nvPr/>
        </p:nvSpPr>
        <p:spPr>
          <a:xfrm>
            <a:off x="762000" y="1016000"/>
            <a:ext cx="50800" cy="2540000"/>
          </a:xfrm>
          <a:prstGeom prst="rect">
            <a:avLst/>
          </a:prstGeom>
          <a:solidFill>
            <a:srgbClr val="F3962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7DEE5F7-07CD-0744-7402-04C7FE984E66}"/>
              </a:ext>
            </a:extLst>
          </p:cNvPr>
          <p:cNvSpPr txBox="1"/>
          <p:nvPr/>
        </p:nvSpPr>
        <p:spPr>
          <a:xfrm>
            <a:off x="1143000" y="1016000"/>
            <a:ext cx="6350000" cy="7386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4200" b="1">
                <a:solidFill>
                  <a:srgbClr val="FFFFFF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sz="4200" b="1">
                <a:solidFill>
                  <a:srgbClr val="FFFFFF"/>
                </a:solidFill>
                <a:latin typeface="Microsoft YaHei" panose="020B0503020204020204" pitchFamily="34" charset="-122"/>
              </a:rPr>
              <a:t>资本泡沫与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8B716CB-A888-A18E-132D-EFBD13733296}"/>
              </a:ext>
            </a:extLst>
          </p:cNvPr>
          <p:cNvSpPr txBox="1"/>
          <p:nvPr/>
        </p:nvSpPr>
        <p:spPr>
          <a:xfrm>
            <a:off x="1143000" y="1841500"/>
            <a:ext cx="6350000" cy="7386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4200" b="1">
                <a:solidFill>
                  <a:srgbClr val="FFFFFF"/>
                </a:solidFill>
                <a:latin typeface="Microsoft YaHei" panose="020B0503020204020204" pitchFamily="34" charset="-122"/>
              </a:rPr>
              <a:t>全球经济未来影响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2752180-78E4-050B-4949-206400B661A2}"/>
              </a:ext>
            </a:extLst>
          </p:cNvPr>
          <p:cNvSpPr txBox="1"/>
          <p:nvPr/>
        </p:nvSpPr>
        <p:spPr>
          <a:xfrm>
            <a:off x="1143000" y="2857500"/>
            <a:ext cx="635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600">
                <a:solidFill>
                  <a:srgbClr val="F39621"/>
                </a:solidFill>
                <a:latin typeface="Microsoft YaHei" panose="020B0503020204020204" pitchFamily="34" charset="-122"/>
              </a:rPr>
              <a:t>AI Capital Bubble &amp; Global Economic Impact Analysis</a:t>
            </a:r>
            <a:endParaRPr lang="zh-CN" altLang="en-US" sz="1600">
              <a:solidFill>
                <a:srgbClr val="F396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DAB474C-9400-E351-47BB-C03517F261F0}"/>
              </a:ext>
            </a:extLst>
          </p:cNvPr>
          <p:cNvSpPr/>
          <p:nvPr/>
        </p:nvSpPr>
        <p:spPr>
          <a:xfrm>
            <a:off x="1143000" y="3429000"/>
            <a:ext cx="3810000" cy="25400"/>
          </a:xfrm>
          <a:prstGeom prst="rect">
            <a:avLst/>
          </a:prstGeom>
          <a:solidFill>
            <a:srgbClr val="F3962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53225A4-E5C9-BE6E-674D-E21788FEF1F4}"/>
              </a:ext>
            </a:extLst>
          </p:cNvPr>
          <p:cNvSpPr txBox="1"/>
          <p:nvPr/>
        </p:nvSpPr>
        <p:spPr>
          <a:xfrm>
            <a:off x="1143000" y="3619500"/>
            <a:ext cx="762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2026</a:t>
            </a:r>
            <a:r>
              <a:rPr lang="zh-CN" altLang="en-US" sz="1100">
                <a:solidFill>
                  <a:srgbClr val="757575"/>
                </a:solidFill>
                <a:latin typeface="Microsoft YaHei" panose="020B0503020204020204" pitchFamily="34" charset="-122"/>
              </a:rPr>
              <a:t>年</a:t>
            </a:r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6</a:t>
            </a:r>
            <a:r>
              <a:rPr lang="zh-CN" altLang="en-US" sz="1100">
                <a:solidFill>
                  <a:srgbClr val="757575"/>
                </a:solidFill>
                <a:latin typeface="Microsoft YaHei" panose="020B0503020204020204" pitchFamily="34" charset="-122"/>
              </a:rPr>
              <a:t>月  </a:t>
            </a:r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|  </a:t>
            </a:r>
            <a:r>
              <a:rPr lang="zh-CN" altLang="en-US" sz="1100">
                <a:solidFill>
                  <a:srgbClr val="757575"/>
                </a:solidFill>
                <a:latin typeface="Microsoft YaHei" panose="020B0503020204020204" pitchFamily="34" charset="-122"/>
              </a:rPr>
              <a:t>数据来源</a:t>
            </a:r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: IMF · </a:t>
            </a:r>
            <a:r>
              <a:rPr lang="zh-CN" altLang="en-US" sz="1100">
                <a:solidFill>
                  <a:srgbClr val="757575"/>
                </a:solidFill>
                <a:latin typeface="Microsoft YaHei" panose="020B0503020204020204" pitchFamily="34" charset="-122"/>
              </a:rPr>
              <a:t>世界银行 </a:t>
            </a:r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· IDC · Goldman Sachs · UNCTAD</a:t>
            </a:r>
            <a:endParaRPr lang="zh-CN" altLang="en-US" sz="1100">
              <a:solidFill>
                <a:srgbClr val="757575"/>
              </a:solidFill>
              <a:latin typeface="Microsoft YaHei" panose="020B0503020204020204" pitchFamily="3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7B9AAB54-120C-5EC8-885B-E755EF26A2A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500" y="1143000"/>
            <a:ext cx="4445000" cy="4064000"/>
          </a:xfrm>
          <a:prstGeom prst="rect">
            <a:avLst/>
          </a:prstGeom>
          <a:effectLst>
            <a:outerShdw blurRad="152400" dist="37357" dir="2700000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62573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D7AFDC50-E3F2-95BA-65C9-DB4BAC45B0B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DE8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D128469-E78F-B69A-7769-E31D29233E7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7F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FF58B51-99B0-A751-C30D-49CE61551299}"/>
              </a:ext>
            </a:extLst>
          </p:cNvPr>
          <p:cNvSpPr txBox="1"/>
          <p:nvPr/>
        </p:nvSpPr>
        <p:spPr>
          <a:xfrm>
            <a:off x="508000" y="381000"/>
            <a:ext cx="2540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800" b="1">
                <a:solidFill>
                  <a:srgbClr val="212121"/>
                </a:solidFill>
                <a:latin typeface="Microsoft YaHei" panose="020B0503020204020204" pitchFamily="34" charset="-122"/>
              </a:rPr>
              <a:t>目录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2BCA469-5513-AA58-49AC-07C4E6CFEE73}"/>
              </a:ext>
            </a:extLst>
          </p:cNvPr>
          <p:cNvSpPr txBox="1"/>
          <p:nvPr/>
        </p:nvSpPr>
        <p:spPr>
          <a:xfrm>
            <a:off x="508000" y="889000"/>
            <a:ext cx="254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200">
                <a:solidFill>
                  <a:srgbClr val="757575"/>
                </a:solidFill>
                <a:latin typeface="Microsoft YaHei" panose="020B0503020204020204" pitchFamily="34" charset="-122"/>
              </a:rPr>
              <a:t>CONTENTS</a:t>
            </a:r>
            <a:endParaRPr lang="zh-CN" altLang="en-US" sz="1200">
              <a:solidFill>
                <a:srgbClr val="7575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E124D75-A69E-D7E1-9E87-C06B469AFD8C}"/>
              </a:ext>
            </a:extLst>
          </p:cNvPr>
          <p:cNvSpPr/>
          <p:nvPr/>
        </p:nvSpPr>
        <p:spPr>
          <a:xfrm>
            <a:off x="508000" y="1206500"/>
            <a:ext cx="11176000" cy="25400"/>
          </a:xfrm>
          <a:prstGeom prst="rect">
            <a:avLst/>
          </a:prstGeom>
          <a:solidFill>
            <a:srgbClr val="F3962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6EF32AD-826B-2072-E69D-250893AFF008}"/>
              </a:ext>
            </a:extLst>
          </p:cNvPr>
          <p:cNvSpPr txBox="1"/>
          <p:nvPr/>
        </p:nvSpPr>
        <p:spPr>
          <a:xfrm>
            <a:off x="635000" y="1524000"/>
            <a:ext cx="635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b="1">
                <a:solidFill>
                  <a:srgbClr val="F39621"/>
                </a:solidFill>
                <a:latin typeface="Microsoft YaHei" panose="020B0503020204020204" pitchFamily="34" charset="-122"/>
              </a:rPr>
              <a:t>01</a:t>
            </a:r>
            <a:endParaRPr lang="zh-CN" altLang="en-US" b="1">
              <a:solidFill>
                <a:srgbClr val="F396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9980BA9-ED09-3C05-4F5C-C67C37DD86F0}"/>
              </a:ext>
            </a:extLst>
          </p:cNvPr>
          <p:cNvSpPr/>
          <p:nvPr/>
        </p:nvSpPr>
        <p:spPr>
          <a:xfrm>
            <a:off x="1270000" y="1587500"/>
            <a:ext cx="25400" cy="203200"/>
          </a:xfrm>
          <a:prstGeom prst="rect">
            <a:avLst/>
          </a:prstGeom>
          <a:solidFill>
            <a:srgbClr val="F3962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5D5BB9E-61A5-8A50-D2A5-ECA91D7A66AD}"/>
              </a:ext>
            </a:extLst>
          </p:cNvPr>
          <p:cNvSpPr txBox="1"/>
          <p:nvPr/>
        </p:nvSpPr>
        <p:spPr>
          <a:xfrm>
            <a:off x="1460500" y="1524000"/>
            <a:ext cx="381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400" b="1">
                <a:solidFill>
                  <a:srgbClr val="212121"/>
                </a:solidFill>
                <a:latin typeface="Microsoft YaHei" panose="020B0503020204020204" pitchFamily="34" charset="-122"/>
              </a:rPr>
              <a:t>全球经济宏观概览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AF9E3D-2D80-5EE2-A05A-BF41BB9188DC}"/>
              </a:ext>
            </a:extLst>
          </p:cNvPr>
          <p:cNvSpPr txBox="1"/>
          <p:nvPr/>
        </p:nvSpPr>
        <p:spPr>
          <a:xfrm>
            <a:off x="1460500" y="1778000"/>
            <a:ext cx="5080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900">
                <a:solidFill>
                  <a:srgbClr val="757575"/>
                </a:solidFill>
                <a:latin typeface="Microsoft YaHei" panose="020B0503020204020204" pitchFamily="34" charset="-122"/>
              </a:rPr>
              <a:t>IMF·</a:t>
            </a:r>
            <a:r>
              <a:rPr lang="zh-CN" altLang="en-US" sz="900">
                <a:solidFill>
                  <a:srgbClr val="757575"/>
                </a:solidFill>
                <a:latin typeface="Microsoft YaHei" panose="020B0503020204020204" pitchFamily="34" charset="-122"/>
              </a:rPr>
              <a:t>世界银行最新预测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27731AD-3B0B-AACA-E5C5-A0CA1862F3C5}"/>
              </a:ext>
            </a:extLst>
          </p:cNvPr>
          <p:cNvSpPr txBox="1"/>
          <p:nvPr/>
        </p:nvSpPr>
        <p:spPr>
          <a:xfrm>
            <a:off x="635000" y="2032000"/>
            <a:ext cx="635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b="1">
                <a:solidFill>
                  <a:srgbClr val="F39621"/>
                </a:solidFill>
                <a:latin typeface="Microsoft YaHei" panose="020B0503020204020204" pitchFamily="34" charset="-122"/>
              </a:rPr>
              <a:t>02</a:t>
            </a:r>
            <a:endParaRPr lang="zh-CN" altLang="en-US" b="1">
              <a:solidFill>
                <a:srgbClr val="F396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740D049-68B3-A5B0-7C1A-6EB01889EAB0}"/>
              </a:ext>
            </a:extLst>
          </p:cNvPr>
          <p:cNvSpPr/>
          <p:nvPr/>
        </p:nvSpPr>
        <p:spPr>
          <a:xfrm>
            <a:off x="1270000" y="2095500"/>
            <a:ext cx="25400" cy="203200"/>
          </a:xfrm>
          <a:prstGeom prst="rect">
            <a:avLst/>
          </a:prstGeom>
          <a:solidFill>
            <a:srgbClr val="F3962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13D80F6-1AF3-019A-96C4-6867F736BBCB}"/>
              </a:ext>
            </a:extLst>
          </p:cNvPr>
          <p:cNvSpPr txBox="1"/>
          <p:nvPr/>
        </p:nvSpPr>
        <p:spPr>
          <a:xfrm>
            <a:off x="1460500" y="2032000"/>
            <a:ext cx="381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400" b="1">
                <a:solidFill>
                  <a:srgbClr val="212121"/>
                </a:solidFill>
                <a:latin typeface="Microsoft YaHei" panose="020B0503020204020204" pitchFamily="34" charset="-122"/>
              </a:rPr>
              <a:t>中国经济发展全景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73AB8E1-2799-94AD-485D-C5378E88F763}"/>
              </a:ext>
            </a:extLst>
          </p:cNvPr>
          <p:cNvSpPr txBox="1"/>
          <p:nvPr/>
        </p:nvSpPr>
        <p:spPr>
          <a:xfrm>
            <a:off x="1460500" y="2286000"/>
            <a:ext cx="5080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900">
                <a:solidFill>
                  <a:srgbClr val="757575"/>
                </a:solidFill>
                <a:latin typeface="Microsoft YaHei" panose="020B0503020204020204" pitchFamily="34" charset="-122"/>
              </a:rPr>
              <a:t>GDP·</a:t>
            </a:r>
            <a:r>
              <a:rPr lang="zh-CN" altLang="en-US" sz="900">
                <a:solidFill>
                  <a:srgbClr val="757575"/>
                </a:solidFill>
                <a:latin typeface="Microsoft YaHei" panose="020B0503020204020204" pitchFamily="34" charset="-122"/>
              </a:rPr>
              <a:t>工业</a:t>
            </a:r>
            <a:r>
              <a:rPr lang="en-US" altLang="zh-CN" sz="900">
                <a:solidFill>
                  <a:srgbClr val="757575"/>
                </a:solidFill>
                <a:latin typeface="Microsoft YaHei" panose="020B0503020204020204" pitchFamily="34" charset="-122"/>
              </a:rPr>
              <a:t>·</a:t>
            </a:r>
            <a:r>
              <a:rPr lang="zh-CN" altLang="en-US" sz="900">
                <a:solidFill>
                  <a:srgbClr val="757575"/>
                </a:solidFill>
                <a:latin typeface="Microsoft YaHei" panose="020B0503020204020204" pitchFamily="34" charset="-122"/>
              </a:rPr>
              <a:t>贸易</a:t>
            </a:r>
            <a:r>
              <a:rPr lang="en-US" altLang="zh-CN" sz="900">
                <a:solidFill>
                  <a:srgbClr val="757575"/>
                </a:solidFill>
                <a:latin typeface="Microsoft YaHei" panose="020B0503020204020204" pitchFamily="34" charset="-122"/>
              </a:rPr>
              <a:t>·</a:t>
            </a:r>
            <a:r>
              <a:rPr lang="zh-CN" altLang="en-US" sz="900">
                <a:solidFill>
                  <a:srgbClr val="757575"/>
                </a:solidFill>
                <a:latin typeface="Microsoft YaHei" panose="020B0503020204020204" pitchFamily="34" charset="-122"/>
              </a:rPr>
              <a:t>消费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717760C-F69A-BFC1-72F2-D0D3F6040A2D}"/>
              </a:ext>
            </a:extLst>
          </p:cNvPr>
          <p:cNvSpPr txBox="1"/>
          <p:nvPr/>
        </p:nvSpPr>
        <p:spPr>
          <a:xfrm>
            <a:off x="635000" y="2540000"/>
            <a:ext cx="635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b="1">
                <a:solidFill>
                  <a:srgbClr val="F39621"/>
                </a:solidFill>
                <a:latin typeface="Microsoft YaHei" panose="020B0503020204020204" pitchFamily="34" charset="-122"/>
              </a:rPr>
              <a:t>03</a:t>
            </a:r>
            <a:endParaRPr lang="zh-CN" altLang="en-US" b="1">
              <a:solidFill>
                <a:srgbClr val="F396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55C289C-0AB0-190D-5B09-EF9D5CA431D3}"/>
              </a:ext>
            </a:extLst>
          </p:cNvPr>
          <p:cNvSpPr/>
          <p:nvPr/>
        </p:nvSpPr>
        <p:spPr>
          <a:xfrm>
            <a:off x="1270000" y="2603500"/>
            <a:ext cx="25400" cy="203200"/>
          </a:xfrm>
          <a:prstGeom prst="rect">
            <a:avLst/>
          </a:prstGeom>
          <a:solidFill>
            <a:srgbClr val="F3962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521F6E8-1960-4122-B6C9-39236A0439B5}"/>
              </a:ext>
            </a:extLst>
          </p:cNvPr>
          <p:cNvSpPr txBox="1"/>
          <p:nvPr/>
        </p:nvSpPr>
        <p:spPr>
          <a:xfrm>
            <a:off x="1460500" y="2540000"/>
            <a:ext cx="381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400" b="1">
                <a:solidFill>
                  <a:srgbClr val="212121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sz="1400" b="1">
                <a:solidFill>
                  <a:srgbClr val="212121"/>
                </a:solidFill>
                <a:latin typeface="Microsoft YaHei" panose="020B0503020204020204" pitchFamily="34" charset="-122"/>
              </a:rPr>
              <a:t>投资爆发式增长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0E5B338-EB5C-17CD-6855-E0A29B018E5B}"/>
              </a:ext>
            </a:extLst>
          </p:cNvPr>
          <p:cNvSpPr txBox="1"/>
          <p:nvPr/>
        </p:nvSpPr>
        <p:spPr>
          <a:xfrm>
            <a:off x="1460500" y="2794000"/>
            <a:ext cx="5080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00">
                <a:solidFill>
                  <a:srgbClr val="757575"/>
                </a:solidFill>
                <a:latin typeface="Microsoft YaHei" panose="020B0503020204020204" pitchFamily="34" charset="-122"/>
              </a:rPr>
              <a:t>全球</a:t>
            </a:r>
            <a:r>
              <a:rPr lang="en-US" altLang="zh-CN" sz="900">
                <a:solidFill>
                  <a:srgbClr val="757575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sz="900">
                <a:solidFill>
                  <a:srgbClr val="757575"/>
                </a:solidFill>
                <a:latin typeface="Microsoft YaHei" panose="020B0503020204020204" pitchFamily="34" charset="-122"/>
              </a:rPr>
              <a:t>基建资本支出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672586F-3662-68A8-C179-24AEF355982A}"/>
              </a:ext>
            </a:extLst>
          </p:cNvPr>
          <p:cNvSpPr txBox="1"/>
          <p:nvPr/>
        </p:nvSpPr>
        <p:spPr>
          <a:xfrm>
            <a:off x="635000" y="3048000"/>
            <a:ext cx="635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b="1">
                <a:solidFill>
                  <a:srgbClr val="F39621"/>
                </a:solidFill>
                <a:latin typeface="Microsoft YaHei" panose="020B0503020204020204" pitchFamily="34" charset="-122"/>
              </a:rPr>
              <a:t>04</a:t>
            </a:r>
            <a:endParaRPr lang="zh-CN" altLang="en-US" b="1">
              <a:solidFill>
                <a:srgbClr val="F396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F2A45B2-BA1D-ED2F-6310-9660D5D72EF0}"/>
              </a:ext>
            </a:extLst>
          </p:cNvPr>
          <p:cNvSpPr/>
          <p:nvPr/>
        </p:nvSpPr>
        <p:spPr>
          <a:xfrm>
            <a:off x="1270000" y="3111500"/>
            <a:ext cx="25400" cy="203200"/>
          </a:xfrm>
          <a:prstGeom prst="rect">
            <a:avLst/>
          </a:prstGeom>
          <a:solidFill>
            <a:srgbClr val="F3962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54932BA-73E7-CFEB-52BA-9BC6172F31AB}"/>
              </a:ext>
            </a:extLst>
          </p:cNvPr>
          <p:cNvSpPr txBox="1"/>
          <p:nvPr/>
        </p:nvSpPr>
        <p:spPr>
          <a:xfrm>
            <a:off x="1460500" y="3048000"/>
            <a:ext cx="381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400" b="1">
                <a:solidFill>
                  <a:srgbClr val="212121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sz="1400" b="1">
                <a:solidFill>
                  <a:srgbClr val="212121"/>
                </a:solidFill>
                <a:latin typeface="Microsoft YaHei" panose="020B0503020204020204" pitchFamily="34" charset="-122"/>
              </a:rPr>
              <a:t>资本泡沫风险分析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47500A3-B5B7-1E44-8930-B855FFC6D564}"/>
              </a:ext>
            </a:extLst>
          </p:cNvPr>
          <p:cNvSpPr txBox="1"/>
          <p:nvPr/>
        </p:nvSpPr>
        <p:spPr>
          <a:xfrm>
            <a:off x="1460500" y="3302000"/>
            <a:ext cx="5080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00">
                <a:solidFill>
                  <a:srgbClr val="757575"/>
                </a:solidFill>
                <a:latin typeface="Microsoft YaHei" panose="020B0503020204020204" pitchFamily="34" charset="-122"/>
              </a:rPr>
              <a:t>历史对比</a:t>
            </a:r>
            <a:r>
              <a:rPr lang="en-US" altLang="zh-CN" sz="900">
                <a:solidFill>
                  <a:srgbClr val="757575"/>
                </a:solidFill>
                <a:latin typeface="Microsoft YaHei" panose="020B0503020204020204" pitchFamily="34" charset="-122"/>
              </a:rPr>
              <a:t>·</a:t>
            </a:r>
            <a:r>
              <a:rPr lang="zh-CN" altLang="en-US" sz="900">
                <a:solidFill>
                  <a:srgbClr val="757575"/>
                </a:solidFill>
                <a:latin typeface="Microsoft YaHei" panose="020B0503020204020204" pitchFamily="34" charset="-122"/>
              </a:rPr>
              <a:t>估值泡沫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7EADC9A-A072-548D-270F-DF8BD73D1A33}"/>
              </a:ext>
            </a:extLst>
          </p:cNvPr>
          <p:cNvSpPr txBox="1"/>
          <p:nvPr/>
        </p:nvSpPr>
        <p:spPr>
          <a:xfrm>
            <a:off x="635000" y="3556000"/>
            <a:ext cx="635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b="1">
                <a:solidFill>
                  <a:srgbClr val="F39621"/>
                </a:solidFill>
                <a:latin typeface="Microsoft YaHei" panose="020B0503020204020204" pitchFamily="34" charset="-122"/>
              </a:rPr>
              <a:t>05</a:t>
            </a:r>
            <a:endParaRPr lang="zh-CN" altLang="en-US" b="1">
              <a:solidFill>
                <a:srgbClr val="F396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92F5D86-4B5D-69A5-D844-AEC1A611CDAA}"/>
              </a:ext>
            </a:extLst>
          </p:cNvPr>
          <p:cNvSpPr/>
          <p:nvPr/>
        </p:nvSpPr>
        <p:spPr>
          <a:xfrm>
            <a:off x="1270000" y="3619500"/>
            <a:ext cx="25400" cy="203200"/>
          </a:xfrm>
          <a:prstGeom prst="rect">
            <a:avLst/>
          </a:prstGeom>
          <a:solidFill>
            <a:srgbClr val="F3962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D6F61CA-9614-6758-B7D3-0683519E2840}"/>
              </a:ext>
            </a:extLst>
          </p:cNvPr>
          <p:cNvSpPr txBox="1"/>
          <p:nvPr/>
        </p:nvSpPr>
        <p:spPr>
          <a:xfrm>
            <a:off x="1460500" y="3556000"/>
            <a:ext cx="381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400" b="1">
                <a:solidFill>
                  <a:srgbClr val="212121"/>
                </a:solidFill>
                <a:latin typeface="Microsoft YaHei" panose="020B0503020204020204" pitchFamily="34" charset="-122"/>
              </a:rPr>
              <a:t>国际资本流动格局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C160309-892B-360B-80A0-09E624445C5D}"/>
              </a:ext>
            </a:extLst>
          </p:cNvPr>
          <p:cNvSpPr txBox="1"/>
          <p:nvPr/>
        </p:nvSpPr>
        <p:spPr>
          <a:xfrm>
            <a:off x="1460500" y="3810000"/>
            <a:ext cx="5080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900">
                <a:solidFill>
                  <a:srgbClr val="757575"/>
                </a:solidFill>
                <a:latin typeface="Microsoft YaHei" panose="020B0503020204020204" pitchFamily="34" charset="-122"/>
              </a:rPr>
              <a:t>FDI·</a:t>
            </a:r>
            <a:r>
              <a:rPr lang="zh-CN" altLang="en-US" sz="900">
                <a:solidFill>
                  <a:srgbClr val="757575"/>
                </a:solidFill>
                <a:latin typeface="Microsoft YaHei" panose="020B0503020204020204" pitchFamily="34" charset="-122"/>
              </a:rPr>
              <a:t>跨境资本</a:t>
            </a:r>
            <a:r>
              <a:rPr lang="en-US" altLang="zh-CN" sz="900">
                <a:solidFill>
                  <a:srgbClr val="757575"/>
                </a:solidFill>
                <a:latin typeface="Microsoft YaHei" panose="020B0503020204020204" pitchFamily="34" charset="-122"/>
              </a:rPr>
              <a:t>·</a:t>
            </a:r>
            <a:r>
              <a:rPr lang="zh-CN" altLang="en-US" sz="900">
                <a:solidFill>
                  <a:srgbClr val="757575"/>
                </a:solidFill>
                <a:latin typeface="Microsoft YaHei" panose="020B0503020204020204" pitchFamily="34" charset="-122"/>
              </a:rPr>
              <a:t>新兴市场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E9B3C88-283F-DB80-3820-D22DCB74367A}"/>
              </a:ext>
            </a:extLst>
          </p:cNvPr>
          <p:cNvSpPr txBox="1"/>
          <p:nvPr/>
        </p:nvSpPr>
        <p:spPr>
          <a:xfrm>
            <a:off x="635000" y="4064000"/>
            <a:ext cx="635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b="1">
                <a:solidFill>
                  <a:srgbClr val="F39621"/>
                </a:solidFill>
                <a:latin typeface="Microsoft YaHei" panose="020B0503020204020204" pitchFamily="34" charset="-122"/>
              </a:rPr>
              <a:t>06</a:t>
            </a:r>
            <a:endParaRPr lang="zh-CN" altLang="en-US" b="1">
              <a:solidFill>
                <a:srgbClr val="F396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BEA66CD-A03E-2D57-92DB-4BAE9E54C06F}"/>
              </a:ext>
            </a:extLst>
          </p:cNvPr>
          <p:cNvSpPr/>
          <p:nvPr/>
        </p:nvSpPr>
        <p:spPr>
          <a:xfrm>
            <a:off x="1270000" y="4127500"/>
            <a:ext cx="25400" cy="203200"/>
          </a:xfrm>
          <a:prstGeom prst="rect">
            <a:avLst/>
          </a:prstGeom>
          <a:solidFill>
            <a:srgbClr val="F3962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489E199-6993-0614-F8A8-3E7333ABA97C}"/>
              </a:ext>
            </a:extLst>
          </p:cNvPr>
          <p:cNvSpPr txBox="1"/>
          <p:nvPr/>
        </p:nvSpPr>
        <p:spPr>
          <a:xfrm>
            <a:off x="1460500" y="4064000"/>
            <a:ext cx="381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400" b="1">
                <a:solidFill>
                  <a:srgbClr val="212121"/>
                </a:solidFill>
                <a:latin typeface="Microsoft YaHei" panose="020B0503020204020204" pitchFamily="34" charset="-122"/>
              </a:rPr>
              <a:t>中国</a:t>
            </a:r>
            <a:r>
              <a:rPr lang="en-US" altLang="zh-CN" sz="1400" b="1">
                <a:solidFill>
                  <a:srgbClr val="212121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sz="1400" b="1">
                <a:solidFill>
                  <a:srgbClr val="212121"/>
                </a:solidFill>
                <a:latin typeface="Microsoft YaHei" panose="020B0503020204020204" pitchFamily="34" charset="-122"/>
              </a:rPr>
              <a:t>产业与经济转型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5D99EDD-C997-3A3A-3421-262D1602EDA8}"/>
              </a:ext>
            </a:extLst>
          </p:cNvPr>
          <p:cNvSpPr txBox="1"/>
          <p:nvPr/>
        </p:nvSpPr>
        <p:spPr>
          <a:xfrm>
            <a:off x="1460500" y="4318000"/>
            <a:ext cx="5080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00">
                <a:solidFill>
                  <a:srgbClr val="757575"/>
                </a:solidFill>
                <a:latin typeface="Microsoft YaHei" panose="020B0503020204020204" pitchFamily="34" charset="-122"/>
              </a:rPr>
              <a:t>产业升级</a:t>
            </a:r>
            <a:r>
              <a:rPr lang="en-US" altLang="zh-CN" sz="900">
                <a:solidFill>
                  <a:srgbClr val="757575"/>
                </a:solidFill>
                <a:latin typeface="Microsoft YaHei" panose="020B0503020204020204" pitchFamily="34" charset="-122"/>
              </a:rPr>
              <a:t>·</a:t>
            </a:r>
            <a:r>
              <a:rPr lang="zh-CN" altLang="en-US" sz="900">
                <a:solidFill>
                  <a:srgbClr val="757575"/>
                </a:solidFill>
                <a:latin typeface="Microsoft YaHei" panose="020B0503020204020204" pitchFamily="34" charset="-122"/>
              </a:rPr>
              <a:t>新质生产力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BEC37B95-23FA-7D2E-E5D4-32FB93B8FA8D}"/>
              </a:ext>
            </a:extLst>
          </p:cNvPr>
          <p:cNvSpPr txBox="1"/>
          <p:nvPr/>
        </p:nvSpPr>
        <p:spPr>
          <a:xfrm>
            <a:off x="635000" y="4572000"/>
            <a:ext cx="635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b="1">
                <a:solidFill>
                  <a:srgbClr val="F39621"/>
                </a:solidFill>
                <a:latin typeface="Microsoft YaHei" panose="020B0503020204020204" pitchFamily="34" charset="-122"/>
              </a:rPr>
              <a:t>07</a:t>
            </a:r>
            <a:endParaRPr lang="zh-CN" altLang="en-US" b="1">
              <a:solidFill>
                <a:srgbClr val="F396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3597D29-F6F3-6CA7-C2F1-D985A0A7CCE5}"/>
              </a:ext>
            </a:extLst>
          </p:cNvPr>
          <p:cNvSpPr/>
          <p:nvPr/>
        </p:nvSpPr>
        <p:spPr>
          <a:xfrm>
            <a:off x="1270000" y="4635500"/>
            <a:ext cx="25400" cy="203200"/>
          </a:xfrm>
          <a:prstGeom prst="rect">
            <a:avLst/>
          </a:prstGeom>
          <a:solidFill>
            <a:srgbClr val="F3962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CD2B410-4F42-A9A2-3B28-D75E129C94BB}"/>
              </a:ext>
            </a:extLst>
          </p:cNvPr>
          <p:cNvSpPr txBox="1"/>
          <p:nvPr/>
        </p:nvSpPr>
        <p:spPr>
          <a:xfrm>
            <a:off x="1460500" y="4572000"/>
            <a:ext cx="381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400" b="1">
                <a:solidFill>
                  <a:srgbClr val="212121"/>
                </a:solidFill>
                <a:latin typeface="Microsoft YaHei" panose="020B0503020204020204" pitchFamily="34" charset="-122"/>
              </a:rPr>
              <a:t>地缘政治与贸易格局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D12964CC-B7F7-49C3-7F07-06DC0893FCCF}"/>
              </a:ext>
            </a:extLst>
          </p:cNvPr>
          <p:cNvSpPr txBox="1"/>
          <p:nvPr/>
        </p:nvSpPr>
        <p:spPr>
          <a:xfrm>
            <a:off x="1460500" y="4826000"/>
            <a:ext cx="5080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00">
                <a:solidFill>
                  <a:srgbClr val="757575"/>
                </a:solidFill>
                <a:latin typeface="Microsoft YaHei" panose="020B0503020204020204" pitchFamily="34" charset="-122"/>
              </a:rPr>
              <a:t>关税</a:t>
            </a:r>
            <a:r>
              <a:rPr lang="en-US" altLang="zh-CN" sz="900">
                <a:solidFill>
                  <a:srgbClr val="757575"/>
                </a:solidFill>
                <a:latin typeface="Microsoft YaHei" panose="020B0503020204020204" pitchFamily="34" charset="-122"/>
              </a:rPr>
              <a:t>·</a:t>
            </a:r>
            <a:r>
              <a:rPr lang="zh-CN" altLang="en-US" sz="900">
                <a:solidFill>
                  <a:srgbClr val="757575"/>
                </a:solidFill>
                <a:latin typeface="Microsoft YaHei" panose="020B0503020204020204" pitchFamily="34" charset="-122"/>
              </a:rPr>
              <a:t>供应链</a:t>
            </a:r>
            <a:r>
              <a:rPr lang="en-US" altLang="zh-CN" sz="900">
                <a:solidFill>
                  <a:srgbClr val="757575"/>
                </a:solidFill>
                <a:latin typeface="Microsoft YaHei" panose="020B0503020204020204" pitchFamily="34" charset="-122"/>
              </a:rPr>
              <a:t>·</a:t>
            </a:r>
            <a:r>
              <a:rPr lang="zh-CN" altLang="en-US" sz="900">
                <a:solidFill>
                  <a:srgbClr val="757575"/>
                </a:solidFill>
                <a:latin typeface="Microsoft YaHei" panose="020B0503020204020204" pitchFamily="34" charset="-122"/>
              </a:rPr>
              <a:t>中美博弈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88886FB-19AC-7F85-A080-6D621F7CE694}"/>
              </a:ext>
            </a:extLst>
          </p:cNvPr>
          <p:cNvSpPr txBox="1"/>
          <p:nvPr/>
        </p:nvSpPr>
        <p:spPr>
          <a:xfrm>
            <a:off x="635000" y="5080000"/>
            <a:ext cx="635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b="1">
                <a:solidFill>
                  <a:srgbClr val="F39621"/>
                </a:solidFill>
                <a:latin typeface="Microsoft YaHei" panose="020B0503020204020204" pitchFamily="34" charset="-122"/>
              </a:rPr>
              <a:t>08</a:t>
            </a:r>
            <a:endParaRPr lang="zh-CN" altLang="en-US" b="1">
              <a:solidFill>
                <a:srgbClr val="F396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59ADF3D-18DB-B47D-CF3D-01C75BAFF947}"/>
              </a:ext>
            </a:extLst>
          </p:cNvPr>
          <p:cNvSpPr/>
          <p:nvPr/>
        </p:nvSpPr>
        <p:spPr>
          <a:xfrm>
            <a:off x="1270000" y="5143500"/>
            <a:ext cx="25400" cy="203200"/>
          </a:xfrm>
          <a:prstGeom prst="rect">
            <a:avLst/>
          </a:prstGeom>
          <a:solidFill>
            <a:srgbClr val="F3962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20B8F21-0FE5-2D60-B834-9BBC1CB9A0B1}"/>
              </a:ext>
            </a:extLst>
          </p:cNvPr>
          <p:cNvSpPr txBox="1"/>
          <p:nvPr/>
        </p:nvSpPr>
        <p:spPr>
          <a:xfrm>
            <a:off x="1460500" y="5080000"/>
            <a:ext cx="381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400" b="1">
                <a:solidFill>
                  <a:srgbClr val="212121"/>
                </a:solidFill>
                <a:latin typeface="Microsoft YaHei" panose="020B0503020204020204" pitchFamily="34" charset="-122"/>
              </a:rPr>
              <a:t>全球经济风险矩阵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CAF3FB1-F369-5CB3-3F78-F21E3058D9AC}"/>
              </a:ext>
            </a:extLst>
          </p:cNvPr>
          <p:cNvSpPr txBox="1"/>
          <p:nvPr/>
        </p:nvSpPr>
        <p:spPr>
          <a:xfrm>
            <a:off x="1460500" y="5334000"/>
            <a:ext cx="5080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00">
                <a:solidFill>
                  <a:srgbClr val="757575"/>
                </a:solidFill>
                <a:latin typeface="Microsoft YaHei" panose="020B0503020204020204" pitchFamily="34" charset="-122"/>
              </a:rPr>
              <a:t>衰退概率</a:t>
            </a:r>
            <a:r>
              <a:rPr lang="en-US" altLang="zh-CN" sz="900">
                <a:solidFill>
                  <a:srgbClr val="757575"/>
                </a:solidFill>
                <a:latin typeface="Microsoft YaHei" panose="020B0503020204020204" pitchFamily="34" charset="-122"/>
              </a:rPr>
              <a:t>·</a:t>
            </a:r>
            <a:r>
              <a:rPr lang="zh-CN" altLang="en-US" sz="900">
                <a:solidFill>
                  <a:srgbClr val="757575"/>
                </a:solidFill>
                <a:latin typeface="Microsoft YaHei" panose="020B0503020204020204" pitchFamily="34" charset="-122"/>
              </a:rPr>
              <a:t>通胀</a:t>
            </a:r>
            <a:r>
              <a:rPr lang="en-US" altLang="zh-CN" sz="900">
                <a:solidFill>
                  <a:srgbClr val="757575"/>
                </a:solidFill>
                <a:latin typeface="Microsoft YaHei" panose="020B0503020204020204" pitchFamily="34" charset="-122"/>
              </a:rPr>
              <a:t>·</a:t>
            </a:r>
            <a:r>
              <a:rPr lang="zh-CN" altLang="en-US" sz="900">
                <a:solidFill>
                  <a:srgbClr val="757575"/>
                </a:solidFill>
                <a:latin typeface="Microsoft YaHei" panose="020B0503020204020204" pitchFamily="34" charset="-122"/>
              </a:rPr>
              <a:t>能源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5A8B273-900C-E4CC-A6A9-0585FBC74ACA}"/>
              </a:ext>
            </a:extLst>
          </p:cNvPr>
          <p:cNvSpPr txBox="1"/>
          <p:nvPr/>
        </p:nvSpPr>
        <p:spPr>
          <a:xfrm>
            <a:off x="635000" y="5588000"/>
            <a:ext cx="635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b="1">
                <a:solidFill>
                  <a:srgbClr val="F39621"/>
                </a:solidFill>
                <a:latin typeface="Microsoft YaHei" panose="020B0503020204020204" pitchFamily="34" charset="-122"/>
              </a:rPr>
              <a:t>09</a:t>
            </a:r>
            <a:endParaRPr lang="zh-CN" altLang="en-US" b="1">
              <a:solidFill>
                <a:srgbClr val="F396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2B9EF28-40C6-6060-DB57-F233FA641E15}"/>
              </a:ext>
            </a:extLst>
          </p:cNvPr>
          <p:cNvSpPr/>
          <p:nvPr/>
        </p:nvSpPr>
        <p:spPr>
          <a:xfrm>
            <a:off x="1270000" y="5651500"/>
            <a:ext cx="25400" cy="203200"/>
          </a:xfrm>
          <a:prstGeom prst="rect">
            <a:avLst/>
          </a:prstGeom>
          <a:solidFill>
            <a:srgbClr val="F3962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ED68F331-40D8-A60C-FCF8-544F9A85676B}"/>
              </a:ext>
            </a:extLst>
          </p:cNvPr>
          <p:cNvSpPr txBox="1"/>
          <p:nvPr/>
        </p:nvSpPr>
        <p:spPr>
          <a:xfrm>
            <a:off x="1460500" y="5588000"/>
            <a:ext cx="381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400" b="1">
                <a:solidFill>
                  <a:srgbClr val="212121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sz="1400" b="1">
                <a:solidFill>
                  <a:srgbClr val="212121"/>
                </a:solidFill>
                <a:latin typeface="Microsoft YaHei" panose="020B0503020204020204" pitchFamily="34" charset="-122"/>
              </a:rPr>
              <a:t>泡沫对中国双面影响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7A92FDF8-D504-04B9-E182-2E28C840FB47}"/>
              </a:ext>
            </a:extLst>
          </p:cNvPr>
          <p:cNvSpPr txBox="1"/>
          <p:nvPr/>
        </p:nvSpPr>
        <p:spPr>
          <a:xfrm>
            <a:off x="1460500" y="5842000"/>
            <a:ext cx="5080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00">
                <a:solidFill>
                  <a:srgbClr val="757575"/>
                </a:solidFill>
                <a:latin typeface="Microsoft YaHei" panose="020B0503020204020204" pitchFamily="34" charset="-122"/>
              </a:rPr>
              <a:t>机遇与风险并存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C5D413C6-8EAB-6527-900F-8DEED8CB60EF}"/>
              </a:ext>
            </a:extLst>
          </p:cNvPr>
          <p:cNvSpPr txBox="1"/>
          <p:nvPr/>
        </p:nvSpPr>
        <p:spPr>
          <a:xfrm>
            <a:off x="635000" y="6096000"/>
            <a:ext cx="635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b="1">
                <a:solidFill>
                  <a:srgbClr val="F39621"/>
                </a:solidFill>
                <a:latin typeface="Microsoft YaHei" panose="020B0503020204020204" pitchFamily="34" charset="-122"/>
              </a:rPr>
              <a:t>10</a:t>
            </a:r>
            <a:endParaRPr lang="zh-CN" altLang="en-US" b="1">
              <a:solidFill>
                <a:srgbClr val="F396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A8D5C5D-401E-435F-C62C-A7253502ECF7}"/>
              </a:ext>
            </a:extLst>
          </p:cNvPr>
          <p:cNvSpPr/>
          <p:nvPr/>
        </p:nvSpPr>
        <p:spPr>
          <a:xfrm>
            <a:off x="1270000" y="6159500"/>
            <a:ext cx="25400" cy="203200"/>
          </a:xfrm>
          <a:prstGeom prst="rect">
            <a:avLst/>
          </a:prstGeom>
          <a:solidFill>
            <a:srgbClr val="F3962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72497E28-C879-59ED-336E-80D66A7E4774}"/>
              </a:ext>
            </a:extLst>
          </p:cNvPr>
          <p:cNvSpPr txBox="1"/>
          <p:nvPr/>
        </p:nvSpPr>
        <p:spPr>
          <a:xfrm>
            <a:off x="1460500" y="6096000"/>
            <a:ext cx="381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400" b="1">
                <a:solidFill>
                  <a:srgbClr val="212121"/>
                </a:solidFill>
                <a:latin typeface="Microsoft YaHei" panose="020B0503020204020204" pitchFamily="34" charset="-122"/>
              </a:rPr>
              <a:t>新兴市场与资本轮动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28DB289B-BF35-E0A3-8A22-8A0C9E9FC4BE}"/>
              </a:ext>
            </a:extLst>
          </p:cNvPr>
          <p:cNvSpPr txBox="1"/>
          <p:nvPr/>
        </p:nvSpPr>
        <p:spPr>
          <a:xfrm>
            <a:off x="1460500" y="6350000"/>
            <a:ext cx="5080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900">
                <a:solidFill>
                  <a:srgbClr val="757575"/>
                </a:solidFill>
                <a:latin typeface="Microsoft YaHei" panose="020B0503020204020204" pitchFamily="34" charset="-122"/>
              </a:rPr>
              <a:t>EM</a:t>
            </a:r>
            <a:r>
              <a:rPr lang="zh-CN" altLang="en-US" sz="900">
                <a:solidFill>
                  <a:srgbClr val="757575"/>
                </a:solidFill>
                <a:latin typeface="Microsoft YaHei" panose="020B0503020204020204" pitchFamily="34" charset="-122"/>
              </a:rPr>
              <a:t>资金流入</a:t>
            </a:r>
            <a:r>
              <a:rPr lang="en-US" altLang="zh-CN" sz="900">
                <a:solidFill>
                  <a:srgbClr val="757575"/>
                </a:solidFill>
                <a:latin typeface="Microsoft YaHei" panose="020B0503020204020204" pitchFamily="34" charset="-122"/>
              </a:rPr>
              <a:t>·</a:t>
            </a:r>
            <a:r>
              <a:rPr lang="zh-CN" altLang="en-US" sz="900">
                <a:solidFill>
                  <a:srgbClr val="757575"/>
                </a:solidFill>
                <a:latin typeface="Microsoft YaHei" panose="020B0503020204020204" pitchFamily="34" charset="-122"/>
              </a:rPr>
              <a:t>美元走弱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E5EB9A24-6AEC-2474-583D-DFF824FBADA8}"/>
              </a:ext>
            </a:extLst>
          </p:cNvPr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32231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F7D0DF45-4454-0AC4-C958-2DFCA712DC33}"/>
              </a:ext>
            </a:extLst>
          </p:cNvPr>
          <p:cNvSpPr txBox="1"/>
          <p:nvPr/>
        </p:nvSpPr>
        <p:spPr>
          <a:xfrm>
            <a:off x="508000" y="6540500"/>
            <a:ext cx="7620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800">
                <a:solidFill>
                  <a:srgbClr val="FFFFFF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sz="800">
                <a:solidFill>
                  <a:srgbClr val="FFFFFF"/>
                </a:solidFill>
                <a:latin typeface="Microsoft YaHei" panose="020B0503020204020204" pitchFamily="34" charset="-122"/>
              </a:rPr>
              <a:t>资本泡沫与全球经济走势分析 </a:t>
            </a:r>
            <a:r>
              <a:rPr lang="en-US" altLang="zh-CN" sz="800">
                <a:solidFill>
                  <a:srgbClr val="FFFFFF"/>
                </a:solidFill>
                <a:latin typeface="Microsoft YaHei" panose="020B0503020204020204" pitchFamily="34" charset="-122"/>
              </a:rPr>
              <a:t>| 2026</a:t>
            </a:r>
            <a:endParaRPr lang="zh-CN" altLang="en-US" sz="800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6761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7A3AE04B-8B9B-2CA8-26EF-B1969A3F9E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F0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91DB9D-EE65-EF34-F55E-1E5D8543403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598B2FE-3F4C-212D-080B-799E02BDF136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F3962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75F2106-8F71-59BA-74A5-E0BCF94A125A}"/>
              </a:ext>
            </a:extLst>
          </p:cNvPr>
          <p:cNvSpPr txBox="1"/>
          <p:nvPr/>
        </p:nvSpPr>
        <p:spPr>
          <a:xfrm>
            <a:off x="508000" y="317500"/>
            <a:ext cx="762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3600" b="1">
                <a:solidFill>
                  <a:srgbClr val="F39621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3600" b="1">
              <a:solidFill>
                <a:srgbClr val="F396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E7529FB-AD7E-B9D8-D2EB-531D3C479CD2}"/>
              </a:ext>
            </a:extLst>
          </p:cNvPr>
          <p:cNvSpPr/>
          <p:nvPr/>
        </p:nvSpPr>
        <p:spPr>
          <a:xfrm>
            <a:off x="1270000" y="381000"/>
            <a:ext cx="25400" cy="381000"/>
          </a:xfrm>
          <a:prstGeom prst="rect">
            <a:avLst/>
          </a:prstGeom>
          <a:solidFill>
            <a:srgbClr val="F3962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9856151-2D29-42D9-87B4-DA54E0C2F967}"/>
              </a:ext>
            </a:extLst>
          </p:cNvPr>
          <p:cNvSpPr txBox="1"/>
          <p:nvPr/>
        </p:nvSpPr>
        <p:spPr>
          <a:xfrm>
            <a:off x="1460500" y="317500"/>
            <a:ext cx="889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 b="1">
                <a:solidFill>
                  <a:srgbClr val="212121"/>
                </a:solidFill>
                <a:latin typeface="Microsoft YaHei" panose="020B0503020204020204" pitchFamily="34" charset="-122"/>
              </a:rPr>
              <a:t>全球经济宏观概览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D3B730D-95A3-D1F5-219F-7A6EB172FAFD}"/>
              </a:ext>
            </a:extLst>
          </p:cNvPr>
          <p:cNvSpPr txBox="1"/>
          <p:nvPr/>
        </p:nvSpPr>
        <p:spPr>
          <a:xfrm>
            <a:off x="1460500" y="787400"/>
            <a:ext cx="889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200">
                <a:solidFill>
                  <a:srgbClr val="757575"/>
                </a:solidFill>
                <a:latin typeface="Microsoft YaHei" panose="020B0503020204020204" pitchFamily="34" charset="-122"/>
              </a:rPr>
              <a:t>IMF &amp; </a:t>
            </a:r>
            <a:r>
              <a:rPr lang="zh-CN" altLang="en-US" sz="1200">
                <a:solidFill>
                  <a:srgbClr val="757575"/>
                </a:solidFill>
                <a:latin typeface="Microsoft YaHei" panose="020B0503020204020204" pitchFamily="34" charset="-122"/>
              </a:rPr>
              <a:t>世界银行最新经济预测 </a:t>
            </a:r>
            <a:r>
              <a:rPr lang="en-US" altLang="zh-CN" sz="1200">
                <a:solidFill>
                  <a:srgbClr val="757575"/>
                </a:solidFill>
                <a:latin typeface="Microsoft YaHei" panose="020B0503020204020204" pitchFamily="34" charset="-122"/>
              </a:rPr>
              <a:t>| 2025-2027</a:t>
            </a:r>
            <a:endParaRPr lang="zh-CN" altLang="en-US" sz="1200">
              <a:solidFill>
                <a:srgbClr val="7575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A9AFC86-977A-AC3A-8E20-96BDD3C08115}"/>
              </a:ext>
            </a:extLst>
          </p:cNvPr>
          <p:cNvSpPr/>
          <p:nvPr/>
        </p:nvSpPr>
        <p:spPr>
          <a:xfrm>
            <a:off x="508000" y="1206500"/>
            <a:ext cx="11176000" cy="12700"/>
          </a:xfrm>
          <a:prstGeom prst="rect">
            <a:avLst/>
          </a:prstGeom>
          <a:solidFill>
            <a:srgbClr val="E0E0E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33CF917-3157-6512-AA00-398E22CD1593}"/>
              </a:ext>
            </a:extLst>
          </p:cNvPr>
          <p:cNvSpPr/>
          <p:nvPr/>
        </p:nvSpPr>
        <p:spPr>
          <a:xfrm>
            <a:off x="508000" y="1397000"/>
            <a:ext cx="2667000" cy="1397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prstShdw prst="shdw1" dist="35921" dir="2699995">
              <a:srgbClr val="CCCCCC">
                <a:alpha val="50000"/>
              </a:srgbClr>
            </a:prst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8B5C475-B2AD-9B71-CC0C-03F8DF1A7840}"/>
              </a:ext>
            </a:extLst>
          </p:cNvPr>
          <p:cNvSpPr txBox="1"/>
          <p:nvPr/>
        </p:nvSpPr>
        <p:spPr>
          <a:xfrm>
            <a:off x="635000" y="1587500"/>
            <a:ext cx="2413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800" b="1">
                <a:solidFill>
                  <a:srgbClr val="F39621"/>
                </a:solidFill>
                <a:latin typeface="Microsoft YaHei" panose="020B0503020204020204" pitchFamily="34" charset="-122"/>
              </a:rPr>
              <a:t>3.3%</a:t>
            </a:r>
            <a:endParaRPr lang="zh-CN" altLang="en-US" sz="2800" b="1">
              <a:solidFill>
                <a:srgbClr val="F396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7ECF853-FE80-B56B-BDB9-7C508444A0E6}"/>
              </a:ext>
            </a:extLst>
          </p:cNvPr>
          <p:cNvSpPr txBox="1"/>
          <p:nvPr/>
        </p:nvSpPr>
        <p:spPr>
          <a:xfrm>
            <a:off x="635000" y="2222500"/>
            <a:ext cx="2413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IMF 2026</a:t>
            </a:r>
            <a:r>
              <a:rPr lang="zh-CN" altLang="en-US" sz="1100">
                <a:solidFill>
                  <a:srgbClr val="757575"/>
                </a:solidFill>
                <a:latin typeface="Microsoft YaHei" panose="020B0503020204020204" pitchFamily="34" charset="-122"/>
              </a:rPr>
              <a:t>全球增长预测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94D2B9B-4A35-0F19-233A-26DFD04A1B0C}"/>
              </a:ext>
            </a:extLst>
          </p:cNvPr>
          <p:cNvSpPr/>
          <p:nvPr/>
        </p:nvSpPr>
        <p:spPr>
          <a:xfrm>
            <a:off x="3429000" y="1397000"/>
            <a:ext cx="2667000" cy="1397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prstShdw prst="shdw1" dist="35921" dir="2699995">
              <a:srgbClr val="CCCCCC">
                <a:alpha val="50000"/>
              </a:srgbClr>
            </a:prst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F3FF02B-F9EC-0F55-A5EA-F1950EB51522}"/>
              </a:ext>
            </a:extLst>
          </p:cNvPr>
          <p:cNvSpPr txBox="1"/>
          <p:nvPr/>
        </p:nvSpPr>
        <p:spPr>
          <a:xfrm>
            <a:off x="3556000" y="1587500"/>
            <a:ext cx="2413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800" b="1">
                <a:solidFill>
                  <a:srgbClr val="3643F4"/>
                </a:solidFill>
                <a:latin typeface="Microsoft YaHei" panose="020B0503020204020204" pitchFamily="34" charset="-122"/>
              </a:rPr>
              <a:t>2.5%</a:t>
            </a:r>
            <a:endParaRPr lang="zh-CN" altLang="en-US" sz="2800" b="1">
              <a:solidFill>
                <a:srgbClr val="3643F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C10596B-6D1A-FE34-2108-4236AD9C549C}"/>
              </a:ext>
            </a:extLst>
          </p:cNvPr>
          <p:cNvSpPr txBox="1"/>
          <p:nvPr/>
        </p:nvSpPr>
        <p:spPr>
          <a:xfrm>
            <a:off x="3556000" y="2222500"/>
            <a:ext cx="2413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100">
                <a:solidFill>
                  <a:srgbClr val="757575"/>
                </a:solidFill>
                <a:latin typeface="Microsoft YaHei" panose="020B0503020204020204" pitchFamily="34" charset="-122"/>
              </a:rPr>
              <a:t>世行</a:t>
            </a:r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2026</a:t>
            </a:r>
            <a:r>
              <a:rPr lang="zh-CN" altLang="en-US" sz="1100">
                <a:solidFill>
                  <a:srgbClr val="757575"/>
                </a:solidFill>
                <a:latin typeface="Microsoft YaHei" panose="020B0503020204020204" pitchFamily="34" charset="-122"/>
              </a:rPr>
              <a:t>增长
</a:t>
            </a:r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100">
                <a:solidFill>
                  <a:srgbClr val="757575"/>
                </a:solidFill>
                <a:latin typeface="Microsoft YaHei" panose="020B0503020204020204" pitchFamily="34" charset="-122"/>
              </a:rPr>
              <a:t>疫情后最低</a:t>
            </a:r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100">
              <a:solidFill>
                <a:srgbClr val="7575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F2819C1-9659-70CE-A4EE-0D0303A89EB1}"/>
              </a:ext>
            </a:extLst>
          </p:cNvPr>
          <p:cNvSpPr/>
          <p:nvPr/>
        </p:nvSpPr>
        <p:spPr>
          <a:xfrm>
            <a:off x="508000" y="2921000"/>
            <a:ext cx="2667000" cy="1397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prstShdw prst="shdw1" dist="35921" dir="2699995">
              <a:srgbClr val="CCCCCC">
                <a:alpha val="50000"/>
              </a:srgbClr>
            </a:prst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AF90E83-F714-B0DE-850C-0D54B1F97678}"/>
              </a:ext>
            </a:extLst>
          </p:cNvPr>
          <p:cNvSpPr txBox="1"/>
          <p:nvPr/>
        </p:nvSpPr>
        <p:spPr>
          <a:xfrm>
            <a:off x="635000" y="3111500"/>
            <a:ext cx="2413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800" b="1">
                <a:solidFill>
                  <a:srgbClr val="50AF4C"/>
                </a:solidFill>
                <a:latin typeface="Microsoft YaHei" panose="020B0503020204020204" pitchFamily="34" charset="-122"/>
              </a:rPr>
              <a:t>$1.6</a:t>
            </a:r>
            <a:r>
              <a:rPr lang="zh-CN" altLang="en-US" sz="2800" b="1">
                <a:solidFill>
                  <a:srgbClr val="50AF4C"/>
                </a:solidFill>
                <a:latin typeface="Microsoft YaHei" panose="020B0503020204020204" pitchFamily="34" charset="-122"/>
              </a:rPr>
              <a:t>万亿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32A5E81-FDBB-1EFB-F370-0C9ACD251F23}"/>
              </a:ext>
            </a:extLst>
          </p:cNvPr>
          <p:cNvSpPr txBox="1"/>
          <p:nvPr/>
        </p:nvSpPr>
        <p:spPr>
          <a:xfrm>
            <a:off x="635000" y="3746500"/>
            <a:ext cx="2413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2025</a:t>
            </a:r>
            <a:r>
              <a:rPr lang="zh-CN" altLang="en-US" sz="1100">
                <a:solidFill>
                  <a:srgbClr val="757575"/>
                </a:solidFill>
                <a:latin typeface="Microsoft YaHei" panose="020B0503020204020204" pitchFamily="34" charset="-122"/>
              </a:rPr>
              <a:t>全球</a:t>
            </a:r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FDI</a:t>
            </a:r>
            <a:r>
              <a:rPr lang="zh-CN" altLang="en-US" sz="1100">
                <a:solidFill>
                  <a:srgbClr val="757575"/>
                </a:solidFill>
                <a:latin typeface="Microsoft YaHei" panose="020B0503020204020204" pitchFamily="34" charset="-122"/>
              </a:rPr>
              <a:t>流入
</a:t>
            </a:r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(+14% YoY)</a:t>
            </a:r>
            <a:endParaRPr lang="zh-CN" altLang="en-US" sz="1100">
              <a:solidFill>
                <a:srgbClr val="7575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7148D48-F263-894E-5FD4-94B2255528E4}"/>
              </a:ext>
            </a:extLst>
          </p:cNvPr>
          <p:cNvSpPr/>
          <p:nvPr/>
        </p:nvSpPr>
        <p:spPr>
          <a:xfrm>
            <a:off x="3429000" y="2921000"/>
            <a:ext cx="2667000" cy="1397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prstShdw prst="shdw1" dist="35921" dir="2699995">
              <a:srgbClr val="CCCCCC">
                <a:alpha val="50000"/>
              </a:srgbClr>
            </a:prst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8812F1B-D01A-8D29-B74E-017954B0B45D}"/>
              </a:ext>
            </a:extLst>
          </p:cNvPr>
          <p:cNvSpPr txBox="1"/>
          <p:nvPr/>
        </p:nvSpPr>
        <p:spPr>
          <a:xfrm>
            <a:off x="3556000" y="3111500"/>
            <a:ext cx="2413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800" b="1">
                <a:solidFill>
                  <a:srgbClr val="0098FF"/>
                </a:solidFill>
                <a:latin typeface="Microsoft YaHei" panose="020B0503020204020204" pitchFamily="34" charset="-122"/>
              </a:rPr>
              <a:t>4.0%</a:t>
            </a:r>
            <a:endParaRPr lang="zh-CN" altLang="en-US" sz="2800" b="1">
              <a:solidFill>
                <a:srgbClr val="0098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3CDB91E-45B0-5398-D34F-B0632DF24706}"/>
              </a:ext>
            </a:extLst>
          </p:cNvPr>
          <p:cNvSpPr txBox="1"/>
          <p:nvPr/>
        </p:nvSpPr>
        <p:spPr>
          <a:xfrm>
            <a:off x="3556000" y="3746500"/>
            <a:ext cx="2413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2026</a:t>
            </a:r>
            <a:r>
              <a:rPr lang="zh-CN" altLang="en-US" sz="1100">
                <a:solidFill>
                  <a:srgbClr val="757575"/>
                </a:solidFill>
                <a:latin typeface="Microsoft YaHei" panose="020B0503020204020204" pitchFamily="34" charset="-122"/>
              </a:rPr>
              <a:t>全球通胀预期
</a:t>
            </a:r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100">
                <a:solidFill>
                  <a:srgbClr val="757575"/>
                </a:solidFill>
                <a:latin typeface="Microsoft YaHei" panose="020B0503020204020204" pitchFamily="34" charset="-122"/>
              </a:rPr>
              <a:t>世行预测</a:t>
            </a:r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100">
              <a:solidFill>
                <a:srgbClr val="7575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58456DA-6793-642C-75A5-25CB81EF4C1B}"/>
              </a:ext>
            </a:extLst>
          </p:cNvPr>
          <p:cNvSpPr txBox="1"/>
          <p:nvPr/>
        </p:nvSpPr>
        <p:spPr>
          <a:xfrm>
            <a:off x="6477000" y="1397000"/>
            <a:ext cx="4445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 b="1">
                <a:solidFill>
                  <a:srgbClr val="212121"/>
                </a:solidFill>
                <a:latin typeface="Microsoft YaHei" panose="020B0503020204020204" pitchFamily="34" charset="-122"/>
              </a:rPr>
              <a:t>▎主要经济体</a:t>
            </a:r>
            <a:r>
              <a:rPr lang="en-US" altLang="zh-CN" sz="1300" b="1">
                <a:solidFill>
                  <a:srgbClr val="212121"/>
                </a:solidFill>
                <a:latin typeface="Microsoft YaHei" panose="020B0503020204020204" pitchFamily="34" charset="-122"/>
              </a:rPr>
              <a:t>2026</a:t>
            </a:r>
            <a:r>
              <a:rPr lang="zh-CN" altLang="en-US" sz="1300" b="1">
                <a:solidFill>
                  <a:srgbClr val="212121"/>
                </a:solidFill>
                <a:latin typeface="Microsoft YaHei" panose="020B0503020204020204" pitchFamily="34" charset="-122"/>
              </a:rPr>
              <a:t>增长预测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5F91031-B6A1-D559-390B-6B4CC872EF79}"/>
              </a:ext>
            </a:extLst>
          </p:cNvPr>
          <p:cNvSpPr/>
          <p:nvPr/>
        </p:nvSpPr>
        <p:spPr>
          <a:xfrm>
            <a:off x="6477000" y="1841500"/>
            <a:ext cx="1143000" cy="355600"/>
          </a:xfrm>
          <a:prstGeom prst="rect">
            <a:avLst/>
          </a:prstGeom>
          <a:solidFill>
            <a:srgbClr val="32231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BEF5D3A-E1DD-591C-85A2-B7D5CF3D22B3}"/>
              </a:ext>
            </a:extLst>
          </p:cNvPr>
          <p:cNvSpPr txBox="1"/>
          <p:nvPr/>
        </p:nvSpPr>
        <p:spPr>
          <a:xfrm>
            <a:off x="6477000" y="1905000"/>
            <a:ext cx="1143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经济体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636CA72-80BE-80EE-D313-15B3D21C7D5D}"/>
              </a:ext>
            </a:extLst>
          </p:cNvPr>
          <p:cNvSpPr/>
          <p:nvPr/>
        </p:nvSpPr>
        <p:spPr>
          <a:xfrm>
            <a:off x="7620000" y="1841500"/>
            <a:ext cx="889000" cy="355600"/>
          </a:xfrm>
          <a:prstGeom prst="rect">
            <a:avLst/>
          </a:prstGeom>
          <a:solidFill>
            <a:srgbClr val="32231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F71B1DC-50E8-928F-CCE4-A10FCD8D3737}"/>
              </a:ext>
            </a:extLst>
          </p:cNvPr>
          <p:cNvSpPr txBox="1"/>
          <p:nvPr/>
        </p:nvSpPr>
        <p:spPr>
          <a:xfrm>
            <a:off x="7620000" y="1905000"/>
            <a:ext cx="889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IMF</a:t>
            </a:r>
            <a:endParaRPr lang="zh-CN" altLang="en-US" sz="1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C34B8A2-5B48-DCA5-4F0A-7658AECB5854}"/>
              </a:ext>
            </a:extLst>
          </p:cNvPr>
          <p:cNvSpPr/>
          <p:nvPr/>
        </p:nvSpPr>
        <p:spPr>
          <a:xfrm>
            <a:off x="8509000" y="1841500"/>
            <a:ext cx="889000" cy="355600"/>
          </a:xfrm>
          <a:prstGeom prst="rect">
            <a:avLst/>
          </a:prstGeom>
          <a:solidFill>
            <a:srgbClr val="32231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4CA1538-CD09-6698-481D-6D7DB61B8256}"/>
              </a:ext>
            </a:extLst>
          </p:cNvPr>
          <p:cNvSpPr txBox="1"/>
          <p:nvPr/>
        </p:nvSpPr>
        <p:spPr>
          <a:xfrm>
            <a:off x="8509000" y="1905000"/>
            <a:ext cx="889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世行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0DAB1EF-3F36-CA6F-88B6-569008820C5D}"/>
              </a:ext>
            </a:extLst>
          </p:cNvPr>
          <p:cNvSpPr/>
          <p:nvPr/>
        </p:nvSpPr>
        <p:spPr>
          <a:xfrm>
            <a:off x="9398000" y="1841500"/>
            <a:ext cx="762000" cy="355600"/>
          </a:xfrm>
          <a:prstGeom prst="rect">
            <a:avLst/>
          </a:prstGeom>
          <a:solidFill>
            <a:srgbClr val="32231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E886006-09F5-CE37-D117-CA615BB5FB9C}"/>
              </a:ext>
            </a:extLst>
          </p:cNvPr>
          <p:cNvSpPr txBox="1"/>
          <p:nvPr/>
        </p:nvSpPr>
        <p:spPr>
          <a:xfrm>
            <a:off x="9398000" y="1905000"/>
            <a:ext cx="76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趋势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344B6F0-8007-E757-CD5B-F9520FF98405}"/>
              </a:ext>
            </a:extLst>
          </p:cNvPr>
          <p:cNvSpPr/>
          <p:nvPr/>
        </p:nvSpPr>
        <p:spPr>
          <a:xfrm>
            <a:off x="6477000" y="2197100"/>
            <a:ext cx="1143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D21251E-6677-FA1E-52C3-9346B5E1D4F9}"/>
              </a:ext>
            </a:extLst>
          </p:cNvPr>
          <p:cNvSpPr txBox="1"/>
          <p:nvPr/>
        </p:nvSpPr>
        <p:spPr>
          <a:xfrm>
            <a:off x="6477000" y="2260600"/>
            <a:ext cx="1143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000" b="1">
                <a:solidFill>
                  <a:srgbClr val="212121"/>
                </a:solidFill>
                <a:latin typeface="Microsoft YaHei" panose="020B0503020204020204" pitchFamily="34" charset="-122"/>
              </a:rPr>
              <a:t>美国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747B59F-D705-AC1D-284C-F28F7899CDAD}"/>
              </a:ext>
            </a:extLst>
          </p:cNvPr>
          <p:cNvSpPr/>
          <p:nvPr/>
        </p:nvSpPr>
        <p:spPr>
          <a:xfrm>
            <a:off x="7620000" y="2197100"/>
            <a:ext cx="889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2859AAF-858E-6081-77C1-17EEC4CC6BE9}"/>
              </a:ext>
            </a:extLst>
          </p:cNvPr>
          <p:cNvSpPr txBox="1"/>
          <p:nvPr/>
        </p:nvSpPr>
        <p:spPr>
          <a:xfrm>
            <a:off x="7620000" y="2260600"/>
            <a:ext cx="889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2.4%</a:t>
            </a:r>
            <a:endParaRPr lang="zh-CN" altLang="en-US" sz="1000">
              <a:solidFill>
                <a:srgbClr val="2121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EF8ACBA-50A4-5A59-0B2C-C2004F30A887}"/>
              </a:ext>
            </a:extLst>
          </p:cNvPr>
          <p:cNvSpPr/>
          <p:nvPr/>
        </p:nvSpPr>
        <p:spPr>
          <a:xfrm>
            <a:off x="8509000" y="2197100"/>
            <a:ext cx="889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780A7E44-FC3F-40C0-9134-AE3B32C74287}"/>
              </a:ext>
            </a:extLst>
          </p:cNvPr>
          <p:cNvSpPr txBox="1"/>
          <p:nvPr/>
        </p:nvSpPr>
        <p:spPr>
          <a:xfrm>
            <a:off x="8509000" y="2260600"/>
            <a:ext cx="889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1.9%</a:t>
            </a:r>
            <a:endParaRPr lang="zh-CN" altLang="en-US" sz="1000">
              <a:solidFill>
                <a:srgbClr val="2121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2A5107D-6268-0A4B-563A-A8BA672303C0}"/>
              </a:ext>
            </a:extLst>
          </p:cNvPr>
          <p:cNvSpPr/>
          <p:nvPr/>
        </p:nvSpPr>
        <p:spPr>
          <a:xfrm>
            <a:off x="9398000" y="2197100"/>
            <a:ext cx="762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4394334-B2C6-BA49-1F4F-15DD19C16D19}"/>
              </a:ext>
            </a:extLst>
          </p:cNvPr>
          <p:cNvSpPr txBox="1"/>
          <p:nvPr/>
        </p:nvSpPr>
        <p:spPr>
          <a:xfrm>
            <a:off x="9398000" y="2260600"/>
            <a:ext cx="76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↓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9086B24-3D80-BF68-4FC0-3070BAA41275}"/>
              </a:ext>
            </a:extLst>
          </p:cNvPr>
          <p:cNvSpPr/>
          <p:nvPr/>
        </p:nvSpPr>
        <p:spPr>
          <a:xfrm>
            <a:off x="6477000" y="2552700"/>
            <a:ext cx="1143000" cy="355600"/>
          </a:xfrm>
          <a:prstGeom prst="rect">
            <a:avLst/>
          </a:prstGeom>
          <a:solidFill>
            <a:srgbClr val="FAF9F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7EE4C9C-89F3-6FBA-9303-F58F35A5F2D9}"/>
              </a:ext>
            </a:extLst>
          </p:cNvPr>
          <p:cNvSpPr txBox="1"/>
          <p:nvPr/>
        </p:nvSpPr>
        <p:spPr>
          <a:xfrm>
            <a:off x="6477000" y="2616200"/>
            <a:ext cx="1143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000" b="1">
                <a:solidFill>
                  <a:srgbClr val="212121"/>
                </a:solidFill>
                <a:latin typeface="Microsoft YaHei" panose="020B0503020204020204" pitchFamily="34" charset="-122"/>
              </a:rPr>
              <a:t>中国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13841D1-469E-082F-F46E-EB86E3100B87}"/>
              </a:ext>
            </a:extLst>
          </p:cNvPr>
          <p:cNvSpPr/>
          <p:nvPr/>
        </p:nvSpPr>
        <p:spPr>
          <a:xfrm>
            <a:off x="7620000" y="2552700"/>
            <a:ext cx="889000" cy="355600"/>
          </a:xfrm>
          <a:prstGeom prst="rect">
            <a:avLst/>
          </a:prstGeom>
          <a:solidFill>
            <a:srgbClr val="FAF9F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CDB6DCC4-3DD8-459B-B0E2-EE0BDF684971}"/>
              </a:ext>
            </a:extLst>
          </p:cNvPr>
          <p:cNvSpPr txBox="1"/>
          <p:nvPr/>
        </p:nvSpPr>
        <p:spPr>
          <a:xfrm>
            <a:off x="7620000" y="2616200"/>
            <a:ext cx="889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4.5%</a:t>
            </a:r>
            <a:endParaRPr lang="zh-CN" altLang="en-US" sz="1000">
              <a:solidFill>
                <a:srgbClr val="2121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BB8A2034-2C24-CB9D-FA8C-80DDD1CD47F3}"/>
              </a:ext>
            </a:extLst>
          </p:cNvPr>
          <p:cNvSpPr/>
          <p:nvPr/>
        </p:nvSpPr>
        <p:spPr>
          <a:xfrm>
            <a:off x="8509000" y="2552700"/>
            <a:ext cx="889000" cy="355600"/>
          </a:xfrm>
          <a:prstGeom prst="rect">
            <a:avLst/>
          </a:prstGeom>
          <a:solidFill>
            <a:srgbClr val="FAF9F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C7B1382-1B31-A57E-9700-728480F6FB7E}"/>
              </a:ext>
            </a:extLst>
          </p:cNvPr>
          <p:cNvSpPr txBox="1"/>
          <p:nvPr/>
        </p:nvSpPr>
        <p:spPr>
          <a:xfrm>
            <a:off x="8509000" y="2616200"/>
            <a:ext cx="889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4.2%</a:t>
            </a:r>
            <a:endParaRPr lang="zh-CN" altLang="en-US" sz="1000">
              <a:solidFill>
                <a:srgbClr val="2121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7EA2B6A-1B88-1060-448C-05202646659B}"/>
              </a:ext>
            </a:extLst>
          </p:cNvPr>
          <p:cNvSpPr/>
          <p:nvPr/>
        </p:nvSpPr>
        <p:spPr>
          <a:xfrm>
            <a:off x="9398000" y="2552700"/>
            <a:ext cx="762000" cy="355600"/>
          </a:xfrm>
          <a:prstGeom prst="rect">
            <a:avLst/>
          </a:prstGeom>
          <a:solidFill>
            <a:srgbClr val="FAF9F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22027049-1FFE-DD2C-CB53-8497CC1E4E68}"/>
              </a:ext>
            </a:extLst>
          </p:cNvPr>
          <p:cNvSpPr txBox="1"/>
          <p:nvPr/>
        </p:nvSpPr>
        <p:spPr>
          <a:xfrm>
            <a:off x="9398000" y="2616200"/>
            <a:ext cx="76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CC5F34F5-4795-0ED3-441E-BA7FA9D76AF1}"/>
              </a:ext>
            </a:extLst>
          </p:cNvPr>
          <p:cNvSpPr/>
          <p:nvPr/>
        </p:nvSpPr>
        <p:spPr>
          <a:xfrm>
            <a:off x="6477000" y="2908300"/>
            <a:ext cx="1143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27C8D995-52F8-A4FF-B981-27690B4A5803}"/>
              </a:ext>
            </a:extLst>
          </p:cNvPr>
          <p:cNvSpPr txBox="1"/>
          <p:nvPr/>
        </p:nvSpPr>
        <p:spPr>
          <a:xfrm>
            <a:off x="6477000" y="2971800"/>
            <a:ext cx="1143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000" b="1">
                <a:solidFill>
                  <a:srgbClr val="212121"/>
                </a:solidFill>
                <a:latin typeface="Microsoft YaHei" panose="020B0503020204020204" pitchFamily="34" charset="-122"/>
              </a:rPr>
              <a:t>欧元区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BDBC5A4-6CBA-FCB9-AED4-C2CD7ABAE225}"/>
              </a:ext>
            </a:extLst>
          </p:cNvPr>
          <p:cNvSpPr/>
          <p:nvPr/>
        </p:nvSpPr>
        <p:spPr>
          <a:xfrm>
            <a:off x="7620000" y="2908300"/>
            <a:ext cx="889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269777E9-E285-6D2F-38F2-30F9E5E2DF0B}"/>
              </a:ext>
            </a:extLst>
          </p:cNvPr>
          <p:cNvSpPr txBox="1"/>
          <p:nvPr/>
        </p:nvSpPr>
        <p:spPr>
          <a:xfrm>
            <a:off x="7620000" y="2971800"/>
            <a:ext cx="889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1.0%</a:t>
            </a:r>
            <a:endParaRPr lang="zh-CN" altLang="en-US" sz="1000">
              <a:solidFill>
                <a:srgbClr val="2121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57FD1158-1F6F-386B-4EF5-B0B90F112D62}"/>
              </a:ext>
            </a:extLst>
          </p:cNvPr>
          <p:cNvSpPr/>
          <p:nvPr/>
        </p:nvSpPr>
        <p:spPr>
          <a:xfrm>
            <a:off x="8509000" y="2908300"/>
            <a:ext cx="889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0E72AD2A-8F73-134F-0184-37BB117C7DFC}"/>
              </a:ext>
            </a:extLst>
          </p:cNvPr>
          <p:cNvSpPr txBox="1"/>
          <p:nvPr/>
        </p:nvSpPr>
        <p:spPr>
          <a:xfrm>
            <a:off x="8509000" y="2971800"/>
            <a:ext cx="889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0.9%</a:t>
            </a:r>
            <a:endParaRPr lang="zh-CN" altLang="en-US" sz="1000">
              <a:solidFill>
                <a:srgbClr val="2121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59AB796-413A-7FA9-3C3E-C72707969A58}"/>
              </a:ext>
            </a:extLst>
          </p:cNvPr>
          <p:cNvSpPr/>
          <p:nvPr/>
        </p:nvSpPr>
        <p:spPr>
          <a:xfrm>
            <a:off x="9398000" y="2908300"/>
            <a:ext cx="762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F0BB4655-29EB-6E96-2324-65B87A8C465C}"/>
              </a:ext>
            </a:extLst>
          </p:cNvPr>
          <p:cNvSpPr txBox="1"/>
          <p:nvPr/>
        </p:nvSpPr>
        <p:spPr>
          <a:xfrm>
            <a:off x="9398000" y="2971800"/>
            <a:ext cx="76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↓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FB868AE2-7CB7-8102-7D88-3AA7FC8ACA95}"/>
              </a:ext>
            </a:extLst>
          </p:cNvPr>
          <p:cNvSpPr/>
          <p:nvPr/>
        </p:nvSpPr>
        <p:spPr>
          <a:xfrm>
            <a:off x="6477000" y="3263900"/>
            <a:ext cx="1143000" cy="355600"/>
          </a:xfrm>
          <a:prstGeom prst="rect">
            <a:avLst/>
          </a:prstGeom>
          <a:solidFill>
            <a:srgbClr val="FAF9F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9AFFC91E-C379-6DF7-6B8E-FF074B2B0EB7}"/>
              </a:ext>
            </a:extLst>
          </p:cNvPr>
          <p:cNvSpPr txBox="1"/>
          <p:nvPr/>
        </p:nvSpPr>
        <p:spPr>
          <a:xfrm>
            <a:off x="6477000" y="3327400"/>
            <a:ext cx="1143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000" b="1">
                <a:solidFill>
                  <a:srgbClr val="212121"/>
                </a:solidFill>
                <a:latin typeface="Microsoft YaHei" panose="020B0503020204020204" pitchFamily="34" charset="-122"/>
              </a:rPr>
              <a:t>日本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633D7BF5-FFBD-EE5E-E197-00EB7AE62DED}"/>
              </a:ext>
            </a:extLst>
          </p:cNvPr>
          <p:cNvSpPr/>
          <p:nvPr/>
        </p:nvSpPr>
        <p:spPr>
          <a:xfrm>
            <a:off x="7620000" y="3263900"/>
            <a:ext cx="889000" cy="355600"/>
          </a:xfrm>
          <a:prstGeom prst="rect">
            <a:avLst/>
          </a:prstGeom>
          <a:solidFill>
            <a:srgbClr val="FAF9F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393E5035-4625-B7DC-78D9-74137D1B0E79}"/>
              </a:ext>
            </a:extLst>
          </p:cNvPr>
          <p:cNvSpPr txBox="1"/>
          <p:nvPr/>
        </p:nvSpPr>
        <p:spPr>
          <a:xfrm>
            <a:off x="7620000" y="3327400"/>
            <a:ext cx="889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1.1%</a:t>
            </a:r>
            <a:endParaRPr lang="zh-CN" altLang="en-US" sz="1000">
              <a:solidFill>
                <a:srgbClr val="2121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DE50E110-F2F7-2C1B-5F7B-3748714EA406}"/>
              </a:ext>
            </a:extLst>
          </p:cNvPr>
          <p:cNvSpPr/>
          <p:nvPr/>
        </p:nvSpPr>
        <p:spPr>
          <a:xfrm>
            <a:off x="8509000" y="3263900"/>
            <a:ext cx="889000" cy="355600"/>
          </a:xfrm>
          <a:prstGeom prst="rect">
            <a:avLst/>
          </a:prstGeom>
          <a:solidFill>
            <a:srgbClr val="FAF9F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6D721EB4-B454-F217-1A38-524E7358EE95}"/>
              </a:ext>
            </a:extLst>
          </p:cNvPr>
          <p:cNvSpPr txBox="1"/>
          <p:nvPr/>
        </p:nvSpPr>
        <p:spPr>
          <a:xfrm>
            <a:off x="8509000" y="3327400"/>
            <a:ext cx="889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0.8%</a:t>
            </a:r>
            <a:endParaRPr lang="zh-CN" altLang="en-US" sz="1000">
              <a:solidFill>
                <a:srgbClr val="2121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B2E0FCE0-22F9-6A7D-F7AB-FF03C4081B25}"/>
              </a:ext>
            </a:extLst>
          </p:cNvPr>
          <p:cNvSpPr/>
          <p:nvPr/>
        </p:nvSpPr>
        <p:spPr>
          <a:xfrm>
            <a:off x="9398000" y="3263900"/>
            <a:ext cx="762000" cy="355600"/>
          </a:xfrm>
          <a:prstGeom prst="rect">
            <a:avLst/>
          </a:prstGeom>
          <a:solidFill>
            <a:srgbClr val="FAF9F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9098D65D-7F9B-A5B3-454A-DC1427E38B1C}"/>
              </a:ext>
            </a:extLst>
          </p:cNvPr>
          <p:cNvSpPr txBox="1"/>
          <p:nvPr/>
        </p:nvSpPr>
        <p:spPr>
          <a:xfrm>
            <a:off x="9398000" y="3327400"/>
            <a:ext cx="76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↓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46572186-63B6-CBA2-E8FC-438E410D2432}"/>
              </a:ext>
            </a:extLst>
          </p:cNvPr>
          <p:cNvSpPr/>
          <p:nvPr/>
        </p:nvSpPr>
        <p:spPr>
          <a:xfrm>
            <a:off x="6477000" y="3619500"/>
            <a:ext cx="1143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CBAD94B6-97D2-4EB3-BCAC-F2CD4A58573F}"/>
              </a:ext>
            </a:extLst>
          </p:cNvPr>
          <p:cNvSpPr txBox="1"/>
          <p:nvPr/>
        </p:nvSpPr>
        <p:spPr>
          <a:xfrm>
            <a:off x="6477000" y="3683000"/>
            <a:ext cx="1143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000" b="1">
                <a:solidFill>
                  <a:srgbClr val="212121"/>
                </a:solidFill>
                <a:latin typeface="Microsoft YaHei" panose="020B0503020204020204" pitchFamily="34" charset="-122"/>
              </a:rPr>
              <a:t>印度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381F9E17-CC47-7928-C7EC-486588122C0F}"/>
              </a:ext>
            </a:extLst>
          </p:cNvPr>
          <p:cNvSpPr/>
          <p:nvPr/>
        </p:nvSpPr>
        <p:spPr>
          <a:xfrm>
            <a:off x="7620000" y="3619500"/>
            <a:ext cx="889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BA41A466-1860-D98E-923E-1C2390BBA191}"/>
              </a:ext>
            </a:extLst>
          </p:cNvPr>
          <p:cNvSpPr txBox="1"/>
          <p:nvPr/>
        </p:nvSpPr>
        <p:spPr>
          <a:xfrm>
            <a:off x="7620000" y="3683000"/>
            <a:ext cx="889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6.5%</a:t>
            </a:r>
            <a:endParaRPr lang="zh-CN" altLang="en-US" sz="1000">
              <a:solidFill>
                <a:srgbClr val="2121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C61ECEBE-DBE7-31F3-3B31-941652788A62}"/>
              </a:ext>
            </a:extLst>
          </p:cNvPr>
          <p:cNvSpPr/>
          <p:nvPr/>
        </p:nvSpPr>
        <p:spPr>
          <a:xfrm>
            <a:off x="8509000" y="3619500"/>
            <a:ext cx="889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E2B5FD66-9273-BEBA-808E-6561E26EFEBE}"/>
              </a:ext>
            </a:extLst>
          </p:cNvPr>
          <p:cNvSpPr txBox="1"/>
          <p:nvPr/>
        </p:nvSpPr>
        <p:spPr>
          <a:xfrm>
            <a:off x="8509000" y="3683000"/>
            <a:ext cx="889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6.3%</a:t>
            </a:r>
            <a:endParaRPr lang="zh-CN" altLang="en-US" sz="1000">
              <a:solidFill>
                <a:srgbClr val="2121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AAFA7D57-44AA-8529-077E-E0A8F776A750}"/>
              </a:ext>
            </a:extLst>
          </p:cNvPr>
          <p:cNvSpPr/>
          <p:nvPr/>
        </p:nvSpPr>
        <p:spPr>
          <a:xfrm>
            <a:off x="9398000" y="3619500"/>
            <a:ext cx="762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E3360625-381F-F699-1A8A-6DF398E055D1}"/>
              </a:ext>
            </a:extLst>
          </p:cNvPr>
          <p:cNvSpPr txBox="1"/>
          <p:nvPr/>
        </p:nvSpPr>
        <p:spPr>
          <a:xfrm>
            <a:off x="9398000" y="3683000"/>
            <a:ext cx="76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↑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2AFA9882-1108-FE6B-816E-E939153DD91F}"/>
              </a:ext>
            </a:extLst>
          </p:cNvPr>
          <p:cNvSpPr/>
          <p:nvPr/>
        </p:nvSpPr>
        <p:spPr>
          <a:xfrm>
            <a:off x="6477000" y="3975100"/>
            <a:ext cx="1143000" cy="355600"/>
          </a:xfrm>
          <a:prstGeom prst="rect">
            <a:avLst/>
          </a:prstGeom>
          <a:solidFill>
            <a:srgbClr val="FAF9F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60F1889F-2066-7622-129C-651D9616DE3E}"/>
              </a:ext>
            </a:extLst>
          </p:cNvPr>
          <p:cNvSpPr txBox="1"/>
          <p:nvPr/>
        </p:nvSpPr>
        <p:spPr>
          <a:xfrm>
            <a:off x="6477000" y="4038600"/>
            <a:ext cx="1143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000" b="1">
                <a:solidFill>
                  <a:srgbClr val="212121"/>
                </a:solidFill>
                <a:latin typeface="Microsoft YaHei" panose="020B0503020204020204" pitchFamily="34" charset="-122"/>
              </a:rPr>
              <a:t>南亚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4C956D19-F675-BB2C-4DA2-E3CF3234D480}"/>
              </a:ext>
            </a:extLst>
          </p:cNvPr>
          <p:cNvSpPr/>
          <p:nvPr/>
        </p:nvSpPr>
        <p:spPr>
          <a:xfrm>
            <a:off x="7620000" y="3975100"/>
            <a:ext cx="889000" cy="355600"/>
          </a:xfrm>
          <a:prstGeom prst="rect">
            <a:avLst/>
          </a:prstGeom>
          <a:solidFill>
            <a:srgbClr val="FAF9F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F5291393-8579-717E-3067-83C6966680E2}"/>
              </a:ext>
            </a:extLst>
          </p:cNvPr>
          <p:cNvSpPr txBox="1"/>
          <p:nvPr/>
        </p:nvSpPr>
        <p:spPr>
          <a:xfrm>
            <a:off x="7620000" y="4038600"/>
            <a:ext cx="889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—</a:t>
            </a:r>
            <a:endParaRPr lang="zh-CN" altLang="en-US" sz="1000">
              <a:solidFill>
                <a:srgbClr val="2121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EFB6F35C-E942-5E2D-AE6D-F42C6E47B2A0}"/>
              </a:ext>
            </a:extLst>
          </p:cNvPr>
          <p:cNvSpPr/>
          <p:nvPr/>
        </p:nvSpPr>
        <p:spPr>
          <a:xfrm>
            <a:off x="8509000" y="3975100"/>
            <a:ext cx="889000" cy="355600"/>
          </a:xfrm>
          <a:prstGeom prst="rect">
            <a:avLst/>
          </a:prstGeom>
          <a:solidFill>
            <a:srgbClr val="FAF9F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5EDFF629-E8B7-6AA8-A9D7-D9C485CF65D8}"/>
              </a:ext>
            </a:extLst>
          </p:cNvPr>
          <p:cNvSpPr txBox="1"/>
          <p:nvPr/>
        </p:nvSpPr>
        <p:spPr>
          <a:xfrm>
            <a:off x="8509000" y="4038600"/>
            <a:ext cx="889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6.3%</a:t>
            </a:r>
            <a:endParaRPr lang="zh-CN" altLang="en-US" sz="1000">
              <a:solidFill>
                <a:srgbClr val="2121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6B6F90C2-EF39-0F01-8D39-84016784FC76}"/>
              </a:ext>
            </a:extLst>
          </p:cNvPr>
          <p:cNvSpPr/>
          <p:nvPr/>
        </p:nvSpPr>
        <p:spPr>
          <a:xfrm>
            <a:off x="9398000" y="3975100"/>
            <a:ext cx="762000" cy="355600"/>
          </a:xfrm>
          <a:prstGeom prst="rect">
            <a:avLst/>
          </a:prstGeom>
          <a:solidFill>
            <a:srgbClr val="FAF9F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483A5FEB-D032-96A8-9AB2-47854B422FF9}"/>
              </a:ext>
            </a:extLst>
          </p:cNvPr>
          <p:cNvSpPr txBox="1"/>
          <p:nvPr/>
        </p:nvSpPr>
        <p:spPr>
          <a:xfrm>
            <a:off x="9398000" y="4038600"/>
            <a:ext cx="76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↑</a:t>
            </a:r>
          </a:p>
        </p:txBody>
      </p:sp>
      <p:pic>
        <p:nvPicPr>
          <p:cNvPr id="80" name="图片 79">
            <a:extLst>
              <a:ext uri="{FF2B5EF4-FFF2-40B4-BE49-F238E27FC236}">
                <a16:creationId xmlns:a16="http://schemas.microsoft.com/office/drawing/2014/main" id="{A6C9D988-FF9B-3B64-8612-1084BEAE970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4635500"/>
            <a:ext cx="2540000" cy="1651000"/>
          </a:xfrm>
          <a:prstGeom prst="rect">
            <a:avLst/>
          </a:prstGeom>
          <a:effectLst>
            <a:outerShdw blurRad="76200" dist="37357" dir="2700000" rotWithShape="0">
              <a:scrgbClr r="0" g="0" b="0"/>
            </a:outerShdw>
          </a:effectLst>
        </p:spPr>
      </p:pic>
      <p:sp>
        <p:nvSpPr>
          <p:cNvPr id="81" name="矩形 80">
            <a:extLst>
              <a:ext uri="{FF2B5EF4-FFF2-40B4-BE49-F238E27FC236}">
                <a16:creationId xmlns:a16="http://schemas.microsoft.com/office/drawing/2014/main" id="{74F06ACA-5EE7-493B-6C28-C8D883C3613E}"/>
              </a:ext>
            </a:extLst>
          </p:cNvPr>
          <p:cNvSpPr/>
          <p:nvPr/>
        </p:nvSpPr>
        <p:spPr>
          <a:xfrm>
            <a:off x="9144000" y="4635500"/>
            <a:ext cx="2667000" cy="1651000"/>
          </a:xfrm>
          <a:prstGeom prst="rect">
            <a:avLst/>
          </a:prstGeom>
          <a:solidFill>
            <a:srgbClr val="FDF2E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ED0BEC37-4329-18EF-58A9-F0B1755004DE}"/>
              </a:ext>
            </a:extLst>
          </p:cNvPr>
          <p:cNvSpPr txBox="1"/>
          <p:nvPr/>
        </p:nvSpPr>
        <p:spPr>
          <a:xfrm>
            <a:off x="9271000" y="4762500"/>
            <a:ext cx="2413000" cy="7078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💡 关键洞察：
世行警告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2026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全球增长为疫情后最低。若中东冲突升级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+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能源中断，全球增长可能骤降至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1.3%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B2B28ACF-5848-7066-C3C6-5AA3A529C740}"/>
              </a:ext>
            </a:extLst>
          </p:cNvPr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32231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6C321B6E-87BA-F4DB-0EEA-987D32524CDE}"/>
              </a:ext>
            </a:extLst>
          </p:cNvPr>
          <p:cNvSpPr txBox="1"/>
          <p:nvPr/>
        </p:nvSpPr>
        <p:spPr>
          <a:xfrm>
            <a:off x="508000" y="6540500"/>
            <a:ext cx="7620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800">
                <a:solidFill>
                  <a:srgbClr val="FFFFFF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sz="800">
                <a:solidFill>
                  <a:srgbClr val="FFFFFF"/>
                </a:solidFill>
                <a:latin typeface="Microsoft YaHei" panose="020B0503020204020204" pitchFamily="34" charset="-122"/>
              </a:rPr>
              <a:t>资本泡沫与全球经济走势分析 </a:t>
            </a:r>
            <a:r>
              <a:rPr lang="en-US" altLang="zh-CN" sz="800">
                <a:solidFill>
                  <a:srgbClr val="FFFFFF"/>
                </a:solidFill>
                <a:latin typeface="Microsoft YaHei" panose="020B0503020204020204" pitchFamily="34" charset="-122"/>
              </a:rPr>
              <a:t>| 2026</a:t>
            </a:r>
            <a:endParaRPr lang="zh-CN" altLang="en-US" sz="800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56460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61FFAD4-39E1-43D4-55FD-64EF0D57344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7F5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D6B4BDD-011F-1AE4-5D52-541BAEFE01B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47B60B8-3F07-E9AA-A09A-75805E556A12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F3962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D9A98FA-CCE1-0414-D167-4660E39DDE7F}"/>
              </a:ext>
            </a:extLst>
          </p:cNvPr>
          <p:cNvSpPr txBox="1"/>
          <p:nvPr/>
        </p:nvSpPr>
        <p:spPr>
          <a:xfrm>
            <a:off x="508000" y="317500"/>
            <a:ext cx="762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3600" b="1">
                <a:solidFill>
                  <a:srgbClr val="F39621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3600" b="1">
              <a:solidFill>
                <a:srgbClr val="F396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EE5F7A4-2182-53C6-5B06-3C2762A15B11}"/>
              </a:ext>
            </a:extLst>
          </p:cNvPr>
          <p:cNvSpPr/>
          <p:nvPr/>
        </p:nvSpPr>
        <p:spPr>
          <a:xfrm>
            <a:off x="1270000" y="381000"/>
            <a:ext cx="25400" cy="381000"/>
          </a:xfrm>
          <a:prstGeom prst="rect">
            <a:avLst/>
          </a:prstGeom>
          <a:solidFill>
            <a:srgbClr val="F3962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2179AE9-9DCF-DF37-CB99-9AF549247586}"/>
              </a:ext>
            </a:extLst>
          </p:cNvPr>
          <p:cNvSpPr txBox="1"/>
          <p:nvPr/>
        </p:nvSpPr>
        <p:spPr>
          <a:xfrm>
            <a:off x="1460500" y="317500"/>
            <a:ext cx="889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 b="1">
                <a:solidFill>
                  <a:srgbClr val="212121"/>
                </a:solidFill>
                <a:latin typeface="Microsoft YaHei" panose="020B0503020204020204" pitchFamily="34" charset="-122"/>
              </a:rPr>
              <a:t>中国经济发展全景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0D46682-D17A-D63B-93F0-B51B21591F5D}"/>
              </a:ext>
            </a:extLst>
          </p:cNvPr>
          <p:cNvSpPr txBox="1"/>
          <p:nvPr/>
        </p:nvSpPr>
        <p:spPr>
          <a:xfrm>
            <a:off x="1460500" y="787400"/>
            <a:ext cx="889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200">
                <a:solidFill>
                  <a:srgbClr val="757575"/>
                </a:solidFill>
                <a:latin typeface="Microsoft YaHei" panose="020B0503020204020204" pitchFamily="34" charset="-122"/>
              </a:rPr>
              <a:t>2025</a:t>
            </a:r>
            <a:r>
              <a:rPr lang="zh-CN" altLang="en-US" sz="1200">
                <a:solidFill>
                  <a:srgbClr val="757575"/>
                </a:solidFill>
                <a:latin typeface="Microsoft YaHei" panose="020B0503020204020204" pitchFamily="34" charset="-122"/>
              </a:rPr>
              <a:t>年核心经济指标一览 </a:t>
            </a:r>
            <a:r>
              <a:rPr lang="en-US" altLang="zh-CN" sz="1200">
                <a:solidFill>
                  <a:srgbClr val="757575"/>
                </a:solidFill>
                <a:latin typeface="Microsoft YaHei" panose="020B0503020204020204" pitchFamily="34" charset="-122"/>
              </a:rPr>
              <a:t>| GDP·</a:t>
            </a:r>
            <a:r>
              <a:rPr lang="zh-CN" altLang="en-US" sz="1200">
                <a:solidFill>
                  <a:srgbClr val="757575"/>
                </a:solidFill>
                <a:latin typeface="Microsoft YaHei" panose="020B0503020204020204" pitchFamily="34" charset="-122"/>
              </a:rPr>
              <a:t>工业</a:t>
            </a:r>
            <a:r>
              <a:rPr lang="en-US" altLang="zh-CN" sz="1200">
                <a:solidFill>
                  <a:srgbClr val="757575"/>
                </a:solidFill>
                <a:latin typeface="Microsoft YaHei" panose="020B0503020204020204" pitchFamily="34" charset="-122"/>
              </a:rPr>
              <a:t>·</a:t>
            </a:r>
            <a:r>
              <a:rPr lang="zh-CN" altLang="en-US" sz="1200">
                <a:solidFill>
                  <a:srgbClr val="757575"/>
                </a:solidFill>
                <a:latin typeface="Microsoft YaHei" panose="020B0503020204020204" pitchFamily="34" charset="-122"/>
              </a:rPr>
              <a:t>消费</a:t>
            </a:r>
            <a:r>
              <a:rPr lang="en-US" altLang="zh-CN" sz="1200">
                <a:solidFill>
                  <a:srgbClr val="757575"/>
                </a:solidFill>
                <a:latin typeface="Microsoft YaHei" panose="020B0503020204020204" pitchFamily="34" charset="-122"/>
              </a:rPr>
              <a:t>·</a:t>
            </a:r>
            <a:r>
              <a:rPr lang="zh-CN" altLang="en-US" sz="1200">
                <a:solidFill>
                  <a:srgbClr val="757575"/>
                </a:solidFill>
                <a:latin typeface="Microsoft YaHei" panose="020B0503020204020204" pitchFamily="34" charset="-122"/>
              </a:rPr>
              <a:t>贸易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FB8AABE-2FF7-1D98-22AB-8499FACE3715}"/>
              </a:ext>
            </a:extLst>
          </p:cNvPr>
          <p:cNvSpPr/>
          <p:nvPr/>
        </p:nvSpPr>
        <p:spPr>
          <a:xfrm>
            <a:off x="508000" y="1206500"/>
            <a:ext cx="11176000" cy="12700"/>
          </a:xfrm>
          <a:prstGeom prst="rect">
            <a:avLst/>
          </a:prstGeom>
          <a:solidFill>
            <a:srgbClr val="E0E0E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7D209D5-0F94-E3FE-9905-9AD383F9F7BA}"/>
              </a:ext>
            </a:extLst>
          </p:cNvPr>
          <p:cNvSpPr/>
          <p:nvPr/>
        </p:nvSpPr>
        <p:spPr>
          <a:xfrm>
            <a:off x="508000" y="1397000"/>
            <a:ext cx="2667000" cy="1270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prstShdw prst="shdw1" dist="35921" dir="2699995">
              <a:srgbClr val="CCCCCC">
                <a:alpha val="50000"/>
              </a:srgbClr>
            </a:prst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54D849D-1964-13C7-674A-E50CB16CA48B}"/>
              </a:ext>
            </a:extLst>
          </p:cNvPr>
          <p:cNvSpPr txBox="1"/>
          <p:nvPr/>
        </p:nvSpPr>
        <p:spPr>
          <a:xfrm>
            <a:off x="635000" y="1587500"/>
            <a:ext cx="2413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800" b="1">
                <a:solidFill>
                  <a:srgbClr val="F39621"/>
                </a:solidFill>
                <a:latin typeface="Microsoft YaHei" panose="020B0503020204020204" pitchFamily="34" charset="-122"/>
              </a:rPr>
              <a:t>140.19</a:t>
            </a:r>
            <a:r>
              <a:rPr lang="zh-CN" altLang="en-US" sz="2800" b="1">
                <a:solidFill>
                  <a:srgbClr val="F39621"/>
                </a:solidFill>
                <a:latin typeface="Microsoft YaHei" panose="020B0503020204020204" pitchFamily="34" charset="-122"/>
              </a:rPr>
              <a:t>万亿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68B9CBF-CC07-E61C-B3CF-1AF9A240760E}"/>
              </a:ext>
            </a:extLst>
          </p:cNvPr>
          <p:cNvSpPr txBox="1"/>
          <p:nvPr/>
        </p:nvSpPr>
        <p:spPr>
          <a:xfrm>
            <a:off x="635000" y="2222500"/>
            <a:ext cx="2413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GDP</a:t>
            </a:r>
            <a:r>
              <a:rPr lang="zh-CN" altLang="en-US" sz="1100">
                <a:solidFill>
                  <a:srgbClr val="757575"/>
                </a:solidFill>
                <a:latin typeface="Microsoft YaHei" panose="020B0503020204020204" pitchFamily="34" charset="-122"/>
              </a:rPr>
              <a:t>总量</a:t>
            </a:r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100">
                <a:solidFill>
                  <a:srgbClr val="757575"/>
                </a:solidFill>
                <a:latin typeface="Microsoft YaHei" panose="020B0503020204020204" pitchFamily="34" charset="-122"/>
              </a:rPr>
              <a:t>元</a:t>
            </a:r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100">
              <a:solidFill>
                <a:srgbClr val="7575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38F3C21-CCA3-3807-8FD8-0C2F93056CEA}"/>
              </a:ext>
            </a:extLst>
          </p:cNvPr>
          <p:cNvSpPr/>
          <p:nvPr/>
        </p:nvSpPr>
        <p:spPr>
          <a:xfrm>
            <a:off x="3429000" y="1397000"/>
            <a:ext cx="2667000" cy="1270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prstShdw prst="shdw1" dist="35921" dir="2699995">
              <a:srgbClr val="CCCCCC">
                <a:alpha val="50000"/>
              </a:srgbClr>
            </a:prst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D14669C-3648-24C3-50D1-5E20D5661251}"/>
              </a:ext>
            </a:extLst>
          </p:cNvPr>
          <p:cNvSpPr txBox="1"/>
          <p:nvPr/>
        </p:nvSpPr>
        <p:spPr>
          <a:xfrm>
            <a:off x="3556000" y="1587500"/>
            <a:ext cx="2413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800" b="1">
                <a:solidFill>
                  <a:srgbClr val="50AF4C"/>
                </a:solidFill>
                <a:latin typeface="Microsoft YaHei" panose="020B0503020204020204" pitchFamily="34" charset="-122"/>
              </a:rPr>
              <a:t>5.0%</a:t>
            </a:r>
            <a:endParaRPr lang="zh-CN" altLang="en-US" sz="2800" b="1">
              <a:solidFill>
                <a:srgbClr val="50AF4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B5DDE33-6E53-3ADE-98D9-1D5D56B84B98}"/>
              </a:ext>
            </a:extLst>
          </p:cNvPr>
          <p:cNvSpPr txBox="1"/>
          <p:nvPr/>
        </p:nvSpPr>
        <p:spPr>
          <a:xfrm>
            <a:off x="3556000" y="2222500"/>
            <a:ext cx="2413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GDP</a:t>
            </a:r>
            <a:r>
              <a:rPr lang="zh-CN" altLang="en-US" sz="1100">
                <a:solidFill>
                  <a:srgbClr val="757575"/>
                </a:solidFill>
                <a:latin typeface="Microsoft YaHei" panose="020B0503020204020204" pitchFamily="34" charset="-122"/>
              </a:rPr>
              <a:t>增速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107970F-7C70-358B-0761-2CF7AD71F329}"/>
              </a:ext>
            </a:extLst>
          </p:cNvPr>
          <p:cNvSpPr/>
          <p:nvPr/>
        </p:nvSpPr>
        <p:spPr>
          <a:xfrm>
            <a:off x="6350000" y="1397000"/>
            <a:ext cx="2667000" cy="1270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prstShdw prst="shdw1" dist="35921" dir="2699995">
              <a:srgbClr val="CCCCCC">
                <a:alpha val="50000"/>
              </a:srgbClr>
            </a:prst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528E7F5-E411-5DFF-4DF4-AF1414E564AD}"/>
              </a:ext>
            </a:extLst>
          </p:cNvPr>
          <p:cNvSpPr txBox="1"/>
          <p:nvPr/>
        </p:nvSpPr>
        <p:spPr>
          <a:xfrm>
            <a:off x="6477000" y="1587500"/>
            <a:ext cx="2413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800" b="1">
                <a:solidFill>
                  <a:srgbClr val="B0279C"/>
                </a:solidFill>
                <a:latin typeface="Microsoft YaHei" panose="020B0503020204020204" pitchFamily="34" charset="-122"/>
              </a:rPr>
              <a:t>6.36</a:t>
            </a:r>
            <a:r>
              <a:rPr lang="zh-CN" altLang="en-US" sz="2800" b="1">
                <a:solidFill>
                  <a:srgbClr val="B0279C"/>
                </a:solidFill>
                <a:latin typeface="Microsoft YaHei" panose="020B0503020204020204" pitchFamily="34" charset="-122"/>
              </a:rPr>
              <a:t>万亿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9EF6A43-4E97-D45F-2FFF-CA8EDE06554A}"/>
              </a:ext>
            </a:extLst>
          </p:cNvPr>
          <p:cNvSpPr txBox="1"/>
          <p:nvPr/>
        </p:nvSpPr>
        <p:spPr>
          <a:xfrm>
            <a:off x="6477000" y="2222500"/>
            <a:ext cx="2413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100">
                <a:solidFill>
                  <a:srgbClr val="757575"/>
                </a:solidFill>
                <a:latin typeface="Microsoft YaHei" panose="020B0503020204020204" pitchFamily="34" charset="-122"/>
              </a:rPr>
              <a:t>进出口总额</a:t>
            </a:r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100">
                <a:solidFill>
                  <a:srgbClr val="757575"/>
                </a:solidFill>
                <a:latin typeface="Microsoft YaHei" panose="020B0503020204020204" pitchFamily="34" charset="-122"/>
              </a:rPr>
              <a:t>美元</a:t>
            </a:r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100">
              <a:solidFill>
                <a:srgbClr val="7575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0959849-3554-EE02-0ABC-C8E2A0C51F95}"/>
              </a:ext>
            </a:extLst>
          </p:cNvPr>
          <p:cNvSpPr/>
          <p:nvPr/>
        </p:nvSpPr>
        <p:spPr>
          <a:xfrm>
            <a:off x="9271000" y="1397000"/>
            <a:ext cx="2667000" cy="1270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prstShdw prst="shdw1" dist="35921" dir="2699995">
              <a:srgbClr val="CCCCCC">
                <a:alpha val="50000"/>
              </a:srgbClr>
            </a:prst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93737C9-466D-464B-CE67-332D339EE57E}"/>
              </a:ext>
            </a:extLst>
          </p:cNvPr>
          <p:cNvSpPr txBox="1"/>
          <p:nvPr/>
        </p:nvSpPr>
        <p:spPr>
          <a:xfrm>
            <a:off x="9398000" y="1587500"/>
            <a:ext cx="2413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800" b="1">
                <a:solidFill>
                  <a:srgbClr val="0098FF"/>
                </a:solidFill>
                <a:latin typeface="Microsoft YaHei" panose="020B0503020204020204" pitchFamily="34" charset="-122"/>
              </a:rPr>
              <a:t>3.93</a:t>
            </a:r>
            <a:r>
              <a:rPr lang="zh-CN" altLang="en-US" sz="2800" b="1">
                <a:solidFill>
                  <a:srgbClr val="0098FF"/>
                </a:solidFill>
                <a:latin typeface="Microsoft YaHei" panose="020B0503020204020204" pitchFamily="34" charset="-122"/>
              </a:rPr>
              <a:t>万亿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365056A-FA2C-7373-0F8C-14CC01E6F090}"/>
              </a:ext>
            </a:extLst>
          </p:cNvPr>
          <p:cNvSpPr txBox="1"/>
          <p:nvPr/>
        </p:nvSpPr>
        <p:spPr>
          <a:xfrm>
            <a:off x="9398000" y="2222500"/>
            <a:ext cx="2413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R&amp;D</a:t>
            </a:r>
            <a:r>
              <a:rPr lang="zh-CN" altLang="en-US" sz="1100">
                <a:solidFill>
                  <a:srgbClr val="757575"/>
                </a:solidFill>
                <a:latin typeface="Microsoft YaHei" panose="020B0503020204020204" pitchFamily="34" charset="-122"/>
              </a:rPr>
              <a:t>投入</a:t>
            </a:r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100">
                <a:solidFill>
                  <a:srgbClr val="757575"/>
                </a:solidFill>
                <a:latin typeface="Microsoft YaHei" panose="020B0503020204020204" pitchFamily="34" charset="-122"/>
              </a:rPr>
              <a:t>元</a:t>
            </a:r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100">
              <a:solidFill>
                <a:srgbClr val="7575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4D51331-B4B6-B79B-E093-2D9B9EA6E8D4}"/>
              </a:ext>
            </a:extLst>
          </p:cNvPr>
          <p:cNvSpPr txBox="1"/>
          <p:nvPr/>
        </p:nvSpPr>
        <p:spPr>
          <a:xfrm>
            <a:off x="508000" y="2921000"/>
            <a:ext cx="5080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 b="1">
                <a:solidFill>
                  <a:srgbClr val="212121"/>
                </a:solidFill>
                <a:latin typeface="Microsoft YaHei" panose="020B0503020204020204" pitchFamily="34" charset="-122"/>
              </a:rPr>
              <a:t>▎工业与制造业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7834800-7E41-AB1B-7814-C160A21F374D}"/>
              </a:ext>
            </a:extLst>
          </p:cNvPr>
          <p:cNvSpPr txBox="1"/>
          <p:nvPr/>
        </p:nvSpPr>
        <p:spPr>
          <a:xfrm>
            <a:off x="635000" y="3302000"/>
            <a:ext cx="2921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● 工业增加值增速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39F6140-E509-050B-15FC-49504969BF80}"/>
              </a:ext>
            </a:extLst>
          </p:cNvPr>
          <p:cNvSpPr txBox="1"/>
          <p:nvPr/>
        </p:nvSpPr>
        <p:spPr>
          <a:xfrm>
            <a:off x="3619500" y="3302000"/>
            <a:ext cx="127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000" b="1">
                <a:solidFill>
                  <a:srgbClr val="50AF4C"/>
                </a:solidFill>
                <a:latin typeface="Microsoft YaHei" panose="020B0503020204020204" pitchFamily="34" charset="-122"/>
              </a:rPr>
              <a:t>+5.9% YoY</a:t>
            </a:r>
            <a:endParaRPr lang="zh-CN" altLang="en-US" sz="1000" b="1">
              <a:solidFill>
                <a:srgbClr val="50AF4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034AD14-0C57-AC45-572E-3F493F3760B6}"/>
              </a:ext>
            </a:extLst>
          </p:cNvPr>
          <p:cNvSpPr txBox="1"/>
          <p:nvPr/>
        </p:nvSpPr>
        <p:spPr>
          <a:xfrm>
            <a:off x="635000" y="3606800"/>
            <a:ext cx="2921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● 制造业增长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DF06D7E-8FE6-44A7-9209-B2849B40F22D}"/>
              </a:ext>
            </a:extLst>
          </p:cNvPr>
          <p:cNvSpPr txBox="1"/>
          <p:nvPr/>
        </p:nvSpPr>
        <p:spPr>
          <a:xfrm>
            <a:off x="3619500" y="3606800"/>
            <a:ext cx="127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000" b="1">
                <a:solidFill>
                  <a:srgbClr val="50AF4C"/>
                </a:solidFill>
                <a:latin typeface="Microsoft YaHei" panose="020B0503020204020204" pitchFamily="34" charset="-122"/>
              </a:rPr>
              <a:t>+6.4% YoY</a:t>
            </a:r>
            <a:endParaRPr lang="zh-CN" altLang="en-US" sz="1000" b="1">
              <a:solidFill>
                <a:srgbClr val="50AF4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6EC6FAA-6B1D-A83B-E2A6-B0F0853EEF29}"/>
              </a:ext>
            </a:extLst>
          </p:cNvPr>
          <p:cNvSpPr txBox="1"/>
          <p:nvPr/>
        </p:nvSpPr>
        <p:spPr>
          <a:xfrm>
            <a:off x="635000" y="3911600"/>
            <a:ext cx="2921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● 高技术制造业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B4C8790-3F64-6F19-BEEA-31E10A71808E}"/>
              </a:ext>
            </a:extLst>
          </p:cNvPr>
          <p:cNvSpPr txBox="1"/>
          <p:nvPr/>
        </p:nvSpPr>
        <p:spPr>
          <a:xfrm>
            <a:off x="3619500" y="3911600"/>
            <a:ext cx="127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000" b="1">
                <a:solidFill>
                  <a:srgbClr val="50AF4C"/>
                </a:solidFill>
                <a:latin typeface="Microsoft YaHei" panose="020B0503020204020204" pitchFamily="34" charset="-122"/>
              </a:rPr>
              <a:t>+9.4% YoY</a:t>
            </a:r>
            <a:endParaRPr lang="zh-CN" altLang="en-US" sz="1000" b="1">
              <a:solidFill>
                <a:srgbClr val="50AF4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F0EEC32-3B9C-B9CB-8314-24F4B30DC3A5}"/>
              </a:ext>
            </a:extLst>
          </p:cNvPr>
          <p:cNvSpPr txBox="1"/>
          <p:nvPr/>
        </p:nvSpPr>
        <p:spPr>
          <a:xfrm>
            <a:off x="635000" y="4216400"/>
            <a:ext cx="2921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● 装备制造业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00BF984-7161-2AE2-91E0-EA16F05D2C70}"/>
              </a:ext>
            </a:extLst>
          </p:cNvPr>
          <p:cNvSpPr txBox="1"/>
          <p:nvPr/>
        </p:nvSpPr>
        <p:spPr>
          <a:xfrm>
            <a:off x="3619500" y="4216400"/>
            <a:ext cx="1270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000" b="1">
                <a:solidFill>
                  <a:srgbClr val="50AF4C"/>
                </a:solidFill>
                <a:latin typeface="Microsoft YaHei" panose="020B0503020204020204" pitchFamily="34" charset="-122"/>
              </a:rPr>
              <a:t>+9.2% (</a:t>
            </a:r>
            <a:r>
              <a:rPr lang="zh-CN" altLang="en-US" sz="1000" b="1">
                <a:solidFill>
                  <a:srgbClr val="50AF4C"/>
                </a:solidFill>
                <a:latin typeface="Microsoft YaHei" panose="020B0503020204020204" pitchFamily="34" charset="-122"/>
              </a:rPr>
              <a:t>占工业</a:t>
            </a:r>
            <a:r>
              <a:rPr lang="en-US" altLang="zh-CN" sz="1000" b="1">
                <a:solidFill>
                  <a:srgbClr val="50AF4C"/>
                </a:solidFill>
                <a:latin typeface="Microsoft YaHei" panose="020B0503020204020204" pitchFamily="34" charset="-122"/>
              </a:rPr>
              <a:t>36.8%)</a:t>
            </a:r>
            <a:endParaRPr lang="zh-CN" altLang="en-US" sz="1000" b="1">
              <a:solidFill>
                <a:srgbClr val="50AF4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C92CFB2-FF0E-145D-D16F-41EB17A81519}"/>
              </a:ext>
            </a:extLst>
          </p:cNvPr>
          <p:cNvSpPr txBox="1"/>
          <p:nvPr/>
        </p:nvSpPr>
        <p:spPr>
          <a:xfrm>
            <a:off x="635000" y="4521200"/>
            <a:ext cx="2921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● 制造业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PMI(2026.04)</a:t>
            </a:r>
            <a:endParaRPr lang="zh-CN" altLang="en-US" sz="1000">
              <a:solidFill>
                <a:srgbClr val="2121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816DDAE-81D7-90F9-5A52-C19839C3518B}"/>
              </a:ext>
            </a:extLst>
          </p:cNvPr>
          <p:cNvSpPr txBox="1"/>
          <p:nvPr/>
        </p:nvSpPr>
        <p:spPr>
          <a:xfrm>
            <a:off x="3619500" y="4521200"/>
            <a:ext cx="127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000" b="1">
                <a:solidFill>
                  <a:srgbClr val="50AF4C"/>
                </a:solidFill>
                <a:latin typeface="Microsoft YaHei" panose="020B0503020204020204" pitchFamily="34" charset="-122"/>
              </a:rPr>
              <a:t>50.3 </a:t>
            </a:r>
            <a:r>
              <a:rPr lang="zh-CN" altLang="en-US" sz="1000" b="1">
                <a:solidFill>
                  <a:srgbClr val="50AF4C"/>
                </a:solidFill>
                <a:latin typeface="Microsoft YaHei" panose="020B0503020204020204" pitchFamily="34" charset="-122"/>
              </a:rPr>
              <a:t>扩张区间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7C71727F-F07C-CB3E-B24B-8C732EB5A527}"/>
              </a:ext>
            </a:extLst>
          </p:cNvPr>
          <p:cNvSpPr txBox="1"/>
          <p:nvPr/>
        </p:nvSpPr>
        <p:spPr>
          <a:xfrm>
            <a:off x="5461000" y="2921000"/>
            <a:ext cx="5080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 b="1">
                <a:solidFill>
                  <a:srgbClr val="212121"/>
                </a:solidFill>
                <a:latin typeface="Microsoft YaHei" panose="020B0503020204020204" pitchFamily="34" charset="-122"/>
              </a:rPr>
              <a:t>▎贸易结构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F4E2560-14E6-4244-534C-CAB5C817E8F5}"/>
              </a:ext>
            </a:extLst>
          </p:cNvPr>
          <p:cNvSpPr txBox="1"/>
          <p:nvPr/>
        </p:nvSpPr>
        <p:spPr>
          <a:xfrm>
            <a:off x="5588000" y="3302000"/>
            <a:ext cx="203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出口总额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EC4E3B1-9959-D40F-1F7C-B55D213D1610}"/>
              </a:ext>
            </a:extLst>
          </p:cNvPr>
          <p:cNvSpPr txBox="1"/>
          <p:nvPr/>
        </p:nvSpPr>
        <p:spPr>
          <a:xfrm>
            <a:off x="7683500" y="3302000"/>
            <a:ext cx="1905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000" b="1">
                <a:solidFill>
                  <a:srgbClr val="50AF4C"/>
                </a:solidFill>
                <a:latin typeface="Microsoft YaHei" panose="020B0503020204020204" pitchFamily="34" charset="-122"/>
              </a:rPr>
              <a:t>$3.77</a:t>
            </a:r>
            <a:r>
              <a:rPr lang="zh-CN" altLang="en-US" sz="1000" b="1">
                <a:solidFill>
                  <a:srgbClr val="50AF4C"/>
                </a:solidFill>
                <a:latin typeface="Microsoft YaHei" panose="020B0503020204020204" pitchFamily="34" charset="-122"/>
              </a:rPr>
              <a:t>万亿 </a:t>
            </a:r>
            <a:r>
              <a:rPr lang="en-US" altLang="zh-CN" sz="1000" b="1">
                <a:solidFill>
                  <a:srgbClr val="50AF4C"/>
                </a:solidFill>
                <a:latin typeface="Microsoft YaHei" panose="020B0503020204020204" pitchFamily="34" charset="-122"/>
              </a:rPr>
              <a:t>(+6.1%)</a:t>
            </a:r>
            <a:endParaRPr lang="zh-CN" altLang="en-US" sz="1000" b="1">
              <a:solidFill>
                <a:srgbClr val="50AF4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25E5E8A7-8EF8-AB76-3507-2DBBFA1B6644}"/>
              </a:ext>
            </a:extLst>
          </p:cNvPr>
          <p:cNvSpPr txBox="1"/>
          <p:nvPr/>
        </p:nvSpPr>
        <p:spPr>
          <a:xfrm>
            <a:off x="5588000" y="3581400"/>
            <a:ext cx="203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进口总额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0A027C9A-5D1A-4E90-3AA1-72DDF6D79CE8}"/>
              </a:ext>
            </a:extLst>
          </p:cNvPr>
          <p:cNvSpPr txBox="1"/>
          <p:nvPr/>
        </p:nvSpPr>
        <p:spPr>
          <a:xfrm>
            <a:off x="7683500" y="3581400"/>
            <a:ext cx="1905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000" b="1">
                <a:solidFill>
                  <a:srgbClr val="50AF4C"/>
                </a:solidFill>
                <a:latin typeface="Microsoft YaHei" panose="020B0503020204020204" pitchFamily="34" charset="-122"/>
              </a:rPr>
              <a:t>$2.58</a:t>
            </a:r>
            <a:r>
              <a:rPr lang="zh-CN" altLang="en-US" sz="1000" b="1">
                <a:solidFill>
                  <a:srgbClr val="50AF4C"/>
                </a:solidFill>
                <a:latin typeface="Microsoft YaHei" panose="020B0503020204020204" pitchFamily="34" charset="-122"/>
              </a:rPr>
              <a:t>万亿 </a:t>
            </a:r>
            <a:r>
              <a:rPr lang="en-US" altLang="zh-CN" sz="1000" b="1">
                <a:solidFill>
                  <a:srgbClr val="50AF4C"/>
                </a:solidFill>
                <a:latin typeface="Microsoft YaHei" panose="020B0503020204020204" pitchFamily="34" charset="-122"/>
              </a:rPr>
              <a:t>(+0.5%)</a:t>
            </a:r>
            <a:endParaRPr lang="zh-CN" altLang="en-US" sz="1000" b="1">
              <a:solidFill>
                <a:srgbClr val="50AF4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6BC2894-7A80-E2FC-A7E5-4834F432E349}"/>
              </a:ext>
            </a:extLst>
          </p:cNvPr>
          <p:cNvSpPr txBox="1"/>
          <p:nvPr/>
        </p:nvSpPr>
        <p:spPr>
          <a:xfrm>
            <a:off x="5588000" y="3860800"/>
            <a:ext cx="203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贸易顺差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915617B9-8088-1374-E96F-AC2AA36861EC}"/>
              </a:ext>
            </a:extLst>
          </p:cNvPr>
          <p:cNvSpPr txBox="1"/>
          <p:nvPr/>
        </p:nvSpPr>
        <p:spPr>
          <a:xfrm>
            <a:off x="7683500" y="3860800"/>
            <a:ext cx="1905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000" b="1">
                <a:solidFill>
                  <a:srgbClr val="50AF4C"/>
                </a:solidFill>
                <a:latin typeface="Microsoft YaHei" panose="020B0503020204020204" pitchFamily="34" charset="-122"/>
              </a:rPr>
              <a:t>$1.19</a:t>
            </a:r>
            <a:r>
              <a:rPr lang="zh-CN" altLang="en-US" sz="1000" b="1">
                <a:solidFill>
                  <a:srgbClr val="50AF4C"/>
                </a:solidFill>
                <a:latin typeface="Microsoft YaHei" panose="020B0503020204020204" pitchFamily="34" charset="-122"/>
              </a:rPr>
              <a:t>万亿 </a:t>
            </a:r>
            <a:r>
              <a:rPr lang="en-US" altLang="zh-CN" sz="1000" b="1">
                <a:solidFill>
                  <a:srgbClr val="50AF4C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000" b="1">
                <a:solidFill>
                  <a:srgbClr val="50AF4C"/>
                </a:solidFill>
                <a:latin typeface="Microsoft YaHei" panose="020B0503020204020204" pitchFamily="34" charset="-122"/>
              </a:rPr>
              <a:t>历史新高</a:t>
            </a:r>
            <a:r>
              <a:rPr lang="en-US" altLang="zh-CN" sz="1000" b="1">
                <a:solidFill>
                  <a:srgbClr val="50AF4C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000" b="1">
              <a:solidFill>
                <a:srgbClr val="50AF4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2B8ABC9F-FF5F-852B-40A5-DF33C425111A}"/>
              </a:ext>
            </a:extLst>
          </p:cNvPr>
          <p:cNvSpPr txBox="1"/>
          <p:nvPr/>
        </p:nvSpPr>
        <p:spPr>
          <a:xfrm>
            <a:off x="5588000" y="4140200"/>
            <a:ext cx="203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高新技术出口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A9EDBF9F-7C90-9BB3-EE36-839F9DE1B7E6}"/>
              </a:ext>
            </a:extLst>
          </p:cNvPr>
          <p:cNvSpPr txBox="1"/>
          <p:nvPr/>
        </p:nvSpPr>
        <p:spPr>
          <a:xfrm>
            <a:off x="7683500" y="4140200"/>
            <a:ext cx="1905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000" b="1">
                <a:solidFill>
                  <a:srgbClr val="50AF4C"/>
                </a:solidFill>
                <a:latin typeface="Microsoft YaHei" panose="020B0503020204020204" pitchFamily="34" charset="-122"/>
              </a:rPr>
              <a:t>$7500</a:t>
            </a:r>
            <a:r>
              <a:rPr lang="zh-CN" altLang="en-US" sz="1000" b="1">
                <a:solidFill>
                  <a:srgbClr val="50AF4C"/>
                </a:solidFill>
                <a:latin typeface="Microsoft YaHei" panose="020B0503020204020204" pitchFamily="34" charset="-122"/>
              </a:rPr>
              <a:t>亿 </a:t>
            </a:r>
            <a:r>
              <a:rPr lang="en-US" altLang="zh-CN" sz="1000" b="1">
                <a:solidFill>
                  <a:srgbClr val="50AF4C"/>
                </a:solidFill>
                <a:latin typeface="Microsoft YaHei" panose="020B0503020204020204" pitchFamily="34" charset="-122"/>
              </a:rPr>
              <a:t>(+13.2%)</a:t>
            </a:r>
            <a:endParaRPr lang="zh-CN" altLang="en-US" sz="1000" b="1">
              <a:solidFill>
                <a:srgbClr val="50AF4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59C1A36-A327-7AB5-59FB-B96323286D7F}"/>
              </a:ext>
            </a:extLst>
          </p:cNvPr>
          <p:cNvSpPr txBox="1"/>
          <p:nvPr/>
        </p:nvSpPr>
        <p:spPr>
          <a:xfrm>
            <a:off x="5588000" y="4419600"/>
            <a:ext cx="203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新能源汽车出口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FF4687BC-BA03-5C1B-5927-0BF8502961EF}"/>
              </a:ext>
            </a:extLst>
          </p:cNvPr>
          <p:cNvSpPr txBox="1"/>
          <p:nvPr/>
        </p:nvSpPr>
        <p:spPr>
          <a:xfrm>
            <a:off x="7683500" y="4419600"/>
            <a:ext cx="1905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000" b="1">
                <a:solidFill>
                  <a:srgbClr val="50AF4C"/>
                </a:solidFill>
                <a:latin typeface="Microsoft YaHei" panose="020B0503020204020204" pitchFamily="34" charset="-122"/>
              </a:rPr>
              <a:t>+48% YoY</a:t>
            </a:r>
            <a:endParaRPr lang="zh-CN" altLang="en-US" sz="1000" b="1">
              <a:solidFill>
                <a:srgbClr val="50AF4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40C97A61-1E94-83EA-90CA-6B7B11A3132A}"/>
              </a:ext>
            </a:extLst>
          </p:cNvPr>
          <p:cNvSpPr txBox="1"/>
          <p:nvPr/>
        </p:nvSpPr>
        <p:spPr>
          <a:xfrm>
            <a:off x="5588000" y="4699000"/>
            <a:ext cx="203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一带一路贸易占比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30E49188-66BC-3230-C395-9EE197A5109C}"/>
              </a:ext>
            </a:extLst>
          </p:cNvPr>
          <p:cNvSpPr txBox="1"/>
          <p:nvPr/>
        </p:nvSpPr>
        <p:spPr>
          <a:xfrm>
            <a:off x="7683500" y="4699000"/>
            <a:ext cx="1905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000" b="1">
                <a:solidFill>
                  <a:srgbClr val="212121"/>
                </a:solidFill>
                <a:latin typeface="Microsoft YaHei" panose="020B0503020204020204" pitchFamily="34" charset="-122"/>
              </a:rPr>
              <a:t>51.9%</a:t>
            </a:r>
            <a:endParaRPr lang="zh-CN" altLang="en-US" sz="1000" b="1">
              <a:solidFill>
                <a:srgbClr val="2121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FB98BF65-9FBA-5A1A-3F69-28E13DF5C337}"/>
              </a:ext>
            </a:extLst>
          </p:cNvPr>
          <p:cNvSpPr txBox="1"/>
          <p:nvPr/>
        </p:nvSpPr>
        <p:spPr>
          <a:xfrm>
            <a:off x="5588000" y="4978400"/>
            <a:ext cx="203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对美出口变化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8FE01DDA-E021-3B5F-4D60-15A207F919DE}"/>
              </a:ext>
            </a:extLst>
          </p:cNvPr>
          <p:cNvSpPr txBox="1"/>
          <p:nvPr/>
        </p:nvSpPr>
        <p:spPr>
          <a:xfrm>
            <a:off x="7683500" y="4978400"/>
            <a:ext cx="1905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000" b="1">
                <a:solidFill>
                  <a:srgbClr val="3643F4"/>
                </a:solidFill>
                <a:latin typeface="Microsoft YaHei" panose="020B0503020204020204" pitchFamily="34" charset="-122"/>
              </a:rPr>
              <a:t>-20%</a:t>
            </a:r>
            <a:endParaRPr lang="zh-CN" altLang="en-US" sz="1000" b="1">
              <a:solidFill>
                <a:srgbClr val="3643F4"/>
              </a:solidFill>
              <a:latin typeface="Microsoft YaHei" panose="020B0503020204020204" pitchFamily="34" charset="-122"/>
            </a:endParaRPr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38082CAD-0327-D456-971A-B679405BBC0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0" y="2921000"/>
            <a:ext cx="2159000" cy="1524000"/>
          </a:xfrm>
          <a:prstGeom prst="rect">
            <a:avLst/>
          </a:prstGeom>
          <a:effectLst>
            <a:outerShdw blurRad="101600" dist="37357" dir="2700000" rotWithShape="0">
              <a:scrgbClr r="0" g="0" b="0"/>
            </a:outerShdw>
          </a:effectLst>
        </p:spPr>
      </p:pic>
      <p:sp>
        <p:nvSpPr>
          <p:cNvPr id="50" name="矩形 49">
            <a:extLst>
              <a:ext uri="{FF2B5EF4-FFF2-40B4-BE49-F238E27FC236}">
                <a16:creationId xmlns:a16="http://schemas.microsoft.com/office/drawing/2014/main" id="{1F13BCE6-883F-57FA-AEE8-3299E8D56356}"/>
              </a:ext>
            </a:extLst>
          </p:cNvPr>
          <p:cNvSpPr/>
          <p:nvPr/>
        </p:nvSpPr>
        <p:spPr>
          <a:xfrm>
            <a:off x="508000" y="5270500"/>
            <a:ext cx="11176000" cy="698500"/>
          </a:xfrm>
          <a:prstGeom prst="rect">
            <a:avLst/>
          </a:prstGeom>
          <a:solidFill>
            <a:srgbClr val="FDF2E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D8F74C4-B901-7226-E289-E1DEF6135F0D}"/>
              </a:ext>
            </a:extLst>
          </p:cNvPr>
          <p:cNvSpPr txBox="1"/>
          <p:nvPr/>
        </p:nvSpPr>
        <p:spPr>
          <a:xfrm>
            <a:off x="698500" y="5397500"/>
            <a:ext cx="1016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📋 结构性转变：出口从美国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(-20%)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转向全球南方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(BRI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占比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51.9%)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；房地产新开工较峰值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-75%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但拖累减弱。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1BE23C26-A999-6FEF-BE83-1E5FEB8D0422}"/>
              </a:ext>
            </a:extLst>
          </p:cNvPr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32231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91268240-D94A-5A57-C9E7-1D7398A2E01B}"/>
              </a:ext>
            </a:extLst>
          </p:cNvPr>
          <p:cNvSpPr txBox="1"/>
          <p:nvPr/>
        </p:nvSpPr>
        <p:spPr>
          <a:xfrm>
            <a:off x="508000" y="6540500"/>
            <a:ext cx="7620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800">
                <a:solidFill>
                  <a:srgbClr val="FFFFFF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sz="800">
                <a:solidFill>
                  <a:srgbClr val="FFFFFF"/>
                </a:solidFill>
                <a:latin typeface="Microsoft YaHei" panose="020B0503020204020204" pitchFamily="34" charset="-122"/>
              </a:rPr>
              <a:t>资本泡沫与全球经济走势分析 </a:t>
            </a:r>
            <a:r>
              <a:rPr lang="en-US" altLang="zh-CN" sz="800">
                <a:solidFill>
                  <a:srgbClr val="FFFFFF"/>
                </a:solidFill>
                <a:latin typeface="Microsoft YaHei" panose="020B0503020204020204" pitchFamily="34" charset="-122"/>
              </a:rPr>
              <a:t>| 2026</a:t>
            </a:r>
            <a:endParaRPr lang="zh-CN" altLang="en-US" sz="800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18856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5F47C44C-5D71-1C4A-F1A5-26F392FB939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E7ED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B8DA44-291D-5FBB-13BE-EE355BE6F31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77973D4-1CAD-08FC-F360-2DFE1983396D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F3962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62FD0A5-6277-BB02-29E9-98AC91256C42}"/>
              </a:ext>
            </a:extLst>
          </p:cNvPr>
          <p:cNvSpPr txBox="1"/>
          <p:nvPr/>
        </p:nvSpPr>
        <p:spPr>
          <a:xfrm>
            <a:off x="508000" y="317500"/>
            <a:ext cx="762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3600" b="1">
                <a:solidFill>
                  <a:srgbClr val="F39621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3600" b="1">
              <a:solidFill>
                <a:srgbClr val="F396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260167D-09FF-5C8B-1584-F20A8F15B9B3}"/>
              </a:ext>
            </a:extLst>
          </p:cNvPr>
          <p:cNvSpPr/>
          <p:nvPr/>
        </p:nvSpPr>
        <p:spPr>
          <a:xfrm>
            <a:off x="1270000" y="381000"/>
            <a:ext cx="25400" cy="381000"/>
          </a:xfrm>
          <a:prstGeom prst="rect">
            <a:avLst/>
          </a:prstGeom>
          <a:solidFill>
            <a:srgbClr val="F3962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E31EE45-51A6-5946-F136-4A362E051827}"/>
              </a:ext>
            </a:extLst>
          </p:cNvPr>
          <p:cNvSpPr txBox="1"/>
          <p:nvPr/>
        </p:nvSpPr>
        <p:spPr>
          <a:xfrm>
            <a:off x="1460500" y="317500"/>
            <a:ext cx="889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400" b="1">
                <a:solidFill>
                  <a:srgbClr val="212121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sz="2400" b="1">
                <a:solidFill>
                  <a:srgbClr val="212121"/>
                </a:solidFill>
                <a:latin typeface="Microsoft YaHei" panose="020B0503020204020204" pitchFamily="34" charset="-122"/>
              </a:rPr>
              <a:t>投资爆发式增长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7CC29AF-5E46-7C28-FC0A-B6346D8C7224}"/>
              </a:ext>
            </a:extLst>
          </p:cNvPr>
          <p:cNvSpPr txBox="1"/>
          <p:nvPr/>
        </p:nvSpPr>
        <p:spPr>
          <a:xfrm>
            <a:off x="1460500" y="787400"/>
            <a:ext cx="889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200">
                <a:solidFill>
                  <a:srgbClr val="757575"/>
                </a:solidFill>
                <a:latin typeface="Microsoft YaHei" panose="020B0503020204020204" pitchFamily="34" charset="-122"/>
              </a:rPr>
              <a:t>全球</a:t>
            </a:r>
            <a:r>
              <a:rPr lang="en-US" altLang="zh-CN" sz="1200">
                <a:solidFill>
                  <a:srgbClr val="757575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sz="1200">
                <a:solidFill>
                  <a:srgbClr val="757575"/>
                </a:solidFill>
                <a:latin typeface="Microsoft YaHei" panose="020B0503020204020204" pitchFamily="34" charset="-122"/>
              </a:rPr>
              <a:t>基础设施资本支出 </a:t>
            </a:r>
            <a:r>
              <a:rPr lang="en-US" altLang="zh-CN" sz="1200">
                <a:solidFill>
                  <a:srgbClr val="757575"/>
                </a:solidFill>
                <a:latin typeface="Microsoft YaHei" panose="020B0503020204020204" pitchFamily="34" charset="-122"/>
              </a:rPr>
              <a:t>| 2023-2029</a:t>
            </a:r>
            <a:endParaRPr lang="zh-CN" altLang="en-US" sz="1200">
              <a:solidFill>
                <a:srgbClr val="7575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69A1DFF-8BC4-54F3-4084-D6257FBE8373}"/>
              </a:ext>
            </a:extLst>
          </p:cNvPr>
          <p:cNvSpPr/>
          <p:nvPr/>
        </p:nvSpPr>
        <p:spPr>
          <a:xfrm>
            <a:off x="508000" y="1206500"/>
            <a:ext cx="11176000" cy="12700"/>
          </a:xfrm>
          <a:prstGeom prst="rect">
            <a:avLst/>
          </a:prstGeom>
          <a:solidFill>
            <a:srgbClr val="E0E0E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65BF21A-29EA-0B39-2AD3-7510F89253B1}"/>
              </a:ext>
            </a:extLst>
          </p:cNvPr>
          <p:cNvSpPr/>
          <p:nvPr/>
        </p:nvSpPr>
        <p:spPr>
          <a:xfrm>
            <a:off x="508000" y="1397000"/>
            <a:ext cx="3048000" cy="1397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prstShdw prst="shdw1" dist="35921" dir="2699995">
              <a:srgbClr val="CCCCCC">
                <a:alpha val="50000"/>
              </a:srgbClr>
            </a:prst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F7B7B50-C849-4C84-BB1C-4CCD31E0CF5A}"/>
              </a:ext>
            </a:extLst>
          </p:cNvPr>
          <p:cNvSpPr txBox="1"/>
          <p:nvPr/>
        </p:nvSpPr>
        <p:spPr>
          <a:xfrm>
            <a:off x="635000" y="1587500"/>
            <a:ext cx="2794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800" b="1">
                <a:solidFill>
                  <a:srgbClr val="F39621"/>
                </a:solidFill>
                <a:latin typeface="Microsoft YaHei" panose="020B0503020204020204" pitchFamily="34" charset="-122"/>
              </a:rPr>
              <a:t>$3180</a:t>
            </a:r>
            <a:r>
              <a:rPr lang="zh-CN" altLang="en-US" sz="2800" b="1">
                <a:solidFill>
                  <a:srgbClr val="F39621"/>
                </a:solidFill>
                <a:latin typeface="Microsoft YaHei" panose="020B0503020204020204" pitchFamily="34" charset="-122"/>
              </a:rPr>
              <a:t>亿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28B0D40-3F3A-A636-4806-B0844CE1EE2A}"/>
              </a:ext>
            </a:extLst>
          </p:cNvPr>
          <p:cNvSpPr txBox="1"/>
          <p:nvPr/>
        </p:nvSpPr>
        <p:spPr>
          <a:xfrm>
            <a:off x="635000" y="2222500"/>
            <a:ext cx="2794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2025</a:t>
            </a:r>
            <a:r>
              <a:rPr lang="zh-CN" altLang="en-US" sz="1100">
                <a:solidFill>
                  <a:srgbClr val="757575"/>
                </a:solidFill>
                <a:latin typeface="Microsoft YaHei" panose="020B0503020204020204" pitchFamily="34" charset="-122"/>
              </a:rPr>
              <a:t>全球</a:t>
            </a:r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sz="1100">
                <a:solidFill>
                  <a:srgbClr val="757575"/>
                </a:solidFill>
                <a:latin typeface="Microsoft YaHei" panose="020B0503020204020204" pitchFamily="34" charset="-122"/>
              </a:rPr>
              <a:t>基建支出
</a:t>
            </a:r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(+108% YoY, IDC)</a:t>
            </a:r>
            <a:endParaRPr lang="zh-CN" altLang="en-US" sz="1100">
              <a:solidFill>
                <a:srgbClr val="7575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36823CF-EA46-B457-D654-B2649C902E0C}"/>
              </a:ext>
            </a:extLst>
          </p:cNvPr>
          <p:cNvSpPr/>
          <p:nvPr/>
        </p:nvSpPr>
        <p:spPr>
          <a:xfrm>
            <a:off x="3810000" y="1397000"/>
            <a:ext cx="3048000" cy="1397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prstShdw prst="shdw1" dist="35921" dir="2699995">
              <a:srgbClr val="CCCCCC">
                <a:alpha val="50000"/>
              </a:srgbClr>
            </a:prst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7076723-E21B-D5EF-5169-7056AE3B8C54}"/>
              </a:ext>
            </a:extLst>
          </p:cNvPr>
          <p:cNvSpPr txBox="1"/>
          <p:nvPr/>
        </p:nvSpPr>
        <p:spPr>
          <a:xfrm>
            <a:off x="3937000" y="1587500"/>
            <a:ext cx="2794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800" b="1">
                <a:solidFill>
                  <a:srgbClr val="B0279C"/>
                </a:solidFill>
                <a:latin typeface="Microsoft YaHei" panose="020B0503020204020204" pitchFamily="34" charset="-122"/>
              </a:rPr>
              <a:t>$5270</a:t>
            </a:r>
            <a:r>
              <a:rPr lang="zh-CN" altLang="en-US" sz="2800" b="1">
                <a:solidFill>
                  <a:srgbClr val="B0279C"/>
                </a:solidFill>
                <a:latin typeface="Microsoft YaHei" panose="020B0503020204020204" pitchFamily="34" charset="-122"/>
              </a:rPr>
              <a:t>亿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2C182D5-BE01-60BD-4F8B-9A4D51F825C3}"/>
              </a:ext>
            </a:extLst>
          </p:cNvPr>
          <p:cNvSpPr txBox="1"/>
          <p:nvPr/>
        </p:nvSpPr>
        <p:spPr>
          <a:xfrm>
            <a:off x="3937000" y="2222500"/>
            <a:ext cx="2794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2026</a:t>
            </a:r>
            <a:r>
              <a:rPr lang="zh-CN" altLang="en-US" sz="1100">
                <a:solidFill>
                  <a:srgbClr val="757575"/>
                </a:solidFill>
                <a:latin typeface="Microsoft YaHei" panose="020B0503020204020204" pitchFamily="34" charset="-122"/>
              </a:rPr>
              <a:t>科技巨头</a:t>
            </a:r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Capex</a:t>
            </a:r>
            <a:r>
              <a:rPr lang="zh-CN" altLang="en-US" sz="1100">
                <a:solidFill>
                  <a:srgbClr val="757575"/>
                </a:solidFill>
                <a:latin typeface="Microsoft YaHei" panose="020B0503020204020204" pitchFamily="34" charset="-122"/>
              </a:rPr>
              <a:t>预测
</a:t>
            </a:r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(Goldman Sachs)</a:t>
            </a:r>
            <a:endParaRPr lang="zh-CN" altLang="en-US" sz="1100">
              <a:solidFill>
                <a:srgbClr val="7575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4408338-D5FA-0ED8-9C0C-E1576F430398}"/>
              </a:ext>
            </a:extLst>
          </p:cNvPr>
          <p:cNvSpPr txBox="1"/>
          <p:nvPr/>
        </p:nvSpPr>
        <p:spPr>
          <a:xfrm>
            <a:off x="7366000" y="1397000"/>
            <a:ext cx="4445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 b="1">
                <a:solidFill>
                  <a:srgbClr val="212121"/>
                </a:solidFill>
                <a:latin typeface="Microsoft YaHei" panose="020B0503020204020204" pitchFamily="34" charset="-122"/>
              </a:rPr>
              <a:t>▎科技巨头</a:t>
            </a:r>
            <a:r>
              <a:rPr lang="en-US" altLang="zh-CN" sz="1300" b="1">
                <a:solidFill>
                  <a:srgbClr val="212121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sz="1300" b="1">
                <a:solidFill>
                  <a:srgbClr val="212121"/>
                </a:solidFill>
                <a:latin typeface="Microsoft YaHei" panose="020B0503020204020204" pitchFamily="34" charset="-122"/>
              </a:rPr>
              <a:t>资本支出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9962879-99C0-E8A6-77CC-52C31A8600C7}"/>
              </a:ext>
            </a:extLst>
          </p:cNvPr>
          <p:cNvSpPr txBox="1"/>
          <p:nvPr/>
        </p:nvSpPr>
        <p:spPr>
          <a:xfrm>
            <a:off x="7493000" y="1841500"/>
            <a:ext cx="2286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四巨头合计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(2025)</a:t>
            </a:r>
            <a:endParaRPr lang="zh-CN" altLang="en-US" sz="1000">
              <a:solidFill>
                <a:srgbClr val="2121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9016AAF-0971-A1D0-B081-5D01948773B6}"/>
              </a:ext>
            </a:extLst>
          </p:cNvPr>
          <p:cNvSpPr txBox="1"/>
          <p:nvPr/>
        </p:nvSpPr>
        <p:spPr>
          <a:xfrm>
            <a:off x="9906000" y="1841500"/>
            <a:ext cx="1524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000" b="1">
                <a:solidFill>
                  <a:srgbClr val="F39621"/>
                </a:solidFill>
                <a:latin typeface="Microsoft YaHei" panose="020B0503020204020204" pitchFamily="34" charset="-122"/>
              </a:rPr>
              <a:t>~$4000</a:t>
            </a:r>
            <a:r>
              <a:rPr lang="zh-CN" altLang="en-US" sz="1000" b="1">
                <a:solidFill>
                  <a:srgbClr val="F39621"/>
                </a:solidFill>
                <a:latin typeface="Microsoft YaHei" panose="020B0503020204020204" pitchFamily="34" charset="-122"/>
              </a:rPr>
              <a:t>亿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ED4C2E6-F004-BC1E-DEFE-3C79E7DD825D}"/>
              </a:ext>
            </a:extLst>
          </p:cNvPr>
          <p:cNvSpPr txBox="1"/>
          <p:nvPr/>
        </p:nvSpPr>
        <p:spPr>
          <a:xfrm>
            <a:off x="7493000" y="2120900"/>
            <a:ext cx="2286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四巨头合计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(2026E)</a:t>
            </a:r>
            <a:endParaRPr lang="zh-CN" altLang="en-US" sz="1000">
              <a:solidFill>
                <a:srgbClr val="2121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FC1317E-91C1-763E-816D-E77890F7EDC4}"/>
              </a:ext>
            </a:extLst>
          </p:cNvPr>
          <p:cNvSpPr txBox="1"/>
          <p:nvPr/>
        </p:nvSpPr>
        <p:spPr>
          <a:xfrm>
            <a:off x="9906000" y="2120900"/>
            <a:ext cx="1524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000" b="1">
                <a:solidFill>
                  <a:srgbClr val="F39621"/>
                </a:solidFill>
                <a:latin typeface="Microsoft YaHei" panose="020B0503020204020204" pitchFamily="34" charset="-122"/>
              </a:rPr>
              <a:t>~$5270</a:t>
            </a:r>
            <a:r>
              <a:rPr lang="zh-CN" altLang="en-US" sz="1000" b="1">
                <a:solidFill>
                  <a:srgbClr val="F39621"/>
                </a:solidFill>
                <a:latin typeface="Microsoft YaHei" panose="020B0503020204020204" pitchFamily="34" charset="-122"/>
              </a:rPr>
              <a:t>亿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ABE9621-B99D-A24E-0FA9-8F321D2309D3}"/>
              </a:ext>
            </a:extLst>
          </p:cNvPr>
          <p:cNvSpPr txBox="1"/>
          <p:nvPr/>
        </p:nvSpPr>
        <p:spPr>
          <a:xfrm>
            <a:off x="7493000" y="2400300"/>
            <a:ext cx="2286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Meta (2026E)</a:t>
            </a:r>
            <a:endParaRPr lang="zh-CN" altLang="en-US" sz="1000">
              <a:solidFill>
                <a:srgbClr val="2121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C0B6007-6328-85D3-B73C-C0EFA63D0A8A}"/>
              </a:ext>
            </a:extLst>
          </p:cNvPr>
          <p:cNvSpPr txBox="1"/>
          <p:nvPr/>
        </p:nvSpPr>
        <p:spPr>
          <a:xfrm>
            <a:off x="9906000" y="2400300"/>
            <a:ext cx="1524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000" b="1">
                <a:solidFill>
                  <a:srgbClr val="F39621"/>
                </a:solidFill>
                <a:latin typeface="Microsoft YaHei" panose="020B0503020204020204" pitchFamily="34" charset="-122"/>
              </a:rPr>
              <a:t>&gt;$1250</a:t>
            </a:r>
            <a:r>
              <a:rPr lang="zh-CN" altLang="en-US" sz="1000" b="1">
                <a:solidFill>
                  <a:srgbClr val="F39621"/>
                </a:solidFill>
                <a:latin typeface="Microsoft YaHei" panose="020B0503020204020204" pitchFamily="34" charset="-122"/>
              </a:rPr>
              <a:t>亿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CF0FCD0-20A7-0BAF-FD76-F2BB22FB76CF}"/>
              </a:ext>
            </a:extLst>
          </p:cNvPr>
          <p:cNvSpPr txBox="1"/>
          <p:nvPr/>
        </p:nvSpPr>
        <p:spPr>
          <a:xfrm>
            <a:off x="7493000" y="2679700"/>
            <a:ext cx="2286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美国占全球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基建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E2E8AA2-E8D5-922D-DC1A-8DA8A3B52ED6}"/>
              </a:ext>
            </a:extLst>
          </p:cNvPr>
          <p:cNvSpPr txBox="1"/>
          <p:nvPr/>
        </p:nvSpPr>
        <p:spPr>
          <a:xfrm>
            <a:off x="9906000" y="2679700"/>
            <a:ext cx="1524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000" b="1">
                <a:solidFill>
                  <a:srgbClr val="F39621"/>
                </a:solidFill>
                <a:latin typeface="Microsoft YaHei" panose="020B0503020204020204" pitchFamily="34" charset="-122"/>
              </a:rPr>
              <a:t>77%</a:t>
            </a:r>
            <a:endParaRPr lang="zh-CN" altLang="en-US" sz="1000" b="1">
              <a:solidFill>
                <a:srgbClr val="F396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5597250-44C0-C7BF-14EB-164BF07673F5}"/>
              </a:ext>
            </a:extLst>
          </p:cNvPr>
          <p:cNvSpPr txBox="1"/>
          <p:nvPr/>
        </p:nvSpPr>
        <p:spPr>
          <a:xfrm>
            <a:off x="7493000" y="2959100"/>
            <a:ext cx="2286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中东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基建增速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2E168DF-0AB4-8424-0B23-B7AE768B4EB6}"/>
              </a:ext>
            </a:extLst>
          </p:cNvPr>
          <p:cNvSpPr txBox="1"/>
          <p:nvPr/>
        </p:nvSpPr>
        <p:spPr>
          <a:xfrm>
            <a:off x="9906000" y="2959100"/>
            <a:ext cx="1524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000" b="1">
                <a:solidFill>
                  <a:srgbClr val="F39621"/>
                </a:solidFill>
                <a:latin typeface="Microsoft YaHei" panose="020B0503020204020204" pitchFamily="34" charset="-122"/>
              </a:rPr>
              <a:t>&gt;500% YoY</a:t>
            </a:r>
            <a:endParaRPr lang="zh-CN" altLang="en-US" sz="1000" b="1">
              <a:solidFill>
                <a:srgbClr val="F396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5835E7D-CB90-1073-8252-227950548E34}"/>
              </a:ext>
            </a:extLst>
          </p:cNvPr>
          <p:cNvSpPr txBox="1"/>
          <p:nvPr/>
        </p:nvSpPr>
        <p:spPr>
          <a:xfrm>
            <a:off x="508000" y="3111500"/>
            <a:ext cx="6350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 b="1">
                <a:solidFill>
                  <a:srgbClr val="212121"/>
                </a:solidFill>
                <a:latin typeface="Microsoft YaHei" panose="020B0503020204020204" pitchFamily="34" charset="-122"/>
              </a:rPr>
              <a:t>▎</a:t>
            </a:r>
            <a:r>
              <a:rPr lang="en-US" altLang="zh-CN" sz="1300" b="1">
                <a:solidFill>
                  <a:srgbClr val="212121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sz="1300" b="1">
                <a:solidFill>
                  <a:srgbClr val="212121"/>
                </a:solidFill>
                <a:latin typeface="Microsoft YaHei" panose="020B0503020204020204" pitchFamily="34" charset="-122"/>
              </a:rPr>
              <a:t>基建投资规模演变（十亿美元）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EE3A6FF-D980-2FC6-25C6-A70FD5693759}"/>
              </a:ext>
            </a:extLst>
          </p:cNvPr>
          <p:cNvSpPr/>
          <p:nvPr/>
        </p:nvSpPr>
        <p:spPr>
          <a:xfrm>
            <a:off x="635000" y="4965700"/>
            <a:ext cx="762000" cy="114300"/>
          </a:xfrm>
          <a:prstGeom prst="rect">
            <a:avLst/>
          </a:prstGeom>
          <a:solidFill>
            <a:srgbClr val="F9CA90"/>
          </a:solidFill>
          <a:ln w="12700" cap="flat" cmpd="sng" algn="ctr">
            <a:noFill/>
            <a:prstDash val="solid"/>
            <a:miter lim="800000"/>
          </a:ln>
          <a:effectLst>
            <a:outerShdw blurRad="50800" dist="37357" dir="2700000" rotWithShape="0">
              <a:scrgbClr r="0" g="0" b="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AE00B8A-5817-91A9-D040-0E6BB925240E}"/>
              </a:ext>
            </a:extLst>
          </p:cNvPr>
          <p:cNvSpPr txBox="1"/>
          <p:nvPr/>
        </p:nvSpPr>
        <p:spPr>
          <a:xfrm>
            <a:off x="635000" y="4711700"/>
            <a:ext cx="762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100" b="1">
                <a:solidFill>
                  <a:srgbClr val="212121"/>
                </a:solidFill>
                <a:latin typeface="Microsoft YaHei" panose="020B0503020204020204" pitchFamily="34" charset="-122"/>
              </a:rPr>
              <a:t>$80B</a:t>
            </a:r>
            <a:endParaRPr lang="zh-CN" altLang="en-US" sz="1100" b="1">
              <a:solidFill>
                <a:srgbClr val="2121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46B0662-EC84-212B-4053-209C6A0C4709}"/>
              </a:ext>
            </a:extLst>
          </p:cNvPr>
          <p:cNvSpPr txBox="1"/>
          <p:nvPr/>
        </p:nvSpPr>
        <p:spPr>
          <a:xfrm>
            <a:off x="635000" y="5143500"/>
            <a:ext cx="76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2023</a:t>
            </a:r>
            <a:endParaRPr lang="zh-CN" altLang="en-US" sz="1000">
              <a:solidFill>
                <a:srgbClr val="7575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CB27826-50F5-0985-2B66-FDF1558F9000}"/>
              </a:ext>
            </a:extLst>
          </p:cNvPr>
          <p:cNvSpPr/>
          <p:nvPr/>
        </p:nvSpPr>
        <p:spPr>
          <a:xfrm>
            <a:off x="1905000" y="4851400"/>
            <a:ext cx="762000" cy="228600"/>
          </a:xfrm>
          <a:prstGeom prst="rect">
            <a:avLst/>
          </a:prstGeom>
          <a:solidFill>
            <a:srgbClr val="F6B564"/>
          </a:solidFill>
          <a:ln w="12700" cap="flat" cmpd="sng" algn="ctr">
            <a:noFill/>
            <a:prstDash val="solid"/>
            <a:miter lim="800000"/>
          </a:ln>
          <a:effectLst>
            <a:outerShdw blurRad="50800" dist="37357" dir="2700000" rotWithShape="0">
              <a:scrgbClr r="0" g="0" b="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87929A9-3818-28D6-9176-D4359A6BBE0A}"/>
              </a:ext>
            </a:extLst>
          </p:cNvPr>
          <p:cNvSpPr txBox="1"/>
          <p:nvPr/>
        </p:nvSpPr>
        <p:spPr>
          <a:xfrm>
            <a:off x="1905000" y="4597400"/>
            <a:ext cx="762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100" b="1">
                <a:solidFill>
                  <a:srgbClr val="212121"/>
                </a:solidFill>
                <a:latin typeface="Microsoft YaHei" panose="020B0503020204020204" pitchFamily="34" charset="-122"/>
              </a:rPr>
              <a:t>$153B</a:t>
            </a:r>
            <a:endParaRPr lang="zh-CN" altLang="en-US" sz="1100" b="1">
              <a:solidFill>
                <a:srgbClr val="2121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8B8F457-74F3-9947-3D73-B6212D3C1ABF}"/>
              </a:ext>
            </a:extLst>
          </p:cNvPr>
          <p:cNvSpPr txBox="1"/>
          <p:nvPr/>
        </p:nvSpPr>
        <p:spPr>
          <a:xfrm>
            <a:off x="1905000" y="5143500"/>
            <a:ext cx="76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2024</a:t>
            </a:r>
            <a:endParaRPr lang="zh-CN" altLang="en-US" sz="1000">
              <a:solidFill>
                <a:srgbClr val="7575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5F87684-D11E-3EAB-511F-447D4CB3E529}"/>
              </a:ext>
            </a:extLst>
          </p:cNvPr>
          <p:cNvSpPr/>
          <p:nvPr/>
        </p:nvSpPr>
        <p:spPr>
          <a:xfrm>
            <a:off x="3175000" y="4597400"/>
            <a:ext cx="762000" cy="482600"/>
          </a:xfrm>
          <a:prstGeom prst="rect">
            <a:avLst/>
          </a:prstGeom>
          <a:solidFill>
            <a:srgbClr val="F5A542"/>
          </a:solidFill>
          <a:ln w="12700" cap="flat" cmpd="sng" algn="ctr">
            <a:noFill/>
            <a:prstDash val="solid"/>
            <a:miter lim="800000"/>
          </a:ln>
          <a:effectLst>
            <a:outerShdw blurRad="50800" dist="37357" dir="2700000" rotWithShape="0">
              <a:scrgbClr r="0" g="0" b="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E5A582AE-0428-9445-8D1D-54DD52E73490}"/>
              </a:ext>
            </a:extLst>
          </p:cNvPr>
          <p:cNvSpPr txBox="1"/>
          <p:nvPr/>
        </p:nvSpPr>
        <p:spPr>
          <a:xfrm>
            <a:off x="3175000" y="4343400"/>
            <a:ext cx="762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100" b="1">
                <a:solidFill>
                  <a:srgbClr val="212121"/>
                </a:solidFill>
                <a:latin typeface="Microsoft YaHei" panose="020B0503020204020204" pitchFamily="34" charset="-122"/>
              </a:rPr>
              <a:t>$318B</a:t>
            </a:r>
            <a:endParaRPr lang="zh-CN" altLang="en-US" sz="1100" b="1">
              <a:solidFill>
                <a:srgbClr val="2121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8E8FDB9-8672-EA0A-E183-487CD7356F98}"/>
              </a:ext>
            </a:extLst>
          </p:cNvPr>
          <p:cNvSpPr txBox="1"/>
          <p:nvPr/>
        </p:nvSpPr>
        <p:spPr>
          <a:xfrm>
            <a:off x="3175000" y="5143500"/>
            <a:ext cx="76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2025</a:t>
            </a:r>
            <a:endParaRPr lang="zh-CN" altLang="en-US" sz="1000">
              <a:solidFill>
                <a:srgbClr val="7575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151AA54-0F70-C469-313D-90AA9AF13750}"/>
              </a:ext>
            </a:extLst>
          </p:cNvPr>
          <p:cNvSpPr/>
          <p:nvPr/>
        </p:nvSpPr>
        <p:spPr>
          <a:xfrm>
            <a:off x="4445000" y="4279900"/>
            <a:ext cx="762000" cy="800100"/>
          </a:xfrm>
          <a:prstGeom prst="rect">
            <a:avLst/>
          </a:prstGeom>
          <a:solidFill>
            <a:srgbClr val="F39621"/>
          </a:solidFill>
          <a:ln w="12700" cap="flat" cmpd="sng" algn="ctr">
            <a:noFill/>
            <a:prstDash val="solid"/>
            <a:miter lim="800000"/>
          </a:ln>
          <a:effectLst>
            <a:outerShdw blurRad="50800" dist="37357" dir="2700000" rotWithShape="0">
              <a:scrgbClr r="0" g="0" b="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6FFB4FB4-FBF2-9A25-4FFD-05504A3D88DF}"/>
              </a:ext>
            </a:extLst>
          </p:cNvPr>
          <p:cNvSpPr txBox="1"/>
          <p:nvPr/>
        </p:nvSpPr>
        <p:spPr>
          <a:xfrm>
            <a:off x="4445000" y="4025900"/>
            <a:ext cx="762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100" b="1">
                <a:solidFill>
                  <a:srgbClr val="212121"/>
                </a:solidFill>
                <a:latin typeface="Microsoft YaHei" panose="020B0503020204020204" pitchFamily="34" charset="-122"/>
              </a:rPr>
              <a:t>$527B</a:t>
            </a:r>
            <a:endParaRPr lang="zh-CN" altLang="en-US" sz="1100" b="1">
              <a:solidFill>
                <a:srgbClr val="2121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8BCBF559-4BD6-1DD4-6E44-56AEC9229D5A}"/>
              </a:ext>
            </a:extLst>
          </p:cNvPr>
          <p:cNvSpPr txBox="1"/>
          <p:nvPr/>
        </p:nvSpPr>
        <p:spPr>
          <a:xfrm>
            <a:off x="4445000" y="5143500"/>
            <a:ext cx="76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2026E</a:t>
            </a:r>
            <a:endParaRPr lang="zh-CN" altLang="en-US" sz="1000">
              <a:solidFill>
                <a:srgbClr val="7575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A9CD154-B75C-3645-9CE3-F04C46343100}"/>
              </a:ext>
            </a:extLst>
          </p:cNvPr>
          <p:cNvSpPr/>
          <p:nvPr/>
        </p:nvSpPr>
        <p:spPr>
          <a:xfrm>
            <a:off x="5715000" y="3556000"/>
            <a:ext cx="762000" cy="1524000"/>
          </a:xfrm>
          <a:prstGeom prst="rect">
            <a:avLst/>
          </a:prstGeom>
          <a:solidFill>
            <a:srgbClr val="C06515"/>
          </a:solidFill>
          <a:ln w="12700" cap="flat" cmpd="sng" algn="ctr">
            <a:noFill/>
            <a:prstDash val="solid"/>
            <a:miter lim="800000"/>
          </a:ln>
          <a:effectLst>
            <a:outerShdw blurRad="50800" dist="37357" dir="2700000" rotWithShape="0">
              <a:scrgbClr r="0" g="0" b="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0C18583C-667F-BE09-0398-0C67331EE0F6}"/>
              </a:ext>
            </a:extLst>
          </p:cNvPr>
          <p:cNvSpPr txBox="1"/>
          <p:nvPr/>
        </p:nvSpPr>
        <p:spPr>
          <a:xfrm>
            <a:off x="5715000" y="3302000"/>
            <a:ext cx="762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100" b="1">
                <a:solidFill>
                  <a:srgbClr val="212121"/>
                </a:solidFill>
                <a:latin typeface="Microsoft YaHei" panose="020B0503020204020204" pitchFamily="34" charset="-122"/>
              </a:rPr>
              <a:t>$1000B</a:t>
            </a:r>
            <a:endParaRPr lang="zh-CN" altLang="en-US" sz="1100" b="1">
              <a:solidFill>
                <a:srgbClr val="2121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3A27DC1-DAF4-B8C5-1208-EEFBC4E7DA99}"/>
              </a:ext>
            </a:extLst>
          </p:cNvPr>
          <p:cNvSpPr txBox="1"/>
          <p:nvPr/>
        </p:nvSpPr>
        <p:spPr>
          <a:xfrm>
            <a:off x="5715000" y="5143500"/>
            <a:ext cx="76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2029E</a:t>
            </a:r>
            <a:endParaRPr lang="zh-CN" altLang="en-US" sz="1000">
              <a:solidFill>
                <a:srgbClr val="757575"/>
              </a:solidFill>
              <a:latin typeface="Microsoft YaHei" panose="020B0503020204020204" pitchFamily="34" charset="-122"/>
            </a:endParaRPr>
          </a:p>
        </p:txBody>
      </p:sp>
      <p:pic>
        <p:nvPicPr>
          <p:cNvPr id="44" name="图片 43">
            <a:extLst>
              <a:ext uri="{FF2B5EF4-FFF2-40B4-BE49-F238E27FC236}">
                <a16:creationId xmlns:a16="http://schemas.microsoft.com/office/drawing/2014/main" id="{99280807-26BA-E8FC-8F88-111C74EA1E5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0" y="3492500"/>
            <a:ext cx="2540000" cy="1778000"/>
          </a:xfrm>
          <a:prstGeom prst="rect">
            <a:avLst/>
          </a:prstGeom>
          <a:effectLst>
            <a:outerShdw blurRad="101600" dist="37357" dir="2700000" rotWithShape="0">
              <a:scrgbClr r="0" g="0" b="0"/>
            </a:outerShdw>
          </a:effectLst>
        </p:spPr>
      </p:pic>
      <p:sp>
        <p:nvSpPr>
          <p:cNvPr id="45" name="矩形 44">
            <a:extLst>
              <a:ext uri="{FF2B5EF4-FFF2-40B4-BE49-F238E27FC236}">
                <a16:creationId xmlns:a16="http://schemas.microsoft.com/office/drawing/2014/main" id="{1CB9D90A-CBCA-3047-C58B-D97AD1B17152}"/>
              </a:ext>
            </a:extLst>
          </p:cNvPr>
          <p:cNvSpPr/>
          <p:nvPr/>
        </p:nvSpPr>
        <p:spPr>
          <a:xfrm>
            <a:off x="10033000" y="3492500"/>
            <a:ext cx="1905000" cy="2540000"/>
          </a:xfrm>
          <a:prstGeom prst="rect">
            <a:avLst/>
          </a:prstGeom>
          <a:solidFill>
            <a:srgbClr val="FDF2E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B4653524-FAA9-84AB-7A1F-E6E307ABEECD}"/>
              </a:ext>
            </a:extLst>
          </p:cNvPr>
          <p:cNvSpPr txBox="1"/>
          <p:nvPr/>
        </p:nvSpPr>
        <p:spPr>
          <a:xfrm>
            <a:off x="10160000" y="3619500"/>
            <a:ext cx="1651000" cy="10618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00">
                <a:solidFill>
                  <a:srgbClr val="212121"/>
                </a:solidFill>
                <a:latin typeface="Microsoft YaHei" panose="020B0503020204020204" pitchFamily="34" charset="-122"/>
              </a:rPr>
              <a:t>中国</a:t>
            </a:r>
            <a:r>
              <a:rPr lang="en-US" altLang="zh-CN" sz="900">
                <a:solidFill>
                  <a:srgbClr val="212121"/>
                </a:solidFill>
                <a:latin typeface="Microsoft YaHei" panose="020B0503020204020204" pitchFamily="34" charset="-122"/>
              </a:rPr>
              <a:t>AI
</a:t>
            </a:r>
            <a:r>
              <a:rPr lang="zh-CN" altLang="en-US" sz="900">
                <a:solidFill>
                  <a:srgbClr val="212121"/>
                </a:solidFill>
                <a:latin typeface="Microsoft YaHei" panose="020B0503020204020204" pitchFamily="34" charset="-122"/>
              </a:rPr>
              <a:t>产业数据
</a:t>
            </a:r>
            <a:r>
              <a:rPr lang="en-US" altLang="zh-CN" sz="900">
                <a:solidFill>
                  <a:srgbClr val="212121"/>
                </a:solidFill>
                <a:latin typeface="Microsoft YaHei" panose="020B0503020204020204" pitchFamily="34" charset="-122"/>
              </a:rPr>
              <a:t>¥1.2</a:t>
            </a:r>
            <a:r>
              <a:rPr lang="zh-CN" altLang="en-US" sz="900">
                <a:solidFill>
                  <a:srgbClr val="212121"/>
                </a:solidFill>
                <a:latin typeface="Microsoft YaHei" panose="020B0503020204020204" pitchFamily="34" charset="-122"/>
              </a:rPr>
              <a:t>万亿
</a:t>
            </a:r>
            <a:r>
              <a:rPr lang="en-US" altLang="zh-CN" sz="900">
                <a:solidFill>
                  <a:srgbClr val="212121"/>
                </a:solidFill>
                <a:latin typeface="Microsoft YaHei" panose="020B0503020204020204" pitchFamily="34" charset="-122"/>
              </a:rPr>
              <a:t>6200+</a:t>
            </a:r>
            <a:r>
              <a:rPr lang="zh-CN" altLang="en-US" sz="900">
                <a:solidFill>
                  <a:srgbClr val="212121"/>
                </a:solidFill>
                <a:latin typeface="Microsoft YaHei" panose="020B0503020204020204" pitchFamily="34" charset="-122"/>
              </a:rPr>
              <a:t>企业
</a:t>
            </a:r>
            <a:r>
              <a:rPr lang="en-US" altLang="zh-CN" sz="900">
                <a:solidFill>
                  <a:srgbClr val="212121"/>
                </a:solidFill>
                <a:latin typeface="Microsoft YaHei" panose="020B0503020204020204" pitchFamily="34" charset="-122"/>
              </a:rPr>
              <a:t>6.02</a:t>
            </a:r>
            <a:r>
              <a:rPr lang="zh-CN" altLang="en-US" sz="900">
                <a:solidFill>
                  <a:srgbClr val="212121"/>
                </a:solidFill>
                <a:latin typeface="Microsoft YaHei" panose="020B0503020204020204" pitchFamily="34" charset="-122"/>
              </a:rPr>
              <a:t>亿用户
</a:t>
            </a:r>
            <a:r>
              <a:rPr lang="en-US" altLang="zh-CN" sz="900">
                <a:solidFill>
                  <a:srgbClr val="212121"/>
                </a:solidFill>
                <a:latin typeface="Microsoft YaHei" panose="020B0503020204020204" pitchFamily="34" charset="-122"/>
              </a:rPr>
              <a:t>&gt;30%</a:t>
            </a:r>
            <a:r>
              <a:rPr lang="zh-CN" altLang="en-US" sz="900">
                <a:solidFill>
                  <a:srgbClr val="212121"/>
                </a:solidFill>
                <a:latin typeface="Microsoft YaHei" panose="020B0503020204020204" pitchFamily="34" charset="-122"/>
              </a:rPr>
              <a:t>制造使用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5B118CFB-BC26-CB4D-DF6E-62CD5D7C1AA2}"/>
              </a:ext>
            </a:extLst>
          </p:cNvPr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32231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739DC429-E874-6F1D-041E-CDB0DB5DE642}"/>
              </a:ext>
            </a:extLst>
          </p:cNvPr>
          <p:cNvSpPr txBox="1"/>
          <p:nvPr/>
        </p:nvSpPr>
        <p:spPr>
          <a:xfrm>
            <a:off x="508000" y="6540500"/>
            <a:ext cx="7620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800">
                <a:solidFill>
                  <a:srgbClr val="FFFFFF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sz="800">
                <a:solidFill>
                  <a:srgbClr val="FFFFFF"/>
                </a:solidFill>
                <a:latin typeface="Microsoft YaHei" panose="020B0503020204020204" pitchFamily="34" charset="-122"/>
              </a:rPr>
              <a:t>资本泡沫与全球经济走势分析 </a:t>
            </a:r>
            <a:r>
              <a:rPr lang="en-US" altLang="zh-CN" sz="800">
                <a:solidFill>
                  <a:srgbClr val="FFFFFF"/>
                </a:solidFill>
                <a:latin typeface="Microsoft YaHei" panose="020B0503020204020204" pitchFamily="34" charset="-122"/>
              </a:rPr>
              <a:t>| 2026</a:t>
            </a:r>
            <a:endParaRPr lang="zh-CN" altLang="en-US" sz="800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66975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E91F34AF-FEDE-C1FB-7739-2DC649A6AD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0F3FF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2FEFEF7-597B-A461-9206-54E71EA70D9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F4D2CD9-ABA1-FB18-7E34-61C47C64F6A3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F3962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110101E-24E4-3A6D-D397-9DCE9F81C4D5}"/>
              </a:ext>
            </a:extLst>
          </p:cNvPr>
          <p:cNvSpPr txBox="1"/>
          <p:nvPr/>
        </p:nvSpPr>
        <p:spPr>
          <a:xfrm>
            <a:off x="508000" y="317500"/>
            <a:ext cx="762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3600" b="1">
                <a:solidFill>
                  <a:srgbClr val="F39621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3600" b="1">
              <a:solidFill>
                <a:srgbClr val="F396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E239B6-44CC-DA34-1F2F-3AD5DBA15A67}"/>
              </a:ext>
            </a:extLst>
          </p:cNvPr>
          <p:cNvSpPr/>
          <p:nvPr/>
        </p:nvSpPr>
        <p:spPr>
          <a:xfrm>
            <a:off x="1270000" y="381000"/>
            <a:ext cx="25400" cy="381000"/>
          </a:xfrm>
          <a:prstGeom prst="rect">
            <a:avLst/>
          </a:prstGeom>
          <a:solidFill>
            <a:srgbClr val="F3962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96E8C09-8CE2-22F3-3FB2-C3D2E3502D28}"/>
              </a:ext>
            </a:extLst>
          </p:cNvPr>
          <p:cNvSpPr txBox="1"/>
          <p:nvPr/>
        </p:nvSpPr>
        <p:spPr>
          <a:xfrm>
            <a:off x="1460500" y="317500"/>
            <a:ext cx="889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400" b="1">
                <a:solidFill>
                  <a:srgbClr val="212121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sz="2400" b="1">
                <a:solidFill>
                  <a:srgbClr val="212121"/>
                </a:solidFill>
                <a:latin typeface="Microsoft YaHei" panose="020B0503020204020204" pitchFamily="34" charset="-122"/>
              </a:rPr>
              <a:t>资本泡沫风险分析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9A573E3-C6D3-7B5D-69C1-BDB8DC350F89}"/>
              </a:ext>
            </a:extLst>
          </p:cNvPr>
          <p:cNvSpPr txBox="1"/>
          <p:nvPr/>
        </p:nvSpPr>
        <p:spPr>
          <a:xfrm>
            <a:off x="1460500" y="787400"/>
            <a:ext cx="889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200">
                <a:solidFill>
                  <a:srgbClr val="757575"/>
                </a:solidFill>
                <a:latin typeface="Microsoft YaHei" panose="020B0503020204020204" pitchFamily="34" charset="-122"/>
              </a:rPr>
              <a:t>历史对比 </a:t>
            </a:r>
            <a:r>
              <a:rPr lang="en-US" altLang="zh-CN" sz="1200">
                <a:solidFill>
                  <a:srgbClr val="757575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757575"/>
                </a:solidFill>
                <a:latin typeface="Microsoft YaHei" panose="020B0503020204020204" pitchFamily="34" charset="-122"/>
              </a:rPr>
              <a:t>估值泡沫 </a:t>
            </a:r>
            <a:r>
              <a:rPr lang="en-US" altLang="zh-CN" sz="1200">
                <a:solidFill>
                  <a:srgbClr val="757575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757575"/>
                </a:solidFill>
                <a:latin typeface="Microsoft YaHei" panose="020B0503020204020204" pitchFamily="34" charset="-122"/>
              </a:rPr>
              <a:t>风险信号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1C62164-DFB7-3C56-7BBF-D50297F521F9}"/>
              </a:ext>
            </a:extLst>
          </p:cNvPr>
          <p:cNvSpPr/>
          <p:nvPr/>
        </p:nvSpPr>
        <p:spPr>
          <a:xfrm>
            <a:off x="508000" y="1206500"/>
            <a:ext cx="11176000" cy="12700"/>
          </a:xfrm>
          <a:prstGeom prst="rect">
            <a:avLst/>
          </a:prstGeom>
          <a:solidFill>
            <a:srgbClr val="E0E0E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95AF90B-6338-437B-9C1D-8CB332786D59}"/>
              </a:ext>
            </a:extLst>
          </p:cNvPr>
          <p:cNvSpPr txBox="1"/>
          <p:nvPr/>
        </p:nvSpPr>
        <p:spPr>
          <a:xfrm>
            <a:off x="508000" y="1397000"/>
            <a:ext cx="6350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 b="1">
                <a:solidFill>
                  <a:srgbClr val="212121"/>
                </a:solidFill>
                <a:latin typeface="Microsoft YaHei" panose="020B0503020204020204" pitchFamily="34" charset="-122"/>
              </a:rPr>
              <a:t>▎</a:t>
            </a:r>
            <a:r>
              <a:rPr lang="en-US" altLang="zh-CN" sz="1300" b="1">
                <a:solidFill>
                  <a:srgbClr val="212121"/>
                </a:solidFill>
                <a:latin typeface="Microsoft YaHei" panose="020B0503020204020204" pitchFamily="34" charset="-122"/>
              </a:rPr>
              <a:t>AI vs </a:t>
            </a:r>
            <a:r>
              <a:rPr lang="zh-CN" altLang="en-US" sz="1300" b="1">
                <a:solidFill>
                  <a:srgbClr val="212121"/>
                </a:solidFill>
                <a:latin typeface="Microsoft YaHei" panose="020B0503020204020204" pitchFamily="34" charset="-122"/>
              </a:rPr>
              <a:t>互联网泡沫历史对比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69FEAB1-AA0D-3437-9BC1-8ACD74A527FB}"/>
              </a:ext>
            </a:extLst>
          </p:cNvPr>
          <p:cNvSpPr/>
          <p:nvPr/>
        </p:nvSpPr>
        <p:spPr>
          <a:xfrm>
            <a:off x="508000" y="1841500"/>
            <a:ext cx="2032000" cy="355600"/>
          </a:xfrm>
          <a:prstGeom prst="rect">
            <a:avLst/>
          </a:prstGeom>
          <a:solidFill>
            <a:srgbClr val="32231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051E54F-27BE-4085-C0A1-6E08AB18C11C}"/>
              </a:ext>
            </a:extLst>
          </p:cNvPr>
          <p:cNvSpPr txBox="1"/>
          <p:nvPr/>
        </p:nvSpPr>
        <p:spPr>
          <a:xfrm>
            <a:off x="571500" y="1905000"/>
            <a:ext cx="1905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指标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96C8BE-390A-E792-CC56-3058B2188E24}"/>
              </a:ext>
            </a:extLst>
          </p:cNvPr>
          <p:cNvSpPr/>
          <p:nvPr/>
        </p:nvSpPr>
        <p:spPr>
          <a:xfrm>
            <a:off x="2603500" y="1841500"/>
            <a:ext cx="2032000" cy="355600"/>
          </a:xfrm>
          <a:prstGeom prst="rect">
            <a:avLst/>
          </a:prstGeom>
          <a:solidFill>
            <a:srgbClr val="32231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3127E82-12E9-D8B2-73BF-411C8B207869}"/>
              </a:ext>
            </a:extLst>
          </p:cNvPr>
          <p:cNvSpPr txBox="1"/>
          <p:nvPr/>
        </p:nvSpPr>
        <p:spPr>
          <a:xfrm>
            <a:off x="2667000" y="1905000"/>
            <a:ext cx="1905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互联网</a:t>
            </a:r>
            <a:r>
              <a:rPr lang="en-US" altLang="zh-CN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(2000)</a:t>
            </a:r>
            <a:endParaRPr lang="zh-CN" altLang="en-US" sz="1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A0F40FB-5705-E125-5909-2ABA55DEA015}"/>
              </a:ext>
            </a:extLst>
          </p:cNvPr>
          <p:cNvSpPr/>
          <p:nvPr/>
        </p:nvSpPr>
        <p:spPr>
          <a:xfrm>
            <a:off x="4699000" y="1841500"/>
            <a:ext cx="2032000" cy="355600"/>
          </a:xfrm>
          <a:prstGeom prst="rect">
            <a:avLst/>
          </a:prstGeom>
          <a:solidFill>
            <a:srgbClr val="32231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A28473F-012A-5F1A-4E11-2498E7791AAF}"/>
              </a:ext>
            </a:extLst>
          </p:cNvPr>
          <p:cNvSpPr txBox="1"/>
          <p:nvPr/>
        </p:nvSpPr>
        <p:spPr>
          <a:xfrm>
            <a:off x="4762500" y="1905000"/>
            <a:ext cx="1905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AI(2025-26)</a:t>
            </a:r>
            <a:endParaRPr lang="zh-CN" altLang="en-US" sz="1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27B5C69-8E6A-F165-3A0E-222EB5F5DD11}"/>
              </a:ext>
            </a:extLst>
          </p:cNvPr>
          <p:cNvSpPr/>
          <p:nvPr/>
        </p:nvSpPr>
        <p:spPr>
          <a:xfrm>
            <a:off x="508000" y="2222500"/>
            <a:ext cx="2032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F5BA2AC-3560-5288-0AC8-F449D4E97EC6}"/>
              </a:ext>
            </a:extLst>
          </p:cNvPr>
          <p:cNvSpPr txBox="1"/>
          <p:nvPr/>
        </p:nvSpPr>
        <p:spPr>
          <a:xfrm>
            <a:off x="571500" y="2286000"/>
            <a:ext cx="1905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000" b="1">
                <a:solidFill>
                  <a:srgbClr val="212121"/>
                </a:solidFill>
                <a:latin typeface="Microsoft YaHei" panose="020B0503020204020204" pitchFamily="34" charset="-122"/>
              </a:rPr>
              <a:t>年度基建投资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049D971-7652-1D67-75C3-511E89B4A8EA}"/>
              </a:ext>
            </a:extLst>
          </p:cNvPr>
          <p:cNvSpPr/>
          <p:nvPr/>
        </p:nvSpPr>
        <p:spPr>
          <a:xfrm>
            <a:off x="2603500" y="2222500"/>
            <a:ext cx="2032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350A65B-D5CA-B5DB-42EC-6340A788FEAE}"/>
              </a:ext>
            </a:extLst>
          </p:cNvPr>
          <p:cNvSpPr txBox="1"/>
          <p:nvPr/>
        </p:nvSpPr>
        <p:spPr>
          <a:xfrm>
            <a:off x="2667000" y="2286000"/>
            <a:ext cx="1905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~$1000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亿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FD26BEA-6717-844C-310C-619BB2FAE2EE}"/>
              </a:ext>
            </a:extLst>
          </p:cNvPr>
          <p:cNvSpPr/>
          <p:nvPr/>
        </p:nvSpPr>
        <p:spPr>
          <a:xfrm>
            <a:off x="4699000" y="2222500"/>
            <a:ext cx="2032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B821590-1881-A08F-BF9B-DE61753E6986}"/>
              </a:ext>
            </a:extLst>
          </p:cNvPr>
          <p:cNvSpPr txBox="1"/>
          <p:nvPr/>
        </p:nvSpPr>
        <p:spPr>
          <a:xfrm>
            <a:off x="4762500" y="2286000"/>
            <a:ext cx="1905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$3180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亿→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$5270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亿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2FBB36A-DC5C-1C28-6BBC-D7A17EE83C7A}"/>
              </a:ext>
            </a:extLst>
          </p:cNvPr>
          <p:cNvSpPr/>
          <p:nvPr/>
        </p:nvSpPr>
        <p:spPr>
          <a:xfrm>
            <a:off x="508000" y="2603500"/>
            <a:ext cx="2032000" cy="355600"/>
          </a:xfrm>
          <a:prstGeom prst="rect">
            <a:avLst/>
          </a:prstGeom>
          <a:solidFill>
            <a:srgbClr val="E0F3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FCA464D-6766-30E7-765C-264B60C839BD}"/>
              </a:ext>
            </a:extLst>
          </p:cNvPr>
          <p:cNvSpPr txBox="1"/>
          <p:nvPr/>
        </p:nvSpPr>
        <p:spPr>
          <a:xfrm>
            <a:off x="571500" y="2667000"/>
            <a:ext cx="1905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000" b="1">
                <a:solidFill>
                  <a:srgbClr val="212121"/>
                </a:solidFill>
                <a:latin typeface="Microsoft YaHei" panose="020B0503020204020204" pitchFamily="34" charset="-122"/>
              </a:rPr>
              <a:t>峰值市场估值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2950E00-633C-226C-ADDF-AAE5CFA77E4F}"/>
              </a:ext>
            </a:extLst>
          </p:cNvPr>
          <p:cNvSpPr/>
          <p:nvPr/>
        </p:nvSpPr>
        <p:spPr>
          <a:xfrm>
            <a:off x="2603500" y="2603500"/>
            <a:ext cx="2032000" cy="355600"/>
          </a:xfrm>
          <a:prstGeom prst="rect">
            <a:avLst/>
          </a:prstGeom>
          <a:solidFill>
            <a:srgbClr val="E0F3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276C2AA-EC05-105C-B7B9-A153125469A2}"/>
              </a:ext>
            </a:extLst>
          </p:cNvPr>
          <p:cNvSpPr txBox="1"/>
          <p:nvPr/>
        </p:nvSpPr>
        <p:spPr>
          <a:xfrm>
            <a:off x="2667000" y="2667000"/>
            <a:ext cx="1905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~$3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万亿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0AA445A-2C80-D1B5-571F-69040534029A}"/>
              </a:ext>
            </a:extLst>
          </p:cNvPr>
          <p:cNvSpPr/>
          <p:nvPr/>
        </p:nvSpPr>
        <p:spPr>
          <a:xfrm>
            <a:off x="4699000" y="2603500"/>
            <a:ext cx="2032000" cy="355600"/>
          </a:xfrm>
          <a:prstGeom prst="rect">
            <a:avLst/>
          </a:prstGeom>
          <a:solidFill>
            <a:srgbClr val="E0F3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36C88F2-5465-9115-B1CE-EC1C211194E9}"/>
              </a:ext>
            </a:extLst>
          </p:cNvPr>
          <p:cNvSpPr txBox="1"/>
          <p:nvPr/>
        </p:nvSpPr>
        <p:spPr>
          <a:xfrm>
            <a:off x="4762500" y="2667000"/>
            <a:ext cx="1905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&gt;$10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万亿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90EEA45-0C6F-3E44-D03A-99C5D9396468}"/>
              </a:ext>
            </a:extLst>
          </p:cNvPr>
          <p:cNvSpPr/>
          <p:nvPr/>
        </p:nvSpPr>
        <p:spPr>
          <a:xfrm>
            <a:off x="508000" y="2984500"/>
            <a:ext cx="2032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75C5ACC-C73A-2CA6-1660-14BF0B38B1A6}"/>
              </a:ext>
            </a:extLst>
          </p:cNvPr>
          <p:cNvSpPr txBox="1"/>
          <p:nvPr/>
        </p:nvSpPr>
        <p:spPr>
          <a:xfrm>
            <a:off x="571500" y="3048000"/>
            <a:ext cx="1905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000" b="1">
                <a:solidFill>
                  <a:srgbClr val="212121"/>
                </a:solidFill>
                <a:latin typeface="Microsoft YaHei" panose="020B0503020204020204" pitchFamily="34" charset="-122"/>
              </a:rPr>
              <a:t>企业盈利基础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913DFE2-3140-C695-22E6-0D653CE415EC}"/>
              </a:ext>
            </a:extLst>
          </p:cNvPr>
          <p:cNvSpPr/>
          <p:nvPr/>
        </p:nvSpPr>
        <p:spPr>
          <a:xfrm>
            <a:off x="2603500" y="2984500"/>
            <a:ext cx="2032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35424D9-4D7D-276C-8F6E-F678E5F9A47D}"/>
              </a:ext>
            </a:extLst>
          </p:cNvPr>
          <p:cNvSpPr txBox="1"/>
          <p:nvPr/>
        </p:nvSpPr>
        <p:spPr>
          <a:xfrm>
            <a:off x="2667000" y="3048000"/>
            <a:ext cx="1905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多数亏损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AD0DC71-7C1E-2189-5225-EB733CA1EFC2}"/>
              </a:ext>
            </a:extLst>
          </p:cNvPr>
          <p:cNvSpPr/>
          <p:nvPr/>
        </p:nvSpPr>
        <p:spPr>
          <a:xfrm>
            <a:off x="4699000" y="2984500"/>
            <a:ext cx="2032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D97D6E69-170D-6F10-44C4-0D1127F9A88F}"/>
              </a:ext>
            </a:extLst>
          </p:cNvPr>
          <p:cNvSpPr txBox="1"/>
          <p:nvPr/>
        </p:nvSpPr>
        <p:spPr>
          <a:xfrm>
            <a:off x="4762500" y="3048000"/>
            <a:ext cx="1905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头部盈利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多数亏损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856078E-E63E-183E-0B3A-6B97DBC5F7CF}"/>
              </a:ext>
            </a:extLst>
          </p:cNvPr>
          <p:cNvSpPr/>
          <p:nvPr/>
        </p:nvSpPr>
        <p:spPr>
          <a:xfrm>
            <a:off x="508000" y="3365500"/>
            <a:ext cx="2032000" cy="355600"/>
          </a:xfrm>
          <a:prstGeom prst="rect">
            <a:avLst/>
          </a:prstGeom>
          <a:solidFill>
            <a:srgbClr val="E0F3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01F40AF-D72D-A089-2042-BBFF0A29ABE7}"/>
              </a:ext>
            </a:extLst>
          </p:cNvPr>
          <p:cNvSpPr txBox="1"/>
          <p:nvPr/>
        </p:nvSpPr>
        <p:spPr>
          <a:xfrm>
            <a:off x="571500" y="3429000"/>
            <a:ext cx="1905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000" b="1">
                <a:solidFill>
                  <a:srgbClr val="212121"/>
                </a:solidFill>
                <a:latin typeface="Microsoft YaHei" panose="020B0503020204020204" pitchFamily="34" charset="-122"/>
              </a:rPr>
              <a:t>技术实际应用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DB997F1-2E43-69B3-7A37-F733C61EA74C}"/>
              </a:ext>
            </a:extLst>
          </p:cNvPr>
          <p:cNvSpPr/>
          <p:nvPr/>
        </p:nvSpPr>
        <p:spPr>
          <a:xfrm>
            <a:off x="2603500" y="3365500"/>
            <a:ext cx="2032000" cy="355600"/>
          </a:xfrm>
          <a:prstGeom prst="rect">
            <a:avLst/>
          </a:prstGeom>
          <a:solidFill>
            <a:srgbClr val="E0F3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E01F6DB-5A9A-C0CB-323A-E16406EFB2A3}"/>
              </a:ext>
            </a:extLst>
          </p:cNvPr>
          <p:cNvSpPr txBox="1"/>
          <p:nvPr/>
        </p:nvSpPr>
        <p:spPr>
          <a:xfrm>
            <a:off x="2667000" y="3429000"/>
            <a:ext cx="1905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有限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电商为主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000">
              <a:solidFill>
                <a:srgbClr val="2121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9E66163-BE1F-7E5A-26CB-16227CAF2A72}"/>
              </a:ext>
            </a:extLst>
          </p:cNvPr>
          <p:cNvSpPr/>
          <p:nvPr/>
        </p:nvSpPr>
        <p:spPr>
          <a:xfrm>
            <a:off x="4699000" y="3365500"/>
            <a:ext cx="2032000" cy="355600"/>
          </a:xfrm>
          <a:prstGeom prst="rect">
            <a:avLst/>
          </a:prstGeom>
          <a:solidFill>
            <a:srgbClr val="E0F3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0FCB58E4-E172-EBC0-8759-38FF08ABCEEF}"/>
              </a:ext>
            </a:extLst>
          </p:cNvPr>
          <p:cNvSpPr txBox="1"/>
          <p:nvPr/>
        </p:nvSpPr>
        <p:spPr>
          <a:xfrm>
            <a:off x="4762500" y="3429000"/>
            <a:ext cx="1905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广泛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全行业渗透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000">
              <a:solidFill>
                <a:srgbClr val="2121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E2805C5-E2C7-58B5-54E1-B7D58761AC5B}"/>
              </a:ext>
            </a:extLst>
          </p:cNvPr>
          <p:cNvSpPr/>
          <p:nvPr/>
        </p:nvSpPr>
        <p:spPr>
          <a:xfrm>
            <a:off x="508000" y="3746500"/>
            <a:ext cx="2032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72513A0B-5FD5-F013-607F-75C648EA9B17}"/>
              </a:ext>
            </a:extLst>
          </p:cNvPr>
          <p:cNvSpPr txBox="1"/>
          <p:nvPr/>
        </p:nvSpPr>
        <p:spPr>
          <a:xfrm>
            <a:off x="571500" y="3810000"/>
            <a:ext cx="1905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000" b="1">
                <a:solidFill>
                  <a:srgbClr val="212121"/>
                </a:solidFill>
                <a:latin typeface="Microsoft YaHei" panose="020B0503020204020204" pitchFamily="34" charset="-122"/>
              </a:rPr>
              <a:t>信贷杠杆程度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B56A6CD-02B7-31DC-A242-D78A9AEAA6EF}"/>
              </a:ext>
            </a:extLst>
          </p:cNvPr>
          <p:cNvSpPr/>
          <p:nvPr/>
        </p:nvSpPr>
        <p:spPr>
          <a:xfrm>
            <a:off x="2603500" y="3746500"/>
            <a:ext cx="2032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F475E501-B7B6-4D50-2334-B094C0C61EBF}"/>
              </a:ext>
            </a:extLst>
          </p:cNvPr>
          <p:cNvSpPr txBox="1"/>
          <p:nvPr/>
        </p:nvSpPr>
        <p:spPr>
          <a:xfrm>
            <a:off x="2667000" y="3810000"/>
            <a:ext cx="1905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中等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4CFC8FB3-FAF6-0617-C457-1141F5E5237E}"/>
              </a:ext>
            </a:extLst>
          </p:cNvPr>
          <p:cNvSpPr/>
          <p:nvPr/>
        </p:nvSpPr>
        <p:spPr>
          <a:xfrm>
            <a:off x="4699000" y="3746500"/>
            <a:ext cx="2032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C878A96E-FC00-ABE7-A262-9CED0B7C0528}"/>
              </a:ext>
            </a:extLst>
          </p:cNvPr>
          <p:cNvSpPr txBox="1"/>
          <p:nvPr/>
        </p:nvSpPr>
        <p:spPr>
          <a:xfrm>
            <a:off x="4762500" y="3810000"/>
            <a:ext cx="1905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极高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主权债务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000">
              <a:solidFill>
                <a:srgbClr val="2121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3A34D53-FB56-BBF4-1BE7-1D1F5C7B8B78}"/>
              </a:ext>
            </a:extLst>
          </p:cNvPr>
          <p:cNvSpPr txBox="1"/>
          <p:nvPr/>
        </p:nvSpPr>
        <p:spPr>
          <a:xfrm>
            <a:off x="7112000" y="1397000"/>
            <a:ext cx="5080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 b="1">
                <a:solidFill>
                  <a:srgbClr val="212121"/>
                </a:solidFill>
                <a:latin typeface="Microsoft YaHei" panose="020B0503020204020204" pitchFamily="34" charset="-122"/>
              </a:rPr>
              <a:t>▎泡沫风险信号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229A09EF-1BDC-42FD-6F1C-488A861A7C1F}"/>
              </a:ext>
            </a:extLst>
          </p:cNvPr>
          <p:cNvSpPr txBox="1"/>
          <p:nvPr/>
        </p:nvSpPr>
        <p:spPr>
          <a:xfrm>
            <a:off x="7175500" y="1841500"/>
            <a:ext cx="3175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400">
                <a:solidFill>
                  <a:srgbClr val="3643F4"/>
                </a:solidFill>
                <a:latin typeface="Microsoft YaHei" panose="020B0503020204020204" pitchFamily="34" charset="-122"/>
              </a:rPr>
              <a:t>⚠️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890D2A20-DE97-3DBD-37B5-6F6D776F26C8}"/>
              </a:ext>
            </a:extLst>
          </p:cNvPr>
          <p:cNvSpPr txBox="1"/>
          <p:nvPr/>
        </p:nvSpPr>
        <p:spPr>
          <a:xfrm>
            <a:off x="7556500" y="1841500"/>
            <a:ext cx="444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 b="1">
                <a:solidFill>
                  <a:srgbClr val="212121"/>
                </a:solidFill>
                <a:latin typeface="Microsoft YaHei" panose="020B0503020204020204" pitchFamily="34" charset="-122"/>
              </a:rPr>
              <a:t>科技巨头</a:t>
            </a:r>
            <a:r>
              <a:rPr lang="en-US" altLang="zh-CN" sz="1100" b="1">
                <a:solidFill>
                  <a:srgbClr val="212121"/>
                </a:solidFill>
                <a:latin typeface="Microsoft YaHei" panose="020B0503020204020204" pitchFamily="34" charset="-122"/>
              </a:rPr>
              <a:t>Capex</a:t>
            </a:r>
            <a:r>
              <a:rPr lang="zh-CN" altLang="en-US" sz="1100" b="1">
                <a:solidFill>
                  <a:srgbClr val="212121"/>
                </a:solidFill>
                <a:latin typeface="Microsoft YaHei" panose="020B0503020204020204" pitchFamily="34" charset="-122"/>
              </a:rPr>
              <a:t>两年翻</a:t>
            </a:r>
            <a:r>
              <a:rPr lang="en-US" altLang="zh-CN" sz="1100" b="1">
                <a:solidFill>
                  <a:srgbClr val="212121"/>
                </a:solidFill>
                <a:latin typeface="Microsoft YaHei" panose="020B0503020204020204" pitchFamily="34" charset="-122"/>
              </a:rPr>
              <a:t>3.4</a:t>
            </a:r>
            <a:r>
              <a:rPr lang="zh-CN" altLang="en-US" sz="1100" b="1">
                <a:solidFill>
                  <a:srgbClr val="212121"/>
                </a:solidFill>
                <a:latin typeface="Microsoft YaHei" panose="020B0503020204020204" pitchFamily="34" charset="-122"/>
              </a:rPr>
              <a:t>倍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78395E3-98A5-148B-1802-33750C7B938F}"/>
              </a:ext>
            </a:extLst>
          </p:cNvPr>
          <p:cNvSpPr txBox="1"/>
          <p:nvPr/>
        </p:nvSpPr>
        <p:spPr>
          <a:xfrm>
            <a:off x="7556500" y="2070100"/>
            <a:ext cx="4445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00">
                <a:solidFill>
                  <a:srgbClr val="757575"/>
                </a:solidFill>
                <a:latin typeface="Microsoft YaHei" panose="020B0503020204020204" pitchFamily="34" charset="-122"/>
              </a:rPr>
              <a:t>投入产出比尚未验证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DE05EA3A-93BA-4B27-BB44-64A2EDB08DDF}"/>
              </a:ext>
            </a:extLst>
          </p:cNvPr>
          <p:cNvSpPr txBox="1"/>
          <p:nvPr/>
        </p:nvSpPr>
        <p:spPr>
          <a:xfrm>
            <a:off x="7175500" y="2400300"/>
            <a:ext cx="3175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400">
                <a:solidFill>
                  <a:srgbClr val="3643F4"/>
                </a:solidFill>
                <a:latin typeface="Microsoft YaHei" panose="020B0503020204020204" pitchFamily="34" charset="-122"/>
              </a:rPr>
              <a:t>⚠️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DE0896E0-660A-28FE-7E51-6144D508FF99}"/>
              </a:ext>
            </a:extLst>
          </p:cNvPr>
          <p:cNvSpPr txBox="1"/>
          <p:nvPr/>
        </p:nvSpPr>
        <p:spPr>
          <a:xfrm>
            <a:off x="7556500" y="2400300"/>
            <a:ext cx="444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 b="1">
                <a:solidFill>
                  <a:srgbClr val="212121"/>
                </a:solidFill>
                <a:latin typeface="Microsoft YaHei" panose="020B0503020204020204" pitchFamily="34" charset="-122"/>
              </a:rPr>
              <a:t>Barclays: </a:t>
            </a:r>
            <a:r>
              <a:rPr lang="zh-CN" altLang="en-US" sz="1100" b="1">
                <a:solidFill>
                  <a:srgbClr val="212121"/>
                </a:solidFill>
                <a:latin typeface="Microsoft YaHei" panose="020B0503020204020204" pitchFamily="34" charset="-122"/>
              </a:rPr>
              <a:t>可能超越</a:t>
            </a:r>
            <a:r>
              <a:rPr lang="en-US" altLang="zh-CN" sz="1100" b="1">
                <a:solidFill>
                  <a:srgbClr val="212121"/>
                </a:solidFill>
                <a:latin typeface="Microsoft YaHei" panose="020B0503020204020204" pitchFamily="34" charset="-122"/>
              </a:rPr>
              <a:t>90</a:t>
            </a:r>
            <a:r>
              <a:rPr lang="zh-CN" altLang="en-US" sz="1100" b="1">
                <a:solidFill>
                  <a:srgbClr val="212121"/>
                </a:solidFill>
                <a:latin typeface="Microsoft YaHei" panose="020B0503020204020204" pitchFamily="34" charset="-122"/>
              </a:rPr>
              <a:t>年代电信泡沫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3D9EA678-1A1C-7B35-FFA2-03C32FE67268}"/>
              </a:ext>
            </a:extLst>
          </p:cNvPr>
          <p:cNvSpPr txBox="1"/>
          <p:nvPr/>
        </p:nvSpPr>
        <p:spPr>
          <a:xfrm>
            <a:off x="7556500" y="2628900"/>
            <a:ext cx="4445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00">
                <a:solidFill>
                  <a:srgbClr val="757575"/>
                </a:solidFill>
                <a:latin typeface="Microsoft YaHei" panose="020B0503020204020204" pitchFamily="34" charset="-122"/>
              </a:rPr>
              <a:t>史上最大资本支出周期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2AD960B6-70D1-BD15-18D0-07B10BA6A715}"/>
              </a:ext>
            </a:extLst>
          </p:cNvPr>
          <p:cNvSpPr txBox="1"/>
          <p:nvPr/>
        </p:nvSpPr>
        <p:spPr>
          <a:xfrm>
            <a:off x="7175500" y="2959100"/>
            <a:ext cx="3175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400">
                <a:solidFill>
                  <a:srgbClr val="3643F4"/>
                </a:solidFill>
                <a:latin typeface="Microsoft YaHei" panose="020B0503020204020204" pitchFamily="34" charset="-122"/>
              </a:rPr>
              <a:t>⚠️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1F839B57-D6BD-8E11-906B-B0A47DC68BDC}"/>
              </a:ext>
            </a:extLst>
          </p:cNvPr>
          <p:cNvSpPr txBox="1"/>
          <p:nvPr/>
        </p:nvSpPr>
        <p:spPr>
          <a:xfrm>
            <a:off x="7556500" y="2959100"/>
            <a:ext cx="444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 b="1">
                <a:solidFill>
                  <a:srgbClr val="212121"/>
                </a:solidFill>
                <a:latin typeface="Microsoft YaHei" panose="020B0503020204020204" pitchFamily="34" charset="-122"/>
              </a:rPr>
              <a:t>多数</a:t>
            </a:r>
            <a:r>
              <a:rPr lang="en-US" altLang="zh-CN" sz="1100" b="1">
                <a:solidFill>
                  <a:srgbClr val="212121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sz="1100" b="1">
                <a:solidFill>
                  <a:srgbClr val="212121"/>
                </a:solidFill>
                <a:latin typeface="Microsoft YaHei" panose="020B0503020204020204" pitchFamily="34" charset="-122"/>
              </a:rPr>
              <a:t>初创公司无盈利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F4BC1D18-8154-9DB7-02BF-B3FE3C3FA934}"/>
              </a:ext>
            </a:extLst>
          </p:cNvPr>
          <p:cNvSpPr txBox="1"/>
          <p:nvPr/>
        </p:nvSpPr>
        <p:spPr>
          <a:xfrm>
            <a:off x="7556500" y="3187700"/>
            <a:ext cx="4445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00">
                <a:solidFill>
                  <a:srgbClr val="757575"/>
                </a:solidFill>
                <a:latin typeface="Microsoft YaHei" panose="020B0503020204020204" pitchFamily="34" charset="-122"/>
              </a:rPr>
              <a:t>依赖</a:t>
            </a:r>
            <a:r>
              <a:rPr lang="en-US" altLang="zh-CN" sz="900">
                <a:solidFill>
                  <a:srgbClr val="757575"/>
                </a:solidFill>
                <a:latin typeface="Microsoft YaHei" panose="020B0503020204020204" pitchFamily="34" charset="-122"/>
              </a:rPr>
              <a:t>VC</a:t>
            </a:r>
            <a:r>
              <a:rPr lang="zh-CN" altLang="en-US" sz="900">
                <a:solidFill>
                  <a:srgbClr val="757575"/>
                </a:solidFill>
                <a:latin typeface="Microsoft YaHei" panose="020B0503020204020204" pitchFamily="34" charset="-122"/>
              </a:rPr>
              <a:t>持续输血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2C43A871-0192-2D9D-F52D-A9D497D330D2}"/>
              </a:ext>
            </a:extLst>
          </p:cNvPr>
          <p:cNvSpPr txBox="1"/>
          <p:nvPr/>
        </p:nvSpPr>
        <p:spPr>
          <a:xfrm>
            <a:off x="7175500" y="3517900"/>
            <a:ext cx="3175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400">
                <a:solidFill>
                  <a:srgbClr val="3643F4"/>
                </a:solidFill>
                <a:latin typeface="Microsoft YaHei" panose="020B0503020204020204" pitchFamily="34" charset="-122"/>
              </a:rPr>
              <a:t>⚠️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8C511663-0D88-627E-0853-EC2120FE40CE}"/>
              </a:ext>
            </a:extLst>
          </p:cNvPr>
          <p:cNvSpPr txBox="1"/>
          <p:nvPr/>
        </p:nvSpPr>
        <p:spPr>
          <a:xfrm>
            <a:off x="7556500" y="3517900"/>
            <a:ext cx="444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 b="1">
                <a:solidFill>
                  <a:srgbClr val="212121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sz="1100" b="1">
                <a:solidFill>
                  <a:srgbClr val="212121"/>
                </a:solidFill>
                <a:latin typeface="Microsoft YaHei" panose="020B0503020204020204" pitchFamily="34" charset="-122"/>
              </a:rPr>
              <a:t>贡献</a:t>
            </a:r>
            <a:r>
              <a:rPr lang="en-US" altLang="zh-CN" sz="1100" b="1">
                <a:solidFill>
                  <a:srgbClr val="212121"/>
                </a:solidFill>
                <a:latin typeface="Microsoft YaHei" panose="020B0503020204020204" pitchFamily="34" charset="-122"/>
              </a:rPr>
              <a:t>GDP</a:t>
            </a:r>
            <a:r>
              <a:rPr lang="zh-CN" altLang="en-US" sz="1100" b="1">
                <a:solidFill>
                  <a:srgbClr val="212121"/>
                </a:solidFill>
                <a:latin typeface="Microsoft YaHei" panose="020B0503020204020204" pitchFamily="34" charset="-122"/>
              </a:rPr>
              <a:t>仅</a:t>
            </a:r>
            <a:r>
              <a:rPr lang="en-US" altLang="zh-CN" sz="1100" b="1">
                <a:solidFill>
                  <a:srgbClr val="212121"/>
                </a:solidFill>
                <a:latin typeface="Microsoft YaHei" panose="020B0503020204020204" pitchFamily="34" charset="-122"/>
              </a:rPr>
              <a:t>~0.5%</a:t>
            </a:r>
            <a:endParaRPr lang="zh-CN" altLang="en-US" sz="1100" b="1">
              <a:solidFill>
                <a:srgbClr val="2121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11EE5E44-E1EA-2B2A-A89F-47585EFC5DCA}"/>
              </a:ext>
            </a:extLst>
          </p:cNvPr>
          <p:cNvSpPr txBox="1"/>
          <p:nvPr/>
        </p:nvSpPr>
        <p:spPr>
          <a:xfrm>
            <a:off x="7556500" y="3746500"/>
            <a:ext cx="4445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00">
                <a:solidFill>
                  <a:srgbClr val="757575"/>
                </a:solidFill>
                <a:latin typeface="Microsoft YaHei" panose="020B0503020204020204" pitchFamily="34" charset="-122"/>
              </a:rPr>
              <a:t>投入远大于产出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1634F3D7-B8DC-6EDF-C5DE-97DDE11CA72A}"/>
              </a:ext>
            </a:extLst>
          </p:cNvPr>
          <p:cNvSpPr txBox="1"/>
          <p:nvPr/>
        </p:nvSpPr>
        <p:spPr>
          <a:xfrm>
            <a:off x="7175500" y="4076700"/>
            <a:ext cx="3175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400">
                <a:solidFill>
                  <a:srgbClr val="50AF4C"/>
                </a:solidFill>
                <a:latin typeface="Microsoft YaHei" panose="020B0503020204020204" pitchFamily="34" charset="-122"/>
              </a:rPr>
              <a:t>✅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DF9CBF34-2AB3-ED74-A9DC-21E700CD2B31}"/>
              </a:ext>
            </a:extLst>
          </p:cNvPr>
          <p:cNvSpPr txBox="1"/>
          <p:nvPr/>
        </p:nvSpPr>
        <p:spPr>
          <a:xfrm>
            <a:off x="7556500" y="4076700"/>
            <a:ext cx="444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 b="1">
                <a:solidFill>
                  <a:srgbClr val="212121"/>
                </a:solidFill>
                <a:latin typeface="Microsoft YaHei" panose="020B0503020204020204" pitchFamily="34" charset="-122"/>
              </a:rPr>
              <a:t>头部公司有实际营收支撑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2840B767-C204-7D21-345A-E68E9EDECFD5}"/>
              </a:ext>
            </a:extLst>
          </p:cNvPr>
          <p:cNvSpPr txBox="1"/>
          <p:nvPr/>
        </p:nvSpPr>
        <p:spPr>
          <a:xfrm>
            <a:off x="7556500" y="4305300"/>
            <a:ext cx="4445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00">
                <a:solidFill>
                  <a:srgbClr val="757575"/>
                </a:solidFill>
                <a:latin typeface="Microsoft YaHei" panose="020B0503020204020204" pitchFamily="34" charset="-122"/>
              </a:rPr>
              <a:t>与</a:t>
            </a:r>
            <a:r>
              <a:rPr lang="en-US" altLang="zh-CN" sz="900">
                <a:solidFill>
                  <a:srgbClr val="757575"/>
                </a:solidFill>
                <a:latin typeface="Microsoft YaHei" panose="020B0503020204020204" pitchFamily="34" charset="-122"/>
              </a:rPr>
              <a:t>2000</a:t>
            </a:r>
            <a:r>
              <a:rPr lang="zh-CN" altLang="en-US" sz="900">
                <a:solidFill>
                  <a:srgbClr val="757575"/>
                </a:solidFill>
                <a:latin typeface="Microsoft YaHei" panose="020B0503020204020204" pitchFamily="34" charset="-122"/>
              </a:rPr>
              <a:t>年纯投机不同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8221D0FB-D0C1-F1FD-8677-16246530C219}"/>
              </a:ext>
            </a:extLst>
          </p:cNvPr>
          <p:cNvSpPr txBox="1"/>
          <p:nvPr/>
        </p:nvSpPr>
        <p:spPr>
          <a:xfrm>
            <a:off x="7175500" y="4635500"/>
            <a:ext cx="3175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400">
                <a:solidFill>
                  <a:srgbClr val="50AF4C"/>
                </a:solidFill>
                <a:latin typeface="Microsoft YaHei" panose="020B0503020204020204" pitchFamily="34" charset="-122"/>
              </a:rPr>
              <a:t>✅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185CA809-DFFF-AC6E-6FE1-A05C6937B449}"/>
              </a:ext>
            </a:extLst>
          </p:cNvPr>
          <p:cNvSpPr txBox="1"/>
          <p:nvPr/>
        </p:nvSpPr>
        <p:spPr>
          <a:xfrm>
            <a:off x="7556500" y="4635500"/>
            <a:ext cx="444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 b="1">
                <a:solidFill>
                  <a:srgbClr val="212121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sz="1100" b="1">
                <a:solidFill>
                  <a:srgbClr val="212121"/>
                </a:solidFill>
                <a:latin typeface="Microsoft YaHei" panose="020B0503020204020204" pitchFamily="34" charset="-122"/>
              </a:rPr>
              <a:t>技术已广泛落地应用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C0E03193-0D5E-47AD-BD71-77F6862890F3}"/>
              </a:ext>
            </a:extLst>
          </p:cNvPr>
          <p:cNvSpPr txBox="1"/>
          <p:nvPr/>
        </p:nvSpPr>
        <p:spPr>
          <a:xfrm>
            <a:off x="7556500" y="4864100"/>
            <a:ext cx="4445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00">
                <a:solidFill>
                  <a:srgbClr val="757575"/>
                </a:solidFill>
                <a:latin typeface="Microsoft YaHei" panose="020B0503020204020204" pitchFamily="34" charset="-122"/>
              </a:rPr>
              <a:t>实用性远超互联网早期</a:t>
            </a:r>
          </a:p>
        </p:txBody>
      </p:sp>
      <p:pic>
        <p:nvPicPr>
          <p:cNvPr id="67" name="图片 66">
            <a:extLst>
              <a:ext uri="{FF2B5EF4-FFF2-40B4-BE49-F238E27FC236}">
                <a16:creationId xmlns:a16="http://schemas.microsoft.com/office/drawing/2014/main" id="{C7C9CD98-5102-19C7-0B50-1ED4F9ADBC0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5334000"/>
            <a:ext cx="2540000" cy="1270000"/>
          </a:xfrm>
          <a:prstGeom prst="rect">
            <a:avLst/>
          </a:prstGeom>
          <a:effectLst>
            <a:outerShdw blurRad="63500" dist="37357" dir="2700000" rotWithShape="0">
              <a:scrgbClr r="0" g="0" b="0"/>
            </a:outerShdw>
          </a:effectLst>
        </p:spPr>
      </p:pic>
      <p:sp>
        <p:nvSpPr>
          <p:cNvPr id="68" name="矩形 67">
            <a:extLst>
              <a:ext uri="{FF2B5EF4-FFF2-40B4-BE49-F238E27FC236}">
                <a16:creationId xmlns:a16="http://schemas.microsoft.com/office/drawing/2014/main" id="{DFD3499A-0FBF-5AAC-4E68-C54653E06B9A}"/>
              </a:ext>
            </a:extLst>
          </p:cNvPr>
          <p:cNvSpPr/>
          <p:nvPr/>
        </p:nvSpPr>
        <p:spPr>
          <a:xfrm>
            <a:off x="3175000" y="5334000"/>
            <a:ext cx="8509000" cy="1270000"/>
          </a:xfrm>
          <a:prstGeom prst="rect">
            <a:avLst/>
          </a:prstGeom>
          <a:solidFill>
            <a:srgbClr val="E0F3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63DD71AC-C794-DAEE-1F7F-B12DDE1E91A6}"/>
              </a:ext>
            </a:extLst>
          </p:cNvPr>
          <p:cNvSpPr txBox="1"/>
          <p:nvPr/>
        </p:nvSpPr>
        <p:spPr>
          <a:xfrm>
            <a:off x="3365500" y="5461000"/>
            <a:ext cx="8255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📊 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J.P. Morgan: 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全球衰退概率峰值曾达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40%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NY Fed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模型当前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~15%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。
若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估值回调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+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能源中断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+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金融压力，风险将显著上升。
世行下行情景：全球增长可降至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1.3%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E1B7B432-29B1-F77C-19F4-6A353C1ABAD7}"/>
              </a:ext>
            </a:extLst>
          </p:cNvPr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32231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BBA60677-B3E5-3018-6EE4-F7257E0ABB42}"/>
              </a:ext>
            </a:extLst>
          </p:cNvPr>
          <p:cNvSpPr txBox="1"/>
          <p:nvPr/>
        </p:nvSpPr>
        <p:spPr>
          <a:xfrm>
            <a:off x="508000" y="6540500"/>
            <a:ext cx="7620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800">
                <a:solidFill>
                  <a:srgbClr val="FFFFFF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sz="800">
                <a:solidFill>
                  <a:srgbClr val="FFFFFF"/>
                </a:solidFill>
                <a:latin typeface="Microsoft YaHei" panose="020B0503020204020204" pitchFamily="34" charset="-122"/>
              </a:rPr>
              <a:t>资本泡沫与全球经济走势分析 </a:t>
            </a:r>
            <a:r>
              <a:rPr lang="en-US" altLang="zh-CN" sz="800">
                <a:solidFill>
                  <a:srgbClr val="FFFFFF"/>
                </a:solidFill>
                <a:latin typeface="Microsoft YaHei" panose="020B0503020204020204" pitchFamily="34" charset="-122"/>
              </a:rPr>
              <a:t>| 2026</a:t>
            </a:r>
            <a:endParaRPr lang="zh-CN" altLang="en-US" sz="800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00631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6B5CDA7B-C65A-B79F-44D7-C257903B3A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9F5E8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760FB4D-9057-4AE5-56E3-2305E812B78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535E1BD-AF4A-FF16-FEC7-F00455C5BB0D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F3962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D84C234-FC29-F66B-7ADF-A060BF3E6272}"/>
              </a:ext>
            </a:extLst>
          </p:cNvPr>
          <p:cNvSpPr txBox="1"/>
          <p:nvPr/>
        </p:nvSpPr>
        <p:spPr>
          <a:xfrm>
            <a:off x="508000" y="317500"/>
            <a:ext cx="762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3600" b="1">
                <a:solidFill>
                  <a:srgbClr val="F39621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3600" b="1">
              <a:solidFill>
                <a:srgbClr val="F396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3E31A05-3731-9B96-C41D-183B1D7ADEA2}"/>
              </a:ext>
            </a:extLst>
          </p:cNvPr>
          <p:cNvSpPr/>
          <p:nvPr/>
        </p:nvSpPr>
        <p:spPr>
          <a:xfrm>
            <a:off x="1270000" y="381000"/>
            <a:ext cx="25400" cy="381000"/>
          </a:xfrm>
          <a:prstGeom prst="rect">
            <a:avLst/>
          </a:prstGeom>
          <a:solidFill>
            <a:srgbClr val="F3962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99225E7-64EA-CAF9-85D3-D90D4CA1DA00}"/>
              </a:ext>
            </a:extLst>
          </p:cNvPr>
          <p:cNvSpPr txBox="1"/>
          <p:nvPr/>
        </p:nvSpPr>
        <p:spPr>
          <a:xfrm>
            <a:off x="1460500" y="317500"/>
            <a:ext cx="889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 b="1">
                <a:solidFill>
                  <a:srgbClr val="212121"/>
                </a:solidFill>
                <a:latin typeface="Microsoft YaHei" panose="020B0503020204020204" pitchFamily="34" charset="-122"/>
              </a:rPr>
              <a:t>国际资本流动格局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413A61D-CC31-AFB2-C528-EE6A6E0AB720}"/>
              </a:ext>
            </a:extLst>
          </p:cNvPr>
          <p:cNvSpPr txBox="1"/>
          <p:nvPr/>
        </p:nvSpPr>
        <p:spPr>
          <a:xfrm>
            <a:off x="1460500" y="787400"/>
            <a:ext cx="889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200">
                <a:solidFill>
                  <a:srgbClr val="757575"/>
                </a:solidFill>
                <a:latin typeface="Microsoft YaHei" panose="020B0503020204020204" pitchFamily="34" charset="-122"/>
              </a:rPr>
              <a:t>FDI · </a:t>
            </a:r>
            <a:r>
              <a:rPr lang="zh-CN" altLang="en-US" sz="1200">
                <a:solidFill>
                  <a:srgbClr val="757575"/>
                </a:solidFill>
                <a:latin typeface="Microsoft YaHei" panose="020B0503020204020204" pitchFamily="34" charset="-122"/>
              </a:rPr>
              <a:t>跨境资本 </a:t>
            </a:r>
            <a:r>
              <a:rPr lang="en-US" altLang="zh-CN" sz="1200">
                <a:solidFill>
                  <a:srgbClr val="757575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757575"/>
                </a:solidFill>
                <a:latin typeface="Microsoft YaHei" panose="020B0503020204020204" pitchFamily="34" charset="-122"/>
              </a:rPr>
              <a:t>新兴市场 </a:t>
            </a:r>
            <a:r>
              <a:rPr lang="en-US" altLang="zh-CN" sz="1200">
                <a:solidFill>
                  <a:srgbClr val="757575"/>
                </a:solidFill>
                <a:latin typeface="Microsoft YaHei" panose="020B0503020204020204" pitchFamily="34" charset="-122"/>
              </a:rPr>
              <a:t>| 2024-2026</a:t>
            </a:r>
            <a:endParaRPr lang="zh-CN" altLang="en-US" sz="1200">
              <a:solidFill>
                <a:srgbClr val="7575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5519020-1CC3-FEF0-9D43-B5844BF3E9E9}"/>
              </a:ext>
            </a:extLst>
          </p:cNvPr>
          <p:cNvSpPr/>
          <p:nvPr/>
        </p:nvSpPr>
        <p:spPr>
          <a:xfrm>
            <a:off x="508000" y="1206500"/>
            <a:ext cx="11176000" cy="12700"/>
          </a:xfrm>
          <a:prstGeom prst="rect">
            <a:avLst/>
          </a:prstGeom>
          <a:solidFill>
            <a:srgbClr val="E0E0E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87A3B2F-92FE-0A83-CD97-7603005283EF}"/>
              </a:ext>
            </a:extLst>
          </p:cNvPr>
          <p:cNvSpPr/>
          <p:nvPr/>
        </p:nvSpPr>
        <p:spPr>
          <a:xfrm>
            <a:off x="508000" y="1397000"/>
            <a:ext cx="2667000" cy="1270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prstShdw prst="shdw1" dist="35921" dir="2699995">
              <a:srgbClr val="CCCCCC">
                <a:alpha val="50000"/>
              </a:srgbClr>
            </a:prst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D8D6C98-8534-D866-7E4B-3EDB78FDD3B5}"/>
              </a:ext>
            </a:extLst>
          </p:cNvPr>
          <p:cNvSpPr txBox="1"/>
          <p:nvPr/>
        </p:nvSpPr>
        <p:spPr>
          <a:xfrm>
            <a:off x="635000" y="1587500"/>
            <a:ext cx="2413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800" b="1">
                <a:solidFill>
                  <a:srgbClr val="F39621"/>
                </a:solidFill>
                <a:latin typeface="Microsoft YaHei" panose="020B0503020204020204" pitchFamily="34" charset="-122"/>
              </a:rPr>
              <a:t>$1.6</a:t>
            </a:r>
            <a:r>
              <a:rPr lang="zh-CN" altLang="en-US" sz="2800" b="1">
                <a:solidFill>
                  <a:srgbClr val="F39621"/>
                </a:solidFill>
                <a:latin typeface="Microsoft YaHei" panose="020B0503020204020204" pitchFamily="34" charset="-122"/>
              </a:rPr>
              <a:t>万亿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49B86EA-049B-4181-1AA9-94A5D2AA630B}"/>
              </a:ext>
            </a:extLst>
          </p:cNvPr>
          <p:cNvSpPr txBox="1"/>
          <p:nvPr/>
        </p:nvSpPr>
        <p:spPr>
          <a:xfrm>
            <a:off x="635000" y="2222500"/>
            <a:ext cx="2413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2025</a:t>
            </a:r>
            <a:r>
              <a:rPr lang="zh-CN" altLang="en-US" sz="1100">
                <a:solidFill>
                  <a:srgbClr val="757575"/>
                </a:solidFill>
                <a:latin typeface="Microsoft YaHei" panose="020B0503020204020204" pitchFamily="34" charset="-122"/>
              </a:rPr>
              <a:t>全球</a:t>
            </a:r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FDI
(+14% YoY)</a:t>
            </a:r>
            <a:endParaRPr lang="zh-CN" altLang="en-US" sz="1100">
              <a:solidFill>
                <a:srgbClr val="7575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E9AE04A-F582-C7C2-1F5D-DD724C8913F9}"/>
              </a:ext>
            </a:extLst>
          </p:cNvPr>
          <p:cNvSpPr/>
          <p:nvPr/>
        </p:nvSpPr>
        <p:spPr>
          <a:xfrm>
            <a:off x="3429000" y="1397000"/>
            <a:ext cx="2667000" cy="1270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prstShdw prst="shdw1" dist="35921" dir="2699995">
              <a:srgbClr val="CCCCCC">
                <a:alpha val="50000"/>
              </a:srgbClr>
            </a:prst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8727129-FF05-417D-588D-53F8B8647A9C}"/>
              </a:ext>
            </a:extLst>
          </p:cNvPr>
          <p:cNvSpPr txBox="1"/>
          <p:nvPr/>
        </p:nvSpPr>
        <p:spPr>
          <a:xfrm>
            <a:off x="3556000" y="1587500"/>
            <a:ext cx="2413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800" b="1">
                <a:solidFill>
                  <a:srgbClr val="50AF4C"/>
                </a:solidFill>
                <a:latin typeface="Microsoft YaHei" panose="020B0503020204020204" pitchFamily="34" charset="-122"/>
              </a:rPr>
              <a:t>$7280</a:t>
            </a:r>
            <a:r>
              <a:rPr lang="zh-CN" altLang="en-US" sz="2800" b="1">
                <a:solidFill>
                  <a:srgbClr val="50AF4C"/>
                </a:solidFill>
                <a:latin typeface="Microsoft YaHei" panose="020B0503020204020204" pitchFamily="34" charset="-122"/>
              </a:rPr>
              <a:t>亿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FA65AAC-F6A6-93F9-CACF-959F2B63925E}"/>
              </a:ext>
            </a:extLst>
          </p:cNvPr>
          <p:cNvSpPr txBox="1"/>
          <p:nvPr/>
        </p:nvSpPr>
        <p:spPr>
          <a:xfrm>
            <a:off x="3556000" y="2222500"/>
            <a:ext cx="2413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100">
                <a:solidFill>
                  <a:srgbClr val="757575"/>
                </a:solidFill>
                <a:latin typeface="Microsoft YaHei" panose="020B0503020204020204" pitchFamily="34" charset="-122"/>
              </a:rPr>
              <a:t>发达经济体</a:t>
            </a:r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FDI
(+43% YoY)</a:t>
            </a:r>
            <a:endParaRPr lang="zh-CN" altLang="en-US" sz="1100">
              <a:solidFill>
                <a:srgbClr val="7575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0EDF8C5-D28B-950F-71B8-8C32679497DE}"/>
              </a:ext>
            </a:extLst>
          </p:cNvPr>
          <p:cNvSpPr/>
          <p:nvPr/>
        </p:nvSpPr>
        <p:spPr>
          <a:xfrm>
            <a:off x="6350000" y="1397000"/>
            <a:ext cx="2667000" cy="1270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prstShdw prst="shdw1" dist="35921" dir="2699995">
              <a:srgbClr val="CCCCCC">
                <a:alpha val="50000"/>
              </a:srgbClr>
            </a:prst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223A9A5-E812-E2BB-2BD2-56FEB5EB88C1}"/>
              </a:ext>
            </a:extLst>
          </p:cNvPr>
          <p:cNvSpPr txBox="1"/>
          <p:nvPr/>
        </p:nvSpPr>
        <p:spPr>
          <a:xfrm>
            <a:off x="6477000" y="1587500"/>
            <a:ext cx="2413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800" b="1">
                <a:solidFill>
                  <a:srgbClr val="0098FF"/>
                </a:solidFill>
                <a:latin typeface="Microsoft YaHei" panose="020B0503020204020204" pitchFamily="34" charset="-122"/>
              </a:rPr>
              <a:t>$8770</a:t>
            </a:r>
            <a:r>
              <a:rPr lang="zh-CN" altLang="en-US" sz="2800" b="1">
                <a:solidFill>
                  <a:srgbClr val="0098FF"/>
                </a:solidFill>
                <a:latin typeface="Microsoft YaHei" panose="020B0503020204020204" pitchFamily="34" charset="-122"/>
              </a:rPr>
              <a:t>亿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0CD61C6-9B69-BC65-2AA7-F0BE6435B9B3}"/>
              </a:ext>
            </a:extLst>
          </p:cNvPr>
          <p:cNvSpPr txBox="1"/>
          <p:nvPr/>
        </p:nvSpPr>
        <p:spPr>
          <a:xfrm>
            <a:off x="6477000" y="2222500"/>
            <a:ext cx="2413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100">
                <a:solidFill>
                  <a:srgbClr val="757575"/>
                </a:solidFill>
                <a:latin typeface="Microsoft YaHei" panose="020B0503020204020204" pitchFamily="34" charset="-122"/>
              </a:rPr>
              <a:t>发展中经济体</a:t>
            </a:r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FDI
(-2% YoY)</a:t>
            </a:r>
            <a:endParaRPr lang="zh-CN" altLang="en-US" sz="1100">
              <a:solidFill>
                <a:srgbClr val="7575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CC60255-6FA5-5ECE-A164-D8C0416AEB38}"/>
              </a:ext>
            </a:extLst>
          </p:cNvPr>
          <p:cNvSpPr/>
          <p:nvPr/>
        </p:nvSpPr>
        <p:spPr>
          <a:xfrm>
            <a:off x="9271000" y="1397000"/>
            <a:ext cx="2667000" cy="1270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prstShdw prst="shdw1" dist="35921" dir="2699995">
              <a:srgbClr val="CCCCCC">
                <a:alpha val="50000"/>
              </a:srgbClr>
            </a:prst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B1A5DA4-38AC-3ADE-8B44-C666EF5B2CF9}"/>
              </a:ext>
            </a:extLst>
          </p:cNvPr>
          <p:cNvSpPr txBox="1"/>
          <p:nvPr/>
        </p:nvSpPr>
        <p:spPr>
          <a:xfrm>
            <a:off x="9398000" y="1587500"/>
            <a:ext cx="2413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800" b="1">
                <a:solidFill>
                  <a:srgbClr val="B0279C"/>
                </a:solidFill>
                <a:latin typeface="Microsoft YaHei" panose="020B0503020204020204" pitchFamily="34" charset="-122"/>
              </a:rPr>
              <a:t>$2700</a:t>
            </a:r>
            <a:r>
              <a:rPr lang="zh-CN" altLang="en-US" sz="2800" b="1">
                <a:solidFill>
                  <a:srgbClr val="B0279C"/>
                </a:solidFill>
                <a:latin typeface="Microsoft YaHei" panose="020B0503020204020204" pitchFamily="34" charset="-122"/>
              </a:rPr>
              <a:t>亿</a:t>
            </a:r>
            <a:r>
              <a:rPr lang="en-US" altLang="zh-CN" sz="2800" b="1">
                <a:solidFill>
                  <a:srgbClr val="B0279C"/>
                </a:solidFill>
                <a:latin typeface="Microsoft YaHei" panose="020B0503020204020204" pitchFamily="34" charset="-122"/>
              </a:rPr>
              <a:t>+</a:t>
            </a:r>
            <a:endParaRPr lang="zh-CN" altLang="en-US" sz="2800" b="1">
              <a:solidFill>
                <a:srgbClr val="B0279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D4B44AE-9B18-FA5C-1D5B-CA965BAEC963}"/>
              </a:ext>
            </a:extLst>
          </p:cNvPr>
          <p:cNvSpPr txBox="1"/>
          <p:nvPr/>
        </p:nvSpPr>
        <p:spPr>
          <a:xfrm>
            <a:off x="9398000" y="2222500"/>
            <a:ext cx="2413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sz="1100">
                <a:solidFill>
                  <a:srgbClr val="757575"/>
                </a:solidFill>
                <a:latin typeface="Microsoft YaHei" panose="020B0503020204020204" pitchFamily="34" charset="-122"/>
              </a:rPr>
              <a:t>数据中心绿地投资
</a:t>
            </a:r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100">
                <a:solidFill>
                  <a:srgbClr val="757575"/>
                </a:solidFill>
                <a:latin typeface="Microsoft YaHei" panose="020B0503020204020204" pitchFamily="34" charset="-122"/>
              </a:rPr>
              <a:t>占全球</a:t>
            </a:r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&gt;20%)</a:t>
            </a:r>
            <a:endParaRPr lang="zh-CN" altLang="en-US" sz="1100">
              <a:solidFill>
                <a:srgbClr val="7575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AF98D0D-4F7C-6FD2-FCA1-D0AA229E6EBA}"/>
              </a:ext>
            </a:extLst>
          </p:cNvPr>
          <p:cNvSpPr txBox="1"/>
          <p:nvPr/>
        </p:nvSpPr>
        <p:spPr>
          <a:xfrm>
            <a:off x="508000" y="2921000"/>
            <a:ext cx="5080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 b="1">
                <a:solidFill>
                  <a:srgbClr val="212121"/>
                </a:solidFill>
                <a:latin typeface="Microsoft YaHei" panose="020B0503020204020204" pitchFamily="34" charset="-122"/>
              </a:rPr>
              <a:t>▎中国</a:t>
            </a:r>
            <a:r>
              <a:rPr lang="en-US" altLang="zh-CN" sz="1300" b="1">
                <a:solidFill>
                  <a:srgbClr val="212121"/>
                </a:solidFill>
                <a:latin typeface="Microsoft YaHei" panose="020B0503020204020204" pitchFamily="34" charset="-122"/>
              </a:rPr>
              <a:t>FDI</a:t>
            </a:r>
            <a:r>
              <a:rPr lang="zh-CN" altLang="en-US" sz="1300" b="1">
                <a:solidFill>
                  <a:srgbClr val="212121"/>
                </a:solidFill>
                <a:latin typeface="Microsoft YaHei" panose="020B0503020204020204" pitchFamily="34" charset="-122"/>
              </a:rPr>
              <a:t>流入数据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5AEECB7-1849-FB1F-4ED4-9C0F96D93BC7}"/>
              </a:ext>
            </a:extLst>
          </p:cNvPr>
          <p:cNvSpPr txBox="1"/>
          <p:nvPr/>
        </p:nvSpPr>
        <p:spPr>
          <a:xfrm>
            <a:off x="635000" y="3327400"/>
            <a:ext cx="254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2024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年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BOP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口径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FDI</a:t>
            </a:r>
            <a:endParaRPr lang="zh-CN" altLang="en-US" sz="1000">
              <a:solidFill>
                <a:srgbClr val="2121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154BC82-0E1C-F0E6-10B7-BEC833A7FD3D}"/>
              </a:ext>
            </a:extLst>
          </p:cNvPr>
          <p:cNvSpPr txBox="1"/>
          <p:nvPr/>
        </p:nvSpPr>
        <p:spPr>
          <a:xfrm>
            <a:off x="3302000" y="3327400"/>
            <a:ext cx="2286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000" b="1">
                <a:solidFill>
                  <a:srgbClr val="3643F4"/>
                </a:solidFill>
                <a:latin typeface="Microsoft YaHei" panose="020B0503020204020204" pitchFamily="34" charset="-122"/>
              </a:rPr>
              <a:t>$186</a:t>
            </a:r>
            <a:r>
              <a:rPr lang="zh-CN" altLang="en-US" sz="1000" b="1">
                <a:solidFill>
                  <a:srgbClr val="3643F4"/>
                </a:solidFill>
                <a:latin typeface="Microsoft YaHei" panose="020B0503020204020204" pitchFamily="34" charset="-122"/>
              </a:rPr>
              <a:t>亿 </a:t>
            </a:r>
            <a:r>
              <a:rPr lang="en-US" altLang="zh-CN" sz="1000" b="1">
                <a:solidFill>
                  <a:srgbClr val="3643F4"/>
                </a:solidFill>
                <a:latin typeface="Microsoft YaHei" panose="020B0503020204020204" pitchFamily="34" charset="-122"/>
              </a:rPr>
              <a:t>(30</a:t>
            </a:r>
            <a:r>
              <a:rPr lang="zh-CN" altLang="en-US" sz="1000" b="1">
                <a:solidFill>
                  <a:srgbClr val="3643F4"/>
                </a:solidFill>
                <a:latin typeface="Microsoft YaHei" panose="020B0503020204020204" pitchFamily="34" charset="-122"/>
              </a:rPr>
              <a:t>年低点</a:t>
            </a:r>
            <a:r>
              <a:rPr lang="en-US" altLang="zh-CN" sz="1000" b="1">
                <a:solidFill>
                  <a:srgbClr val="3643F4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000" b="1">
              <a:solidFill>
                <a:srgbClr val="3643F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76A7E26-1FF6-C9C8-9153-57BD183D052B}"/>
              </a:ext>
            </a:extLst>
          </p:cNvPr>
          <p:cNvSpPr txBox="1"/>
          <p:nvPr/>
        </p:nvSpPr>
        <p:spPr>
          <a:xfrm>
            <a:off x="635000" y="3606800"/>
            <a:ext cx="254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2025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年实际使用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FDI</a:t>
            </a:r>
            <a:endParaRPr lang="zh-CN" altLang="en-US" sz="1000">
              <a:solidFill>
                <a:srgbClr val="2121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FE1DB77-6280-D335-5C52-4855E5190310}"/>
              </a:ext>
            </a:extLst>
          </p:cNvPr>
          <p:cNvSpPr txBox="1"/>
          <p:nvPr/>
        </p:nvSpPr>
        <p:spPr>
          <a:xfrm>
            <a:off x="3302000" y="3606800"/>
            <a:ext cx="2286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000" b="1">
                <a:solidFill>
                  <a:srgbClr val="3643F4"/>
                </a:solidFill>
                <a:latin typeface="Microsoft YaHei" panose="020B0503020204020204" pitchFamily="34" charset="-122"/>
              </a:rPr>
              <a:t>$1047</a:t>
            </a:r>
            <a:r>
              <a:rPr lang="zh-CN" altLang="en-US" sz="1000" b="1">
                <a:solidFill>
                  <a:srgbClr val="3643F4"/>
                </a:solidFill>
                <a:latin typeface="Microsoft YaHei" panose="020B0503020204020204" pitchFamily="34" charset="-122"/>
              </a:rPr>
              <a:t>亿 </a:t>
            </a:r>
            <a:r>
              <a:rPr lang="en-US" altLang="zh-CN" sz="1000" b="1">
                <a:solidFill>
                  <a:srgbClr val="3643F4"/>
                </a:solidFill>
                <a:latin typeface="Microsoft YaHei" panose="020B0503020204020204" pitchFamily="34" charset="-122"/>
              </a:rPr>
              <a:t>(-9.5% YoY)</a:t>
            </a:r>
            <a:endParaRPr lang="zh-CN" altLang="en-US" sz="1000" b="1">
              <a:solidFill>
                <a:srgbClr val="3643F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4D545F3-A017-2D99-98DB-18AF5C38F4AA}"/>
              </a:ext>
            </a:extLst>
          </p:cNvPr>
          <p:cNvSpPr txBox="1"/>
          <p:nvPr/>
        </p:nvSpPr>
        <p:spPr>
          <a:xfrm>
            <a:off x="635000" y="3886200"/>
            <a:ext cx="254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2025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新设外企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7048B98-8F0B-04E0-CC85-8709467A5C74}"/>
              </a:ext>
            </a:extLst>
          </p:cNvPr>
          <p:cNvSpPr txBox="1"/>
          <p:nvPr/>
        </p:nvSpPr>
        <p:spPr>
          <a:xfrm>
            <a:off x="3302000" y="3886200"/>
            <a:ext cx="2286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000" b="1">
                <a:solidFill>
                  <a:srgbClr val="50AF4C"/>
                </a:solidFill>
                <a:latin typeface="Microsoft YaHei" panose="020B0503020204020204" pitchFamily="34" charset="-122"/>
              </a:rPr>
              <a:t>70,392</a:t>
            </a:r>
            <a:r>
              <a:rPr lang="zh-CN" altLang="en-US" sz="1000" b="1">
                <a:solidFill>
                  <a:srgbClr val="50AF4C"/>
                </a:solidFill>
                <a:latin typeface="Microsoft YaHei" panose="020B0503020204020204" pitchFamily="34" charset="-122"/>
              </a:rPr>
              <a:t>家 </a:t>
            </a:r>
            <a:r>
              <a:rPr lang="en-US" altLang="zh-CN" sz="1000" b="1">
                <a:solidFill>
                  <a:srgbClr val="50AF4C"/>
                </a:solidFill>
                <a:latin typeface="Microsoft YaHei" panose="020B0503020204020204" pitchFamily="34" charset="-122"/>
              </a:rPr>
              <a:t>(+19.1%)</a:t>
            </a:r>
            <a:endParaRPr lang="zh-CN" altLang="en-US" sz="1000" b="1">
              <a:solidFill>
                <a:srgbClr val="50AF4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2D558ED-E428-4F68-CF2E-46DFDADFA7F9}"/>
              </a:ext>
            </a:extLst>
          </p:cNvPr>
          <p:cNvSpPr txBox="1"/>
          <p:nvPr/>
        </p:nvSpPr>
        <p:spPr>
          <a:xfrm>
            <a:off x="635000" y="4165600"/>
            <a:ext cx="254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高科技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FDI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占比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62C03F1-39B1-CE01-7AB3-D54F137601CA}"/>
              </a:ext>
            </a:extLst>
          </p:cNvPr>
          <p:cNvSpPr txBox="1"/>
          <p:nvPr/>
        </p:nvSpPr>
        <p:spPr>
          <a:xfrm>
            <a:off x="3302000" y="4165600"/>
            <a:ext cx="2286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000" b="1">
                <a:solidFill>
                  <a:srgbClr val="212121"/>
                </a:solidFill>
                <a:latin typeface="Microsoft YaHei" panose="020B0503020204020204" pitchFamily="34" charset="-122"/>
              </a:rPr>
              <a:t>32.3%</a:t>
            </a:r>
            <a:endParaRPr lang="zh-CN" altLang="en-US" sz="1000" b="1">
              <a:solidFill>
                <a:srgbClr val="2121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9F96E11-F695-BD56-20E2-F6A3AFD8997E}"/>
              </a:ext>
            </a:extLst>
          </p:cNvPr>
          <p:cNvSpPr txBox="1"/>
          <p:nvPr/>
        </p:nvSpPr>
        <p:spPr>
          <a:xfrm>
            <a:off x="635000" y="4445000"/>
            <a:ext cx="254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2026.1-4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高科技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FDI</a:t>
            </a:r>
            <a:endParaRPr lang="zh-CN" altLang="en-US" sz="1000">
              <a:solidFill>
                <a:srgbClr val="2121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9155250-FF49-44B9-9EDC-EC114DD51779}"/>
              </a:ext>
            </a:extLst>
          </p:cNvPr>
          <p:cNvSpPr txBox="1"/>
          <p:nvPr/>
        </p:nvSpPr>
        <p:spPr>
          <a:xfrm>
            <a:off x="3302000" y="4445000"/>
            <a:ext cx="2286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000" b="1">
                <a:solidFill>
                  <a:srgbClr val="50AF4C"/>
                </a:solidFill>
                <a:latin typeface="Microsoft YaHei" panose="020B0503020204020204" pitchFamily="34" charset="-122"/>
              </a:rPr>
              <a:t>+20.3% (</a:t>
            </a:r>
            <a:r>
              <a:rPr lang="zh-CN" altLang="en-US" sz="1000" b="1">
                <a:solidFill>
                  <a:srgbClr val="50AF4C"/>
                </a:solidFill>
                <a:latin typeface="Microsoft YaHei" panose="020B0503020204020204" pitchFamily="34" charset="-122"/>
              </a:rPr>
              <a:t>占</a:t>
            </a:r>
            <a:r>
              <a:rPr lang="en-US" altLang="zh-CN" sz="1000" b="1">
                <a:solidFill>
                  <a:srgbClr val="50AF4C"/>
                </a:solidFill>
                <a:latin typeface="Microsoft YaHei" panose="020B0503020204020204" pitchFamily="34" charset="-122"/>
              </a:rPr>
              <a:t>40.4%)</a:t>
            </a:r>
            <a:endParaRPr lang="zh-CN" altLang="en-US" sz="1000" b="1">
              <a:solidFill>
                <a:srgbClr val="50AF4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12802CFC-5EEC-D218-8F77-5EFD5038D619}"/>
              </a:ext>
            </a:extLst>
          </p:cNvPr>
          <p:cNvSpPr txBox="1"/>
          <p:nvPr/>
        </p:nvSpPr>
        <p:spPr>
          <a:xfrm>
            <a:off x="6350000" y="2921000"/>
            <a:ext cx="5080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 b="1">
                <a:solidFill>
                  <a:srgbClr val="212121"/>
                </a:solidFill>
                <a:latin typeface="Microsoft YaHei" panose="020B0503020204020204" pitchFamily="34" charset="-122"/>
              </a:rPr>
              <a:t>▎新兴市场组合资本流动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0D3C05A-C7E1-F0DE-6AC7-98D83844ECFB}"/>
              </a:ext>
            </a:extLst>
          </p:cNvPr>
          <p:cNvSpPr txBox="1"/>
          <p:nvPr/>
        </p:nvSpPr>
        <p:spPr>
          <a:xfrm>
            <a:off x="6477000" y="3327400"/>
            <a:ext cx="1778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2026.01</a:t>
            </a:r>
            <a:endParaRPr lang="zh-CN" altLang="en-US" sz="1000">
              <a:solidFill>
                <a:srgbClr val="2121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0F93594B-E31A-9BD5-CA98-74B3C9AFE3C4}"/>
              </a:ext>
            </a:extLst>
          </p:cNvPr>
          <p:cNvSpPr txBox="1"/>
          <p:nvPr/>
        </p:nvSpPr>
        <p:spPr>
          <a:xfrm>
            <a:off x="8382000" y="3327400"/>
            <a:ext cx="254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000" b="1">
                <a:solidFill>
                  <a:srgbClr val="50AF4C"/>
                </a:solidFill>
                <a:latin typeface="Microsoft YaHei" panose="020B0503020204020204" pitchFamily="34" charset="-122"/>
              </a:rPr>
              <a:t>$988</a:t>
            </a:r>
            <a:r>
              <a:rPr lang="zh-CN" altLang="en-US" sz="1000" b="1">
                <a:solidFill>
                  <a:srgbClr val="50AF4C"/>
                </a:solidFill>
                <a:latin typeface="Microsoft YaHei" panose="020B0503020204020204" pitchFamily="34" charset="-122"/>
              </a:rPr>
              <a:t>亿流入 </a:t>
            </a:r>
            <a:r>
              <a:rPr lang="en-US" altLang="zh-CN" sz="1000" b="1">
                <a:solidFill>
                  <a:srgbClr val="50AF4C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000" b="1">
                <a:solidFill>
                  <a:srgbClr val="50AF4C"/>
                </a:solidFill>
                <a:latin typeface="Microsoft YaHei" panose="020B0503020204020204" pitchFamily="34" charset="-122"/>
              </a:rPr>
              <a:t>史上最强</a:t>
            </a:r>
            <a:r>
              <a:rPr lang="en-US" altLang="zh-CN" sz="1000" b="1">
                <a:solidFill>
                  <a:srgbClr val="50AF4C"/>
                </a:solidFill>
                <a:latin typeface="Microsoft YaHei" panose="020B0503020204020204" pitchFamily="34" charset="-122"/>
              </a:rPr>
              <a:t>1</a:t>
            </a:r>
            <a:r>
              <a:rPr lang="zh-CN" altLang="en-US" sz="1000" b="1">
                <a:solidFill>
                  <a:srgbClr val="50AF4C"/>
                </a:solidFill>
                <a:latin typeface="Microsoft YaHei" panose="020B0503020204020204" pitchFamily="34" charset="-122"/>
              </a:rPr>
              <a:t>月</a:t>
            </a:r>
            <a:r>
              <a:rPr lang="en-US" altLang="zh-CN" sz="1000" b="1">
                <a:solidFill>
                  <a:srgbClr val="50AF4C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000" b="1">
              <a:solidFill>
                <a:srgbClr val="50AF4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A0FC0778-C0DD-8F99-4023-4CABB25E5291}"/>
              </a:ext>
            </a:extLst>
          </p:cNvPr>
          <p:cNvSpPr txBox="1"/>
          <p:nvPr/>
        </p:nvSpPr>
        <p:spPr>
          <a:xfrm>
            <a:off x="6477000" y="3606800"/>
            <a:ext cx="1778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2025.12</a:t>
            </a:r>
            <a:endParaRPr lang="zh-CN" altLang="en-US" sz="1000">
              <a:solidFill>
                <a:srgbClr val="2121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0644400-68AB-C98A-8846-BC57335790CE}"/>
              </a:ext>
            </a:extLst>
          </p:cNvPr>
          <p:cNvSpPr txBox="1"/>
          <p:nvPr/>
        </p:nvSpPr>
        <p:spPr>
          <a:xfrm>
            <a:off x="8382000" y="3606800"/>
            <a:ext cx="254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000" b="1">
                <a:solidFill>
                  <a:srgbClr val="50AF4C"/>
                </a:solidFill>
                <a:latin typeface="Microsoft YaHei" panose="020B0503020204020204" pitchFamily="34" charset="-122"/>
              </a:rPr>
              <a:t>$367</a:t>
            </a:r>
            <a:r>
              <a:rPr lang="zh-CN" altLang="en-US" sz="1000" b="1">
                <a:solidFill>
                  <a:srgbClr val="50AF4C"/>
                </a:solidFill>
                <a:latin typeface="Microsoft YaHei" panose="020B0503020204020204" pitchFamily="34" charset="-122"/>
              </a:rPr>
              <a:t>亿流入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EB8FFDB-65E7-D5D9-FE65-E19623A76AF3}"/>
              </a:ext>
            </a:extLst>
          </p:cNvPr>
          <p:cNvSpPr txBox="1"/>
          <p:nvPr/>
        </p:nvSpPr>
        <p:spPr>
          <a:xfrm>
            <a:off x="6477000" y="3886200"/>
            <a:ext cx="1778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2025.11</a:t>
            </a:r>
            <a:endParaRPr lang="zh-CN" altLang="en-US" sz="1000">
              <a:solidFill>
                <a:srgbClr val="2121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D384723B-8539-C47F-EDB2-DB782A9CA839}"/>
              </a:ext>
            </a:extLst>
          </p:cNvPr>
          <p:cNvSpPr txBox="1"/>
          <p:nvPr/>
        </p:nvSpPr>
        <p:spPr>
          <a:xfrm>
            <a:off x="8382000" y="3886200"/>
            <a:ext cx="254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000" b="1">
                <a:solidFill>
                  <a:srgbClr val="3643F4"/>
                </a:solidFill>
                <a:latin typeface="Microsoft YaHei" panose="020B0503020204020204" pitchFamily="34" charset="-122"/>
              </a:rPr>
              <a:t>-$39</a:t>
            </a:r>
            <a:r>
              <a:rPr lang="zh-CN" altLang="en-US" sz="1000" b="1">
                <a:solidFill>
                  <a:srgbClr val="3643F4"/>
                </a:solidFill>
                <a:latin typeface="Microsoft YaHei" panose="020B0503020204020204" pitchFamily="34" charset="-122"/>
              </a:rPr>
              <a:t>亿流出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F1A72FC0-DC30-85A8-D5D5-F4B6368A2EBE}"/>
              </a:ext>
            </a:extLst>
          </p:cNvPr>
          <p:cNvSpPr txBox="1"/>
          <p:nvPr/>
        </p:nvSpPr>
        <p:spPr>
          <a:xfrm>
            <a:off x="6477000" y="4165600"/>
            <a:ext cx="1778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EM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增长预期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5B585A32-F94E-869A-329C-D02DB354426E}"/>
              </a:ext>
            </a:extLst>
          </p:cNvPr>
          <p:cNvSpPr txBox="1"/>
          <p:nvPr/>
        </p:nvSpPr>
        <p:spPr>
          <a:xfrm>
            <a:off x="8382000" y="4165600"/>
            <a:ext cx="254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000" b="1">
                <a:solidFill>
                  <a:srgbClr val="50AF4C"/>
                </a:solidFill>
                <a:latin typeface="Microsoft YaHei" panose="020B0503020204020204" pitchFamily="34" charset="-122"/>
              </a:rPr>
              <a:t>~3.7% (</a:t>
            </a:r>
            <a:r>
              <a:rPr lang="zh-CN" altLang="en-US" sz="1000" b="1">
                <a:solidFill>
                  <a:srgbClr val="50AF4C"/>
                </a:solidFill>
                <a:latin typeface="Microsoft YaHei" panose="020B0503020204020204" pitchFamily="34" charset="-122"/>
              </a:rPr>
              <a:t>发达经济体</a:t>
            </a:r>
            <a:r>
              <a:rPr lang="en-US" altLang="zh-CN" sz="1000" b="1">
                <a:solidFill>
                  <a:srgbClr val="50AF4C"/>
                </a:solidFill>
                <a:latin typeface="Microsoft YaHei" panose="020B0503020204020204" pitchFamily="34" charset="-122"/>
              </a:rPr>
              <a:t>2</a:t>
            </a:r>
            <a:r>
              <a:rPr lang="zh-CN" altLang="en-US" sz="1000" b="1">
                <a:solidFill>
                  <a:srgbClr val="50AF4C"/>
                </a:solidFill>
                <a:latin typeface="Microsoft YaHei" panose="020B0503020204020204" pitchFamily="34" charset="-122"/>
              </a:rPr>
              <a:t>倍</a:t>
            </a:r>
            <a:r>
              <a:rPr lang="en-US" altLang="zh-CN" sz="1000" b="1">
                <a:solidFill>
                  <a:srgbClr val="50AF4C"/>
                </a:solidFill>
                <a:latin typeface="Microsoft YaHei" panose="020B0503020204020204" pitchFamily="34" charset="-122"/>
              </a:rPr>
              <a:t>+)</a:t>
            </a:r>
            <a:endParaRPr lang="zh-CN" altLang="en-US" sz="1000" b="1">
              <a:solidFill>
                <a:srgbClr val="50AF4C"/>
              </a:solidFill>
              <a:latin typeface="Microsoft YaHei" panose="020B0503020204020204" pitchFamily="34" charset="-122"/>
            </a:endParaRPr>
          </a:p>
        </p:txBody>
      </p:sp>
      <p:pic>
        <p:nvPicPr>
          <p:cNvPr id="43" name="图片 42">
            <a:extLst>
              <a:ext uri="{FF2B5EF4-FFF2-40B4-BE49-F238E27FC236}">
                <a16:creationId xmlns:a16="http://schemas.microsoft.com/office/drawing/2014/main" id="{3293E89E-50C2-FFFE-480D-389ABD4B6A2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0" y="4699000"/>
            <a:ext cx="2794000" cy="1524000"/>
          </a:xfrm>
          <a:prstGeom prst="rect">
            <a:avLst/>
          </a:prstGeom>
          <a:effectLst>
            <a:outerShdw blurRad="63500" dist="37357" dir="2700000" rotWithShape="0">
              <a:scrgbClr r="0" g="0" b="0"/>
            </a:outerShdw>
          </a:effectLst>
        </p:spPr>
      </p:pic>
      <p:sp>
        <p:nvSpPr>
          <p:cNvPr id="44" name="矩形 43">
            <a:extLst>
              <a:ext uri="{FF2B5EF4-FFF2-40B4-BE49-F238E27FC236}">
                <a16:creationId xmlns:a16="http://schemas.microsoft.com/office/drawing/2014/main" id="{659CD4C1-38A1-544E-CF86-B361FD3E8208}"/>
              </a:ext>
            </a:extLst>
          </p:cNvPr>
          <p:cNvSpPr/>
          <p:nvPr/>
        </p:nvSpPr>
        <p:spPr>
          <a:xfrm>
            <a:off x="9271000" y="4699000"/>
            <a:ext cx="2667000" cy="1524000"/>
          </a:xfrm>
          <a:prstGeom prst="rect">
            <a:avLst/>
          </a:prstGeom>
          <a:solidFill>
            <a:srgbClr val="FDF2E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4D9405B-1843-350C-54EB-971C7C76A293}"/>
              </a:ext>
            </a:extLst>
          </p:cNvPr>
          <p:cNvSpPr txBox="1"/>
          <p:nvPr/>
        </p:nvSpPr>
        <p:spPr>
          <a:xfrm>
            <a:off x="9398000" y="4826000"/>
            <a:ext cx="2413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💡 资本从美国向全球轮动；弱美元利好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EM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基建成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FDI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新引擎。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FFD2236-67C0-7EF0-AA49-EB43E48E68B0}"/>
              </a:ext>
            </a:extLst>
          </p:cNvPr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32231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12DC8944-B2E1-53EB-AB0E-D5373D535BE1}"/>
              </a:ext>
            </a:extLst>
          </p:cNvPr>
          <p:cNvSpPr txBox="1"/>
          <p:nvPr/>
        </p:nvSpPr>
        <p:spPr>
          <a:xfrm>
            <a:off x="508000" y="6540500"/>
            <a:ext cx="7620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800">
                <a:solidFill>
                  <a:srgbClr val="FFFFFF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sz="800">
                <a:solidFill>
                  <a:srgbClr val="FFFFFF"/>
                </a:solidFill>
                <a:latin typeface="Microsoft YaHei" panose="020B0503020204020204" pitchFamily="34" charset="-122"/>
              </a:rPr>
              <a:t>资本泡沫与全球经济走势分析 </a:t>
            </a:r>
            <a:r>
              <a:rPr lang="en-US" altLang="zh-CN" sz="800">
                <a:solidFill>
                  <a:srgbClr val="FFFFFF"/>
                </a:solidFill>
                <a:latin typeface="Microsoft YaHei" panose="020B0503020204020204" pitchFamily="34" charset="-122"/>
              </a:rPr>
              <a:t>| 2026</a:t>
            </a:r>
            <a:endParaRPr lang="zh-CN" altLang="en-US" sz="800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48538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692B287F-BC64-EFFA-CB47-F3FD9725D9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2E3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296A30C-ED4D-5045-56C9-DC8BDDCA9A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1C123B9-793C-385B-8CAC-D2170B48D916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F3962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0587184-FFC4-531C-BBF6-6D365A7A609E}"/>
              </a:ext>
            </a:extLst>
          </p:cNvPr>
          <p:cNvSpPr txBox="1"/>
          <p:nvPr/>
        </p:nvSpPr>
        <p:spPr>
          <a:xfrm>
            <a:off x="508000" y="317500"/>
            <a:ext cx="762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3600" b="1">
                <a:solidFill>
                  <a:srgbClr val="F39621"/>
                </a:solidFill>
                <a:latin typeface="Microsoft YaHei" panose="020B0503020204020204" pitchFamily="34" charset="-122"/>
              </a:rPr>
              <a:t>06</a:t>
            </a:r>
            <a:endParaRPr lang="zh-CN" altLang="en-US" sz="3600" b="1">
              <a:solidFill>
                <a:srgbClr val="F396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5F454BA-FB8F-9FCB-1792-0B8EBD52CE05}"/>
              </a:ext>
            </a:extLst>
          </p:cNvPr>
          <p:cNvSpPr/>
          <p:nvPr/>
        </p:nvSpPr>
        <p:spPr>
          <a:xfrm>
            <a:off x="1270000" y="381000"/>
            <a:ext cx="25400" cy="381000"/>
          </a:xfrm>
          <a:prstGeom prst="rect">
            <a:avLst/>
          </a:prstGeom>
          <a:solidFill>
            <a:srgbClr val="F3962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E9EB9E7-E863-25C9-8FF4-5292E25BF6F4}"/>
              </a:ext>
            </a:extLst>
          </p:cNvPr>
          <p:cNvSpPr txBox="1"/>
          <p:nvPr/>
        </p:nvSpPr>
        <p:spPr>
          <a:xfrm>
            <a:off x="1460500" y="317500"/>
            <a:ext cx="889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 b="1">
                <a:solidFill>
                  <a:srgbClr val="212121"/>
                </a:solidFill>
                <a:latin typeface="Microsoft YaHei" panose="020B0503020204020204" pitchFamily="34" charset="-122"/>
              </a:rPr>
              <a:t>中国</a:t>
            </a:r>
            <a:r>
              <a:rPr lang="en-US" altLang="zh-CN" sz="2400" b="1">
                <a:solidFill>
                  <a:srgbClr val="212121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sz="2400" b="1">
                <a:solidFill>
                  <a:srgbClr val="212121"/>
                </a:solidFill>
                <a:latin typeface="Microsoft YaHei" panose="020B0503020204020204" pitchFamily="34" charset="-122"/>
              </a:rPr>
              <a:t>产业与经济转型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3A570E1-2AC7-DE33-BED1-4ED03E2A2FEF}"/>
              </a:ext>
            </a:extLst>
          </p:cNvPr>
          <p:cNvSpPr txBox="1"/>
          <p:nvPr/>
        </p:nvSpPr>
        <p:spPr>
          <a:xfrm>
            <a:off x="1460500" y="787400"/>
            <a:ext cx="889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200">
                <a:solidFill>
                  <a:srgbClr val="757575"/>
                </a:solidFill>
                <a:latin typeface="Microsoft YaHei" panose="020B0503020204020204" pitchFamily="34" charset="-122"/>
              </a:rPr>
              <a:t>新质生产力 </a:t>
            </a:r>
            <a:r>
              <a:rPr lang="en-US" altLang="zh-CN" sz="1200">
                <a:solidFill>
                  <a:srgbClr val="757575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757575"/>
                </a:solidFill>
                <a:latin typeface="Microsoft YaHei" panose="020B0503020204020204" pitchFamily="34" charset="-122"/>
              </a:rPr>
              <a:t>产业升级 </a:t>
            </a:r>
            <a:r>
              <a:rPr lang="en-US" altLang="zh-CN" sz="1200">
                <a:solidFill>
                  <a:srgbClr val="757575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757575"/>
                </a:solidFill>
                <a:latin typeface="Microsoft YaHei" panose="020B0503020204020204" pitchFamily="34" charset="-122"/>
              </a:rPr>
              <a:t>技术自主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345F500-C07B-660E-384A-8E888F6E3500}"/>
              </a:ext>
            </a:extLst>
          </p:cNvPr>
          <p:cNvSpPr/>
          <p:nvPr/>
        </p:nvSpPr>
        <p:spPr>
          <a:xfrm>
            <a:off x="508000" y="1206500"/>
            <a:ext cx="11176000" cy="12700"/>
          </a:xfrm>
          <a:prstGeom prst="rect">
            <a:avLst/>
          </a:prstGeom>
          <a:solidFill>
            <a:srgbClr val="E0E0E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E11492D-7F01-F0EE-3F76-13B920F4F04F}"/>
              </a:ext>
            </a:extLst>
          </p:cNvPr>
          <p:cNvSpPr txBox="1"/>
          <p:nvPr/>
        </p:nvSpPr>
        <p:spPr>
          <a:xfrm>
            <a:off x="508000" y="1397000"/>
            <a:ext cx="6350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 b="1">
                <a:solidFill>
                  <a:srgbClr val="212121"/>
                </a:solidFill>
                <a:latin typeface="Microsoft YaHei" panose="020B0503020204020204" pitchFamily="34" charset="-122"/>
              </a:rPr>
              <a:t>▎中国</a:t>
            </a:r>
            <a:r>
              <a:rPr lang="en-US" altLang="zh-CN" sz="1300" b="1">
                <a:solidFill>
                  <a:srgbClr val="212121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sz="1300" b="1">
                <a:solidFill>
                  <a:srgbClr val="212121"/>
                </a:solidFill>
                <a:latin typeface="Microsoft YaHei" panose="020B0503020204020204" pitchFamily="34" charset="-122"/>
              </a:rPr>
              <a:t>产业全景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FE5703F-A5FB-9F7C-1D4D-9CB90AF39109}"/>
              </a:ext>
            </a:extLst>
          </p:cNvPr>
          <p:cNvSpPr/>
          <p:nvPr/>
        </p:nvSpPr>
        <p:spPr>
          <a:xfrm>
            <a:off x="635000" y="1879600"/>
            <a:ext cx="50800" cy="177800"/>
          </a:xfrm>
          <a:prstGeom prst="rect">
            <a:avLst/>
          </a:prstGeom>
          <a:solidFill>
            <a:srgbClr val="F3962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E8D57CD-C162-100C-B585-6E840900AE91}"/>
              </a:ext>
            </a:extLst>
          </p:cNvPr>
          <p:cNvSpPr txBox="1"/>
          <p:nvPr/>
        </p:nvSpPr>
        <p:spPr>
          <a:xfrm>
            <a:off x="825500" y="1841500"/>
            <a:ext cx="2286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>
                <a:solidFill>
                  <a:srgbClr val="212121"/>
                </a:solidFill>
                <a:latin typeface="Microsoft YaHei" panose="020B0503020204020204" pitchFamily="34" charset="-122"/>
              </a:rPr>
              <a:t>核心产业规模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C2B181E-F86D-F421-269C-BE9651959B63}"/>
              </a:ext>
            </a:extLst>
          </p:cNvPr>
          <p:cNvSpPr txBox="1"/>
          <p:nvPr/>
        </p:nvSpPr>
        <p:spPr>
          <a:xfrm>
            <a:off x="3175000" y="1841500"/>
            <a:ext cx="254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 b="1">
                <a:solidFill>
                  <a:srgbClr val="F39621"/>
                </a:solidFill>
                <a:latin typeface="Microsoft YaHei" panose="020B0503020204020204" pitchFamily="34" charset="-122"/>
              </a:rPr>
              <a:t>¥1.2</a:t>
            </a:r>
            <a:r>
              <a:rPr lang="zh-CN" altLang="en-US" sz="1100" b="1">
                <a:solidFill>
                  <a:srgbClr val="F39621"/>
                </a:solidFill>
                <a:latin typeface="Microsoft YaHei" panose="020B0503020204020204" pitchFamily="34" charset="-122"/>
              </a:rPr>
              <a:t>万亿 </a:t>
            </a:r>
            <a:r>
              <a:rPr lang="en-US" altLang="zh-CN" sz="1100" b="1">
                <a:solidFill>
                  <a:srgbClr val="F39621"/>
                </a:solidFill>
                <a:latin typeface="Microsoft YaHei" panose="020B0503020204020204" pitchFamily="34" charset="-122"/>
              </a:rPr>
              <a:t>($1700</a:t>
            </a:r>
            <a:r>
              <a:rPr lang="zh-CN" altLang="en-US" sz="1100" b="1">
                <a:solidFill>
                  <a:srgbClr val="F39621"/>
                </a:solidFill>
                <a:latin typeface="Microsoft YaHei" panose="020B0503020204020204" pitchFamily="34" charset="-122"/>
              </a:rPr>
              <a:t>亿</a:t>
            </a:r>
            <a:r>
              <a:rPr lang="en-US" altLang="zh-CN" sz="1100" b="1">
                <a:solidFill>
                  <a:srgbClr val="F39621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100" b="1">
              <a:solidFill>
                <a:srgbClr val="F396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26731B6-3E39-4E82-2FDD-82F808FA54AF}"/>
              </a:ext>
            </a:extLst>
          </p:cNvPr>
          <p:cNvSpPr/>
          <p:nvPr/>
        </p:nvSpPr>
        <p:spPr>
          <a:xfrm>
            <a:off x="635000" y="2209800"/>
            <a:ext cx="50800" cy="177800"/>
          </a:xfrm>
          <a:prstGeom prst="rect">
            <a:avLst/>
          </a:prstGeom>
          <a:solidFill>
            <a:srgbClr val="F3962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EE10BEB-76AD-D1E4-FF67-B1DAD42283D1}"/>
              </a:ext>
            </a:extLst>
          </p:cNvPr>
          <p:cNvSpPr txBox="1"/>
          <p:nvPr/>
        </p:nvSpPr>
        <p:spPr>
          <a:xfrm>
            <a:off x="825500" y="2171700"/>
            <a:ext cx="2286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>
                <a:solidFill>
                  <a:srgbClr val="212121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sz="1100">
                <a:solidFill>
                  <a:srgbClr val="212121"/>
                </a:solidFill>
                <a:latin typeface="Microsoft YaHei" panose="020B0503020204020204" pitchFamily="34" charset="-122"/>
              </a:rPr>
              <a:t>企业数量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14B2BAB-C861-368B-67CB-88FEF024579C}"/>
              </a:ext>
            </a:extLst>
          </p:cNvPr>
          <p:cNvSpPr txBox="1"/>
          <p:nvPr/>
        </p:nvSpPr>
        <p:spPr>
          <a:xfrm>
            <a:off x="3175000" y="2171700"/>
            <a:ext cx="254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 b="1">
                <a:solidFill>
                  <a:srgbClr val="F39621"/>
                </a:solidFill>
                <a:latin typeface="Microsoft YaHei" panose="020B0503020204020204" pitchFamily="34" charset="-122"/>
              </a:rPr>
              <a:t>6,200+</a:t>
            </a:r>
            <a:r>
              <a:rPr lang="zh-CN" altLang="en-US" sz="1100" b="1">
                <a:solidFill>
                  <a:srgbClr val="F39621"/>
                </a:solidFill>
                <a:latin typeface="Microsoft YaHei" panose="020B0503020204020204" pitchFamily="34" charset="-122"/>
              </a:rPr>
              <a:t>家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7818C82-3B07-CBA7-98FF-078D25D88A03}"/>
              </a:ext>
            </a:extLst>
          </p:cNvPr>
          <p:cNvSpPr/>
          <p:nvPr/>
        </p:nvSpPr>
        <p:spPr>
          <a:xfrm>
            <a:off x="635000" y="2540000"/>
            <a:ext cx="50800" cy="177800"/>
          </a:xfrm>
          <a:prstGeom prst="rect">
            <a:avLst/>
          </a:prstGeom>
          <a:solidFill>
            <a:srgbClr val="50AF4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A606B45-5576-3145-082B-E3CFB737639C}"/>
              </a:ext>
            </a:extLst>
          </p:cNvPr>
          <p:cNvSpPr txBox="1"/>
          <p:nvPr/>
        </p:nvSpPr>
        <p:spPr>
          <a:xfrm>
            <a:off x="825500" y="2501900"/>
            <a:ext cx="2286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>
                <a:solidFill>
                  <a:srgbClr val="212121"/>
                </a:solidFill>
                <a:latin typeface="Microsoft YaHei" panose="020B0503020204020204" pitchFamily="34" charset="-122"/>
              </a:rPr>
              <a:t>国家</a:t>
            </a:r>
            <a:r>
              <a:rPr lang="en-US" altLang="zh-CN" sz="1100">
                <a:solidFill>
                  <a:srgbClr val="212121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sz="1100">
                <a:solidFill>
                  <a:srgbClr val="212121"/>
                </a:solidFill>
                <a:latin typeface="Microsoft YaHei" panose="020B0503020204020204" pitchFamily="34" charset="-122"/>
              </a:rPr>
              <a:t>投资基金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4527D1A-7699-A0E0-1742-780E7A489062}"/>
              </a:ext>
            </a:extLst>
          </p:cNvPr>
          <p:cNvSpPr txBox="1"/>
          <p:nvPr/>
        </p:nvSpPr>
        <p:spPr>
          <a:xfrm>
            <a:off x="3175000" y="2501900"/>
            <a:ext cx="254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 b="1">
                <a:solidFill>
                  <a:srgbClr val="50AF4C"/>
                </a:solidFill>
                <a:latin typeface="Microsoft YaHei" panose="020B0503020204020204" pitchFamily="34" charset="-122"/>
              </a:rPr>
              <a:t>¥600</a:t>
            </a:r>
            <a:r>
              <a:rPr lang="zh-CN" altLang="en-US" sz="1100" b="1">
                <a:solidFill>
                  <a:srgbClr val="50AF4C"/>
                </a:solidFill>
                <a:latin typeface="Microsoft YaHei" panose="020B0503020204020204" pitchFamily="34" charset="-122"/>
              </a:rPr>
              <a:t>亿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C5710D9-0557-B901-2846-3BB57EF8F531}"/>
              </a:ext>
            </a:extLst>
          </p:cNvPr>
          <p:cNvSpPr/>
          <p:nvPr/>
        </p:nvSpPr>
        <p:spPr>
          <a:xfrm>
            <a:off x="635000" y="2870200"/>
            <a:ext cx="50800" cy="177800"/>
          </a:xfrm>
          <a:prstGeom prst="rect">
            <a:avLst/>
          </a:prstGeom>
          <a:solidFill>
            <a:srgbClr val="B0279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1570E2C-6B22-E53A-D85D-01DE51A67948}"/>
              </a:ext>
            </a:extLst>
          </p:cNvPr>
          <p:cNvSpPr txBox="1"/>
          <p:nvPr/>
        </p:nvSpPr>
        <p:spPr>
          <a:xfrm>
            <a:off x="825500" y="2832100"/>
            <a:ext cx="2286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>
                <a:solidFill>
                  <a:srgbClr val="212121"/>
                </a:solidFill>
                <a:latin typeface="Microsoft YaHei" panose="020B0503020204020204" pitchFamily="34" charset="-122"/>
              </a:rPr>
              <a:t>智算算力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45B068C-FC53-10C8-EDDC-43F1EFACF2F1}"/>
              </a:ext>
            </a:extLst>
          </p:cNvPr>
          <p:cNvSpPr txBox="1"/>
          <p:nvPr/>
        </p:nvSpPr>
        <p:spPr>
          <a:xfrm>
            <a:off x="3175000" y="2832100"/>
            <a:ext cx="254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 b="1">
                <a:solidFill>
                  <a:srgbClr val="B0279C"/>
                </a:solidFill>
                <a:latin typeface="Microsoft YaHei" panose="020B0503020204020204" pitchFamily="34" charset="-122"/>
              </a:rPr>
              <a:t>1,590 EFLOPS</a:t>
            </a:r>
            <a:endParaRPr lang="zh-CN" altLang="en-US" sz="1100" b="1">
              <a:solidFill>
                <a:srgbClr val="B0279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2792C57-CCDF-BF96-D635-45C1C07F0DF2}"/>
              </a:ext>
            </a:extLst>
          </p:cNvPr>
          <p:cNvSpPr/>
          <p:nvPr/>
        </p:nvSpPr>
        <p:spPr>
          <a:xfrm>
            <a:off x="635000" y="3200400"/>
            <a:ext cx="50800" cy="177800"/>
          </a:xfrm>
          <a:prstGeom prst="rect">
            <a:avLst/>
          </a:prstGeom>
          <a:solidFill>
            <a:srgbClr val="0098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BA43350-E15B-5741-4E75-7CBE0CFA46DE}"/>
              </a:ext>
            </a:extLst>
          </p:cNvPr>
          <p:cNvSpPr txBox="1"/>
          <p:nvPr/>
        </p:nvSpPr>
        <p:spPr>
          <a:xfrm>
            <a:off x="825500" y="3162300"/>
            <a:ext cx="2286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>
                <a:solidFill>
                  <a:srgbClr val="212121"/>
                </a:solidFill>
                <a:latin typeface="Microsoft YaHei" panose="020B0503020204020204" pitchFamily="34" charset="-122"/>
              </a:rPr>
              <a:t>生成式</a:t>
            </a:r>
            <a:r>
              <a:rPr lang="en-US" altLang="zh-CN" sz="1100">
                <a:solidFill>
                  <a:srgbClr val="212121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sz="1100">
                <a:solidFill>
                  <a:srgbClr val="212121"/>
                </a:solidFill>
                <a:latin typeface="Microsoft YaHei" panose="020B0503020204020204" pitchFamily="34" charset="-122"/>
              </a:rPr>
              <a:t>用户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C2D39F9-9C45-E468-A4B1-EB9BA2A46A83}"/>
              </a:ext>
            </a:extLst>
          </p:cNvPr>
          <p:cNvSpPr txBox="1"/>
          <p:nvPr/>
        </p:nvSpPr>
        <p:spPr>
          <a:xfrm>
            <a:off x="3175000" y="3162300"/>
            <a:ext cx="254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 b="1">
                <a:solidFill>
                  <a:srgbClr val="0098FF"/>
                </a:solidFill>
                <a:latin typeface="Microsoft YaHei" panose="020B0503020204020204" pitchFamily="34" charset="-122"/>
              </a:rPr>
              <a:t>6.02</a:t>
            </a:r>
            <a:r>
              <a:rPr lang="zh-CN" altLang="en-US" sz="1100" b="1">
                <a:solidFill>
                  <a:srgbClr val="0098FF"/>
                </a:solidFill>
                <a:latin typeface="Microsoft YaHei" panose="020B0503020204020204" pitchFamily="34" charset="-122"/>
              </a:rPr>
              <a:t>亿 </a:t>
            </a:r>
            <a:r>
              <a:rPr lang="en-US" altLang="zh-CN" sz="1100" b="1">
                <a:solidFill>
                  <a:srgbClr val="0098FF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100" b="1">
                <a:solidFill>
                  <a:srgbClr val="0098FF"/>
                </a:solidFill>
                <a:latin typeface="Microsoft YaHei" panose="020B0503020204020204" pitchFamily="34" charset="-122"/>
              </a:rPr>
              <a:t>全球最大</a:t>
            </a:r>
            <a:r>
              <a:rPr lang="en-US" altLang="zh-CN" sz="1100" b="1">
                <a:solidFill>
                  <a:srgbClr val="0098FF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100" b="1">
              <a:solidFill>
                <a:srgbClr val="0098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EC8DB54-7C75-F843-A534-FC6B59F89ACE}"/>
              </a:ext>
            </a:extLst>
          </p:cNvPr>
          <p:cNvSpPr/>
          <p:nvPr/>
        </p:nvSpPr>
        <p:spPr>
          <a:xfrm>
            <a:off x="635000" y="3530600"/>
            <a:ext cx="50800" cy="177800"/>
          </a:xfrm>
          <a:prstGeom prst="rect">
            <a:avLst/>
          </a:prstGeom>
          <a:solidFill>
            <a:srgbClr val="50AF4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0DB10CE-CA24-C3D1-184F-17BDF2E561EF}"/>
              </a:ext>
            </a:extLst>
          </p:cNvPr>
          <p:cNvSpPr txBox="1"/>
          <p:nvPr/>
        </p:nvSpPr>
        <p:spPr>
          <a:xfrm>
            <a:off x="825500" y="3492500"/>
            <a:ext cx="2286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>
                <a:solidFill>
                  <a:srgbClr val="212121"/>
                </a:solidFill>
                <a:latin typeface="Microsoft YaHei" panose="020B0503020204020204" pitchFamily="34" charset="-122"/>
              </a:rPr>
              <a:t>制造业</a:t>
            </a:r>
            <a:r>
              <a:rPr lang="en-US" altLang="zh-CN" sz="1100">
                <a:solidFill>
                  <a:srgbClr val="212121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sz="1100">
                <a:solidFill>
                  <a:srgbClr val="212121"/>
                </a:solidFill>
                <a:latin typeface="Microsoft YaHei" panose="020B0503020204020204" pitchFamily="34" charset="-122"/>
              </a:rPr>
              <a:t>使用率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DFD2404-F17F-43A7-77AE-F43E6188F69C}"/>
              </a:ext>
            </a:extLst>
          </p:cNvPr>
          <p:cNvSpPr txBox="1"/>
          <p:nvPr/>
        </p:nvSpPr>
        <p:spPr>
          <a:xfrm>
            <a:off x="3175000" y="3492500"/>
            <a:ext cx="254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 b="1">
                <a:solidFill>
                  <a:srgbClr val="50AF4C"/>
                </a:solidFill>
                <a:latin typeface="Microsoft YaHei" panose="020B0503020204020204" pitchFamily="34" charset="-122"/>
              </a:rPr>
              <a:t>&gt;30%</a:t>
            </a:r>
            <a:endParaRPr lang="zh-CN" altLang="en-US" sz="1100" b="1">
              <a:solidFill>
                <a:srgbClr val="50AF4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1D5A917-9F00-118D-02F7-F9A7F63C505A}"/>
              </a:ext>
            </a:extLst>
          </p:cNvPr>
          <p:cNvSpPr txBox="1"/>
          <p:nvPr/>
        </p:nvSpPr>
        <p:spPr>
          <a:xfrm>
            <a:off x="6604000" y="1397000"/>
            <a:ext cx="5080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 b="1">
                <a:solidFill>
                  <a:srgbClr val="212121"/>
                </a:solidFill>
                <a:latin typeface="Microsoft YaHei" panose="020B0503020204020204" pitchFamily="34" charset="-122"/>
              </a:rPr>
              <a:t>▎新能源汽车</a:t>
            </a:r>
            <a:r>
              <a:rPr lang="en-US" altLang="zh-CN" sz="1300" b="1">
                <a:solidFill>
                  <a:srgbClr val="212121"/>
                </a:solidFill>
                <a:latin typeface="Microsoft YaHei" panose="020B0503020204020204" pitchFamily="34" charset="-122"/>
              </a:rPr>
              <a:t>——</a:t>
            </a:r>
            <a:r>
              <a:rPr lang="zh-CN" altLang="en-US" sz="1300" b="1">
                <a:solidFill>
                  <a:srgbClr val="212121"/>
                </a:solidFill>
                <a:latin typeface="Microsoft YaHei" panose="020B0503020204020204" pitchFamily="34" charset="-122"/>
              </a:rPr>
              <a:t>产业转型标杆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A3C0780-8233-4ADB-4262-045DEF08EC09}"/>
              </a:ext>
            </a:extLst>
          </p:cNvPr>
          <p:cNvSpPr/>
          <p:nvPr/>
        </p:nvSpPr>
        <p:spPr>
          <a:xfrm>
            <a:off x="6731000" y="1879600"/>
            <a:ext cx="50800" cy="177800"/>
          </a:xfrm>
          <a:prstGeom prst="rect">
            <a:avLst/>
          </a:prstGeom>
          <a:solidFill>
            <a:srgbClr val="50AF4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BBF1695-09CE-8588-4742-4D184B824DA3}"/>
              </a:ext>
            </a:extLst>
          </p:cNvPr>
          <p:cNvSpPr txBox="1"/>
          <p:nvPr/>
        </p:nvSpPr>
        <p:spPr>
          <a:xfrm>
            <a:off x="6921500" y="1841500"/>
            <a:ext cx="2159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>
                <a:solidFill>
                  <a:srgbClr val="212121"/>
                </a:solidFill>
                <a:latin typeface="Microsoft YaHei" panose="020B0503020204020204" pitchFamily="34" charset="-122"/>
              </a:rPr>
              <a:t>2025 NEV</a:t>
            </a:r>
            <a:r>
              <a:rPr lang="zh-CN" altLang="en-US" sz="1100">
                <a:solidFill>
                  <a:srgbClr val="212121"/>
                </a:solidFill>
                <a:latin typeface="Microsoft YaHei" panose="020B0503020204020204" pitchFamily="34" charset="-122"/>
              </a:rPr>
              <a:t>销量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DF14F42-6BFD-827A-41B1-851635B217CC}"/>
              </a:ext>
            </a:extLst>
          </p:cNvPr>
          <p:cNvSpPr txBox="1"/>
          <p:nvPr/>
        </p:nvSpPr>
        <p:spPr>
          <a:xfrm>
            <a:off x="9144000" y="1841500"/>
            <a:ext cx="2286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 b="1">
                <a:solidFill>
                  <a:srgbClr val="50AF4C"/>
                </a:solidFill>
                <a:latin typeface="Microsoft YaHei" panose="020B0503020204020204" pitchFamily="34" charset="-122"/>
              </a:rPr>
              <a:t>~1300</a:t>
            </a:r>
            <a:r>
              <a:rPr lang="zh-CN" altLang="en-US" sz="1100" b="1">
                <a:solidFill>
                  <a:srgbClr val="50AF4C"/>
                </a:solidFill>
                <a:latin typeface="Microsoft YaHei" panose="020B0503020204020204" pitchFamily="34" charset="-122"/>
              </a:rPr>
              <a:t>万辆</a:t>
            </a:r>
            <a:r>
              <a:rPr lang="en-US" altLang="zh-CN" sz="1100" b="1">
                <a:solidFill>
                  <a:srgbClr val="50AF4C"/>
                </a:solidFill>
                <a:latin typeface="Microsoft YaHei" panose="020B0503020204020204" pitchFamily="34" charset="-122"/>
              </a:rPr>
              <a:t>+</a:t>
            </a:r>
            <a:endParaRPr lang="zh-CN" altLang="en-US" sz="1100" b="1">
              <a:solidFill>
                <a:srgbClr val="50AF4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B88B36C-96EC-C8DC-D401-D88F93CD0F16}"/>
              </a:ext>
            </a:extLst>
          </p:cNvPr>
          <p:cNvSpPr/>
          <p:nvPr/>
        </p:nvSpPr>
        <p:spPr>
          <a:xfrm>
            <a:off x="6731000" y="2209800"/>
            <a:ext cx="50800" cy="177800"/>
          </a:xfrm>
          <a:prstGeom prst="rect">
            <a:avLst/>
          </a:prstGeom>
          <a:solidFill>
            <a:srgbClr val="50AF4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CE7FC3C-0AAA-5489-444B-CEED19DB21F7}"/>
              </a:ext>
            </a:extLst>
          </p:cNvPr>
          <p:cNvSpPr txBox="1"/>
          <p:nvPr/>
        </p:nvSpPr>
        <p:spPr>
          <a:xfrm>
            <a:off x="6921500" y="2171700"/>
            <a:ext cx="2159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>
                <a:solidFill>
                  <a:srgbClr val="212121"/>
                </a:solidFill>
                <a:latin typeface="Microsoft YaHei" panose="020B0503020204020204" pitchFamily="34" charset="-122"/>
              </a:rPr>
              <a:t>NEV</a:t>
            </a:r>
            <a:r>
              <a:rPr lang="zh-CN" altLang="en-US" sz="1100">
                <a:solidFill>
                  <a:srgbClr val="212121"/>
                </a:solidFill>
                <a:latin typeface="Microsoft YaHei" panose="020B0503020204020204" pitchFamily="34" charset="-122"/>
              </a:rPr>
              <a:t>新车销售占比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CA59811-2842-7862-6E96-233396AD6FC9}"/>
              </a:ext>
            </a:extLst>
          </p:cNvPr>
          <p:cNvSpPr txBox="1"/>
          <p:nvPr/>
        </p:nvSpPr>
        <p:spPr>
          <a:xfrm>
            <a:off x="9144000" y="2171700"/>
            <a:ext cx="2286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 b="1">
                <a:solidFill>
                  <a:srgbClr val="50AF4C"/>
                </a:solidFill>
                <a:latin typeface="Microsoft YaHei" panose="020B0503020204020204" pitchFamily="34" charset="-122"/>
              </a:rPr>
              <a:t>&gt;50% (</a:t>
            </a:r>
            <a:r>
              <a:rPr lang="zh-CN" altLang="en-US" sz="1100" b="1">
                <a:solidFill>
                  <a:srgbClr val="50AF4C"/>
                </a:solidFill>
                <a:latin typeface="Microsoft YaHei" panose="020B0503020204020204" pitchFamily="34" charset="-122"/>
              </a:rPr>
              <a:t>峰值</a:t>
            </a:r>
            <a:r>
              <a:rPr lang="en-US" altLang="zh-CN" sz="1100" b="1">
                <a:solidFill>
                  <a:srgbClr val="50AF4C"/>
                </a:solidFill>
                <a:latin typeface="Microsoft YaHei" panose="020B0503020204020204" pitchFamily="34" charset="-122"/>
              </a:rPr>
              <a:t>59%)</a:t>
            </a:r>
            <a:endParaRPr lang="zh-CN" altLang="en-US" sz="1100" b="1">
              <a:solidFill>
                <a:srgbClr val="50AF4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B6616CF-0123-2CAB-8A1A-AAF2427DD609}"/>
              </a:ext>
            </a:extLst>
          </p:cNvPr>
          <p:cNvSpPr/>
          <p:nvPr/>
        </p:nvSpPr>
        <p:spPr>
          <a:xfrm>
            <a:off x="6731000" y="2540000"/>
            <a:ext cx="50800" cy="177800"/>
          </a:xfrm>
          <a:prstGeom prst="rect">
            <a:avLst/>
          </a:prstGeom>
          <a:solidFill>
            <a:srgbClr val="50AF4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C13BA6E-E19C-C286-7BF6-5CA5CC96F085}"/>
              </a:ext>
            </a:extLst>
          </p:cNvPr>
          <p:cNvSpPr txBox="1"/>
          <p:nvPr/>
        </p:nvSpPr>
        <p:spPr>
          <a:xfrm>
            <a:off x="6921500" y="2501900"/>
            <a:ext cx="2159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>
                <a:solidFill>
                  <a:srgbClr val="212121"/>
                </a:solidFill>
                <a:latin typeface="Microsoft YaHei" panose="020B0503020204020204" pitchFamily="34" charset="-122"/>
              </a:rPr>
              <a:t>NEV</a:t>
            </a:r>
            <a:r>
              <a:rPr lang="zh-CN" altLang="en-US" sz="1100">
                <a:solidFill>
                  <a:srgbClr val="212121"/>
                </a:solidFill>
                <a:latin typeface="Microsoft YaHei" panose="020B0503020204020204" pitchFamily="34" charset="-122"/>
              </a:rPr>
              <a:t>出口</a:t>
            </a:r>
            <a:r>
              <a:rPr lang="en-US" altLang="zh-CN" sz="1100">
                <a:solidFill>
                  <a:srgbClr val="212121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100">
                <a:solidFill>
                  <a:srgbClr val="212121"/>
                </a:solidFill>
                <a:latin typeface="Microsoft YaHei" panose="020B0503020204020204" pitchFamily="34" charset="-122"/>
              </a:rPr>
              <a:t>上半年</a:t>
            </a:r>
            <a:r>
              <a:rPr lang="en-US" altLang="zh-CN" sz="1100">
                <a:solidFill>
                  <a:srgbClr val="212121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100">
              <a:solidFill>
                <a:srgbClr val="2121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F3678C5-4615-1804-F549-120DFA0112C3}"/>
              </a:ext>
            </a:extLst>
          </p:cNvPr>
          <p:cNvSpPr txBox="1"/>
          <p:nvPr/>
        </p:nvSpPr>
        <p:spPr>
          <a:xfrm>
            <a:off x="9144000" y="2501900"/>
            <a:ext cx="2286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 b="1">
                <a:solidFill>
                  <a:srgbClr val="50AF4C"/>
                </a:solidFill>
                <a:latin typeface="Microsoft YaHei" panose="020B0503020204020204" pitchFamily="34" charset="-122"/>
              </a:rPr>
              <a:t>98.7</a:t>
            </a:r>
            <a:r>
              <a:rPr lang="zh-CN" altLang="en-US" sz="1100" b="1">
                <a:solidFill>
                  <a:srgbClr val="50AF4C"/>
                </a:solidFill>
                <a:latin typeface="Microsoft YaHei" panose="020B0503020204020204" pitchFamily="34" charset="-122"/>
              </a:rPr>
              <a:t>万辆 </a:t>
            </a:r>
            <a:r>
              <a:rPr lang="en-US" altLang="zh-CN" sz="1100" b="1">
                <a:solidFill>
                  <a:srgbClr val="50AF4C"/>
                </a:solidFill>
                <a:latin typeface="Microsoft YaHei" panose="020B0503020204020204" pitchFamily="34" charset="-122"/>
              </a:rPr>
              <a:t>(+48%)</a:t>
            </a:r>
            <a:endParaRPr lang="zh-CN" altLang="en-US" sz="1100" b="1">
              <a:solidFill>
                <a:srgbClr val="50AF4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6E30796-8359-7D35-41A7-5D50474CC9F4}"/>
              </a:ext>
            </a:extLst>
          </p:cNvPr>
          <p:cNvSpPr/>
          <p:nvPr/>
        </p:nvSpPr>
        <p:spPr>
          <a:xfrm>
            <a:off x="6731000" y="2870200"/>
            <a:ext cx="50800" cy="177800"/>
          </a:xfrm>
          <a:prstGeom prst="rect">
            <a:avLst/>
          </a:prstGeom>
          <a:solidFill>
            <a:srgbClr val="50AF4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30F5759D-7C3D-4A72-2333-C145A08B11AE}"/>
              </a:ext>
            </a:extLst>
          </p:cNvPr>
          <p:cNvSpPr txBox="1"/>
          <p:nvPr/>
        </p:nvSpPr>
        <p:spPr>
          <a:xfrm>
            <a:off x="6921500" y="2832100"/>
            <a:ext cx="2159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>
                <a:solidFill>
                  <a:srgbClr val="212121"/>
                </a:solidFill>
                <a:latin typeface="Microsoft YaHei" panose="020B0503020204020204" pitchFamily="34" charset="-122"/>
              </a:rPr>
              <a:t>全球</a:t>
            </a:r>
            <a:r>
              <a:rPr lang="en-US" altLang="zh-CN" sz="1100">
                <a:solidFill>
                  <a:srgbClr val="212121"/>
                </a:solidFill>
                <a:latin typeface="Microsoft YaHei" panose="020B0503020204020204" pitchFamily="34" charset="-122"/>
              </a:rPr>
              <a:t>BEV</a:t>
            </a:r>
            <a:r>
              <a:rPr lang="zh-CN" altLang="en-US" sz="1100">
                <a:solidFill>
                  <a:srgbClr val="212121"/>
                </a:solidFill>
                <a:latin typeface="Microsoft YaHei" panose="020B0503020204020204" pitchFamily="34" charset="-122"/>
              </a:rPr>
              <a:t>销量</a:t>
            </a:r>
            <a:r>
              <a:rPr lang="en-US" altLang="zh-CN" sz="1100">
                <a:solidFill>
                  <a:srgbClr val="212121"/>
                </a:solidFill>
                <a:latin typeface="Microsoft YaHei" panose="020B0503020204020204" pitchFamily="34" charset="-122"/>
              </a:rPr>
              <a:t>(2025)</a:t>
            </a:r>
            <a:endParaRPr lang="zh-CN" altLang="en-US" sz="1100">
              <a:solidFill>
                <a:srgbClr val="2121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10BE0389-6FEB-211E-30E2-1C7231A93517}"/>
              </a:ext>
            </a:extLst>
          </p:cNvPr>
          <p:cNvSpPr txBox="1"/>
          <p:nvPr/>
        </p:nvSpPr>
        <p:spPr>
          <a:xfrm>
            <a:off x="9144000" y="2832100"/>
            <a:ext cx="2286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 b="1">
                <a:solidFill>
                  <a:srgbClr val="50AF4C"/>
                </a:solidFill>
                <a:latin typeface="Microsoft YaHei" panose="020B0503020204020204" pitchFamily="34" charset="-122"/>
              </a:rPr>
              <a:t>1270</a:t>
            </a:r>
            <a:r>
              <a:rPr lang="zh-CN" altLang="en-US" sz="1100" b="1">
                <a:solidFill>
                  <a:srgbClr val="50AF4C"/>
                </a:solidFill>
                <a:latin typeface="Microsoft YaHei" panose="020B0503020204020204" pitchFamily="34" charset="-122"/>
              </a:rPr>
              <a:t>万辆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C93B8E4E-F8EA-E481-C2B5-AEF6F54FC396}"/>
              </a:ext>
            </a:extLst>
          </p:cNvPr>
          <p:cNvSpPr txBox="1"/>
          <p:nvPr/>
        </p:nvSpPr>
        <p:spPr>
          <a:xfrm>
            <a:off x="508000" y="4064000"/>
            <a:ext cx="6350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 b="1">
                <a:solidFill>
                  <a:srgbClr val="212121"/>
                </a:solidFill>
                <a:latin typeface="Microsoft YaHei" panose="020B0503020204020204" pitchFamily="34" charset="-122"/>
              </a:rPr>
              <a:t>▎研发投入国际对比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71C21FB-2C72-964A-CF4F-49A1C2E9C377}"/>
              </a:ext>
            </a:extLst>
          </p:cNvPr>
          <p:cNvSpPr/>
          <p:nvPr/>
        </p:nvSpPr>
        <p:spPr>
          <a:xfrm>
            <a:off x="635000" y="4546600"/>
            <a:ext cx="50800" cy="177800"/>
          </a:xfrm>
          <a:prstGeom prst="rect">
            <a:avLst/>
          </a:prstGeom>
          <a:solidFill>
            <a:srgbClr val="F3962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A8EAAAF-AAAD-4429-074E-C24816673A90}"/>
              </a:ext>
            </a:extLst>
          </p:cNvPr>
          <p:cNvSpPr txBox="1"/>
          <p:nvPr/>
        </p:nvSpPr>
        <p:spPr>
          <a:xfrm>
            <a:off x="825500" y="4508500"/>
            <a:ext cx="76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 b="1">
                <a:solidFill>
                  <a:srgbClr val="F39621"/>
                </a:solidFill>
                <a:latin typeface="Microsoft YaHei" panose="020B0503020204020204" pitchFamily="34" charset="-122"/>
              </a:rPr>
              <a:t>中国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4965C146-616A-3FA4-1211-5008D8AF7212}"/>
              </a:ext>
            </a:extLst>
          </p:cNvPr>
          <p:cNvSpPr txBox="1"/>
          <p:nvPr/>
        </p:nvSpPr>
        <p:spPr>
          <a:xfrm>
            <a:off x="1651000" y="4508500"/>
            <a:ext cx="1651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¥3.93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万亿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1B587955-E4A7-12E2-2A07-FCEC0B361730}"/>
              </a:ext>
            </a:extLst>
          </p:cNvPr>
          <p:cNvSpPr txBox="1"/>
          <p:nvPr/>
        </p:nvSpPr>
        <p:spPr>
          <a:xfrm>
            <a:off x="3429000" y="4508500"/>
            <a:ext cx="1016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占</a:t>
            </a:r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GDP 2.8%</a:t>
            </a:r>
            <a:endParaRPr lang="zh-CN" altLang="en-US" sz="1000">
              <a:solidFill>
                <a:srgbClr val="7575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0F60E33A-972B-E846-04CC-C02C76B0A09F}"/>
              </a:ext>
            </a:extLst>
          </p:cNvPr>
          <p:cNvSpPr txBox="1"/>
          <p:nvPr/>
        </p:nvSpPr>
        <p:spPr>
          <a:xfrm>
            <a:off x="4572000" y="4508500"/>
            <a:ext cx="76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000" b="1">
                <a:solidFill>
                  <a:srgbClr val="50AF4C"/>
                </a:solidFill>
                <a:latin typeface="Microsoft YaHei" panose="020B0503020204020204" pitchFamily="34" charset="-122"/>
              </a:rPr>
              <a:t>+8.1%</a:t>
            </a:r>
            <a:endParaRPr lang="zh-CN" altLang="en-US" sz="1000" b="1">
              <a:solidFill>
                <a:srgbClr val="50AF4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C84ACE20-B82D-B73A-7C47-A0514031D33D}"/>
              </a:ext>
            </a:extLst>
          </p:cNvPr>
          <p:cNvSpPr/>
          <p:nvPr/>
        </p:nvSpPr>
        <p:spPr>
          <a:xfrm>
            <a:off x="635000" y="4851400"/>
            <a:ext cx="50800" cy="177800"/>
          </a:xfrm>
          <a:prstGeom prst="rect">
            <a:avLst/>
          </a:prstGeom>
          <a:solidFill>
            <a:srgbClr val="3643F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60BD57DB-17CC-4CFC-2C55-7F1971262025}"/>
              </a:ext>
            </a:extLst>
          </p:cNvPr>
          <p:cNvSpPr txBox="1"/>
          <p:nvPr/>
        </p:nvSpPr>
        <p:spPr>
          <a:xfrm>
            <a:off x="825500" y="4813300"/>
            <a:ext cx="76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 b="1">
                <a:solidFill>
                  <a:srgbClr val="3643F4"/>
                </a:solidFill>
                <a:latin typeface="Microsoft YaHei" panose="020B0503020204020204" pitchFamily="34" charset="-122"/>
              </a:rPr>
              <a:t>美国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1F6E8CE-3B41-3B07-7697-5A856220B0CF}"/>
              </a:ext>
            </a:extLst>
          </p:cNvPr>
          <p:cNvSpPr txBox="1"/>
          <p:nvPr/>
        </p:nvSpPr>
        <p:spPr>
          <a:xfrm>
            <a:off x="1651000" y="4813300"/>
            <a:ext cx="1651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~$8000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亿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+</a:t>
            </a:r>
            <a:endParaRPr lang="zh-CN" altLang="en-US" sz="1000">
              <a:solidFill>
                <a:srgbClr val="2121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CEC1A728-7A22-C5AF-C9E2-240F5188909D}"/>
              </a:ext>
            </a:extLst>
          </p:cNvPr>
          <p:cNvSpPr txBox="1"/>
          <p:nvPr/>
        </p:nvSpPr>
        <p:spPr>
          <a:xfrm>
            <a:off x="3429000" y="4813300"/>
            <a:ext cx="1016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占</a:t>
            </a:r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GDP ~3.5%</a:t>
            </a:r>
            <a:endParaRPr lang="zh-CN" altLang="en-US" sz="1000">
              <a:solidFill>
                <a:srgbClr val="7575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9307E6AA-7917-7E84-B0F4-BDB34F1B2F21}"/>
              </a:ext>
            </a:extLst>
          </p:cNvPr>
          <p:cNvSpPr txBox="1"/>
          <p:nvPr/>
        </p:nvSpPr>
        <p:spPr>
          <a:xfrm>
            <a:off x="4572000" y="4813300"/>
            <a:ext cx="76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000" b="1">
                <a:solidFill>
                  <a:srgbClr val="50AF4C"/>
                </a:solidFill>
                <a:latin typeface="Microsoft YaHei" panose="020B0503020204020204" pitchFamily="34" charset="-122"/>
              </a:rPr>
              <a:t>+1.7%</a:t>
            </a:r>
            <a:endParaRPr lang="zh-CN" altLang="en-US" sz="1000" b="1">
              <a:solidFill>
                <a:srgbClr val="50AF4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F4A70857-BF74-EE26-8C12-7BB0101E8ABF}"/>
              </a:ext>
            </a:extLst>
          </p:cNvPr>
          <p:cNvSpPr/>
          <p:nvPr/>
        </p:nvSpPr>
        <p:spPr>
          <a:xfrm>
            <a:off x="635000" y="5156200"/>
            <a:ext cx="50800" cy="177800"/>
          </a:xfrm>
          <a:prstGeom prst="rect">
            <a:avLst/>
          </a:prstGeom>
          <a:solidFill>
            <a:srgbClr val="0098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2D475B4D-E85B-3985-DA6C-6E298EA21B2C}"/>
              </a:ext>
            </a:extLst>
          </p:cNvPr>
          <p:cNvSpPr txBox="1"/>
          <p:nvPr/>
        </p:nvSpPr>
        <p:spPr>
          <a:xfrm>
            <a:off x="825500" y="5118100"/>
            <a:ext cx="76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 b="1">
                <a:solidFill>
                  <a:srgbClr val="0098FF"/>
                </a:solidFill>
                <a:latin typeface="Microsoft YaHei" panose="020B0503020204020204" pitchFamily="34" charset="-122"/>
              </a:rPr>
              <a:t>欧盟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6A9C193D-7BF3-513D-94E8-1401F9601400}"/>
              </a:ext>
            </a:extLst>
          </p:cNvPr>
          <p:cNvSpPr txBox="1"/>
          <p:nvPr/>
        </p:nvSpPr>
        <p:spPr>
          <a:xfrm>
            <a:off x="1651000" y="5118100"/>
            <a:ext cx="1651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~$4000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亿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+</a:t>
            </a:r>
            <a:endParaRPr lang="zh-CN" altLang="en-US" sz="1000">
              <a:solidFill>
                <a:srgbClr val="2121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79940A05-C6B0-FA51-B27B-892DE24E86BB}"/>
              </a:ext>
            </a:extLst>
          </p:cNvPr>
          <p:cNvSpPr txBox="1"/>
          <p:nvPr/>
        </p:nvSpPr>
        <p:spPr>
          <a:xfrm>
            <a:off x="3429000" y="5118100"/>
            <a:ext cx="1016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占</a:t>
            </a:r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GDP ~2.2%</a:t>
            </a:r>
            <a:endParaRPr lang="zh-CN" altLang="en-US" sz="1000">
              <a:solidFill>
                <a:srgbClr val="7575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FDC0A85C-8A96-F5F2-73DC-19957AC8D6BD}"/>
              </a:ext>
            </a:extLst>
          </p:cNvPr>
          <p:cNvSpPr txBox="1"/>
          <p:nvPr/>
        </p:nvSpPr>
        <p:spPr>
          <a:xfrm>
            <a:off x="4572000" y="5118100"/>
            <a:ext cx="76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000" b="1">
                <a:solidFill>
                  <a:srgbClr val="50AF4C"/>
                </a:solidFill>
                <a:latin typeface="Microsoft YaHei" panose="020B0503020204020204" pitchFamily="34" charset="-122"/>
              </a:rPr>
              <a:t>+1.6%</a:t>
            </a:r>
            <a:endParaRPr lang="zh-CN" altLang="en-US" sz="1000" b="1">
              <a:solidFill>
                <a:srgbClr val="50AF4C"/>
              </a:solidFill>
              <a:latin typeface="Microsoft YaHei" panose="020B0503020204020204" pitchFamily="34" charset="-122"/>
            </a:endParaRPr>
          </a:p>
        </p:txBody>
      </p:sp>
      <p:pic>
        <p:nvPicPr>
          <p:cNvPr id="59" name="图片 58">
            <a:extLst>
              <a:ext uri="{FF2B5EF4-FFF2-40B4-BE49-F238E27FC236}">
                <a16:creationId xmlns:a16="http://schemas.microsoft.com/office/drawing/2014/main" id="{EC710ED6-AEB9-E086-3BB6-5E56795F47B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0" y="4064000"/>
            <a:ext cx="2540000" cy="1778000"/>
          </a:xfrm>
          <a:prstGeom prst="rect">
            <a:avLst/>
          </a:prstGeom>
          <a:effectLst>
            <a:outerShdw blurRad="63500" dist="37357" dir="2700000" rotWithShape="0">
              <a:scrgbClr r="0" g="0" b="0"/>
            </a:outerShdw>
          </a:effectLst>
        </p:spPr>
      </p:pic>
      <p:sp>
        <p:nvSpPr>
          <p:cNvPr id="60" name="矩形 59">
            <a:extLst>
              <a:ext uri="{FF2B5EF4-FFF2-40B4-BE49-F238E27FC236}">
                <a16:creationId xmlns:a16="http://schemas.microsoft.com/office/drawing/2014/main" id="{91B20578-57DF-3FA3-633C-2ABE6026C9F9}"/>
              </a:ext>
            </a:extLst>
          </p:cNvPr>
          <p:cNvSpPr/>
          <p:nvPr/>
        </p:nvSpPr>
        <p:spPr>
          <a:xfrm>
            <a:off x="9271000" y="4064000"/>
            <a:ext cx="2667000" cy="1778000"/>
          </a:xfrm>
          <a:prstGeom prst="rect">
            <a:avLst/>
          </a:prstGeom>
          <a:solidFill>
            <a:srgbClr val="E0F3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8C37900D-E53B-35A1-821C-CC938F165DCE}"/>
              </a:ext>
            </a:extLst>
          </p:cNvPr>
          <p:cNvSpPr txBox="1"/>
          <p:nvPr/>
        </p:nvSpPr>
        <p:spPr>
          <a:xfrm>
            <a:off x="9398000" y="4191000"/>
            <a:ext cx="2413000" cy="7078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▎创新药
● 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2025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获批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: 76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款
● 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License-out: &gt;$1300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亿
● 医疗器械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FDI: +42.1%</a:t>
            </a:r>
            <a:endParaRPr lang="zh-CN" altLang="en-US" sz="1000">
              <a:solidFill>
                <a:srgbClr val="2121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FB147B28-117C-DE65-55D7-67F3CE7CCCE4}"/>
              </a:ext>
            </a:extLst>
          </p:cNvPr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32231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5A5EABB5-06C5-352E-563C-92164B9DCC0B}"/>
              </a:ext>
            </a:extLst>
          </p:cNvPr>
          <p:cNvSpPr txBox="1"/>
          <p:nvPr/>
        </p:nvSpPr>
        <p:spPr>
          <a:xfrm>
            <a:off x="508000" y="6540500"/>
            <a:ext cx="7620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800">
                <a:solidFill>
                  <a:srgbClr val="FFFFFF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sz="800">
                <a:solidFill>
                  <a:srgbClr val="FFFFFF"/>
                </a:solidFill>
                <a:latin typeface="Microsoft YaHei" panose="020B0503020204020204" pitchFamily="34" charset="-122"/>
              </a:rPr>
              <a:t>资本泡沫与全球经济走势分析 </a:t>
            </a:r>
            <a:r>
              <a:rPr lang="en-US" altLang="zh-CN" sz="800">
                <a:solidFill>
                  <a:srgbClr val="FFFFFF"/>
                </a:solidFill>
                <a:latin typeface="Microsoft YaHei" panose="020B0503020204020204" pitchFamily="34" charset="-122"/>
              </a:rPr>
              <a:t>| 2026</a:t>
            </a:r>
            <a:endParaRPr lang="zh-CN" altLang="en-US" sz="800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29964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6743F3DB-88CA-9F7B-EFEA-C770C84165A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E4FC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0FE14E0-13D7-A8A7-3140-AA142E65B80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6BD951B-6161-6609-DFA7-A49B4802E2C6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F3962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272EDDB-8FCD-64F2-E3E3-06C8BDBA70E9}"/>
              </a:ext>
            </a:extLst>
          </p:cNvPr>
          <p:cNvSpPr txBox="1"/>
          <p:nvPr/>
        </p:nvSpPr>
        <p:spPr>
          <a:xfrm>
            <a:off x="508000" y="317500"/>
            <a:ext cx="762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3600" b="1">
                <a:solidFill>
                  <a:srgbClr val="F39621"/>
                </a:solidFill>
                <a:latin typeface="Microsoft YaHei" panose="020B0503020204020204" pitchFamily="34" charset="-122"/>
              </a:rPr>
              <a:t>07</a:t>
            </a:r>
            <a:endParaRPr lang="zh-CN" altLang="en-US" sz="3600" b="1">
              <a:solidFill>
                <a:srgbClr val="F396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D2681B5-D298-D0F5-4E4D-727126F3BE9B}"/>
              </a:ext>
            </a:extLst>
          </p:cNvPr>
          <p:cNvSpPr/>
          <p:nvPr/>
        </p:nvSpPr>
        <p:spPr>
          <a:xfrm>
            <a:off x="1270000" y="381000"/>
            <a:ext cx="25400" cy="381000"/>
          </a:xfrm>
          <a:prstGeom prst="rect">
            <a:avLst/>
          </a:prstGeom>
          <a:solidFill>
            <a:srgbClr val="F3962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8D6D24E-0C58-13F0-CA4A-E4929D02217B}"/>
              </a:ext>
            </a:extLst>
          </p:cNvPr>
          <p:cNvSpPr txBox="1"/>
          <p:nvPr/>
        </p:nvSpPr>
        <p:spPr>
          <a:xfrm>
            <a:off x="1460500" y="317500"/>
            <a:ext cx="889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 b="1">
                <a:solidFill>
                  <a:srgbClr val="212121"/>
                </a:solidFill>
                <a:latin typeface="Microsoft YaHei" panose="020B0503020204020204" pitchFamily="34" charset="-122"/>
              </a:rPr>
              <a:t>地缘政治与贸易格局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F737673-48B1-4F3A-C72A-57E76107E51A}"/>
              </a:ext>
            </a:extLst>
          </p:cNvPr>
          <p:cNvSpPr txBox="1"/>
          <p:nvPr/>
        </p:nvSpPr>
        <p:spPr>
          <a:xfrm>
            <a:off x="1460500" y="787400"/>
            <a:ext cx="889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200">
                <a:solidFill>
                  <a:srgbClr val="757575"/>
                </a:solidFill>
                <a:latin typeface="Microsoft YaHei" panose="020B0503020204020204" pitchFamily="34" charset="-122"/>
              </a:rPr>
              <a:t>关税 </a:t>
            </a:r>
            <a:r>
              <a:rPr lang="en-US" altLang="zh-CN" sz="1200">
                <a:solidFill>
                  <a:srgbClr val="757575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757575"/>
                </a:solidFill>
                <a:latin typeface="Microsoft YaHei" panose="020B0503020204020204" pitchFamily="34" charset="-122"/>
              </a:rPr>
              <a:t>供应链重构 </a:t>
            </a:r>
            <a:r>
              <a:rPr lang="en-US" altLang="zh-CN" sz="1200">
                <a:solidFill>
                  <a:srgbClr val="757575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757575"/>
                </a:solidFill>
                <a:latin typeface="Microsoft YaHei" panose="020B0503020204020204" pitchFamily="34" charset="-122"/>
              </a:rPr>
              <a:t>中美博弈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24BD1A2-ED0C-AAF8-87F7-4A4C19DCF352}"/>
              </a:ext>
            </a:extLst>
          </p:cNvPr>
          <p:cNvSpPr/>
          <p:nvPr/>
        </p:nvSpPr>
        <p:spPr>
          <a:xfrm>
            <a:off x="508000" y="1206500"/>
            <a:ext cx="11176000" cy="12700"/>
          </a:xfrm>
          <a:prstGeom prst="rect">
            <a:avLst/>
          </a:prstGeom>
          <a:solidFill>
            <a:srgbClr val="E0E0E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DD58C3C-6248-1B5C-0913-3F1F2848FF75}"/>
              </a:ext>
            </a:extLst>
          </p:cNvPr>
          <p:cNvSpPr txBox="1"/>
          <p:nvPr/>
        </p:nvSpPr>
        <p:spPr>
          <a:xfrm>
            <a:off x="508000" y="1397000"/>
            <a:ext cx="6350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 b="1">
                <a:solidFill>
                  <a:srgbClr val="212121"/>
                </a:solidFill>
                <a:latin typeface="Microsoft YaHei" panose="020B0503020204020204" pitchFamily="34" charset="-122"/>
              </a:rPr>
              <a:t>▎全球贸易格局重构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936FF7E-0FBD-244A-E55A-9A02320766F2}"/>
              </a:ext>
            </a:extLst>
          </p:cNvPr>
          <p:cNvSpPr/>
          <p:nvPr/>
        </p:nvSpPr>
        <p:spPr>
          <a:xfrm>
            <a:off x="635000" y="1879600"/>
            <a:ext cx="50800" cy="177800"/>
          </a:xfrm>
          <a:prstGeom prst="rect">
            <a:avLst/>
          </a:prstGeom>
          <a:solidFill>
            <a:srgbClr val="3643F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45332C2-63FF-5A7D-3602-8AA7A8A7CE67}"/>
              </a:ext>
            </a:extLst>
          </p:cNvPr>
          <p:cNvSpPr txBox="1"/>
          <p:nvPr/>
        </p:nvSpPr>
        <p:spPr>
          <a:xfrm>
            <a:off x="825500" y="1841500"/>
            <a:ext cx="1524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>
                <a:solidFill>
                  <a:srgbClr val="212121"/>
                </a:solidFill>
                <a:latin typeface="Microsoft YaHei" panose="020B0503020204020204" pitchFamily="34" charset="-122"/>
              </a:rPr>
              <a:t>对美出口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1C5FDFE-71D0-435C-C2DE-63EA62A4281E}"/>
              </a:ext>
            </a:extLst>
          </p:cNvPr>
          <p:cNvSpPr txBox="1"/>
          <p:nvPr/>
        </p:nvSpPr>
        <p:spPr>
          <a:xfrm>
            <a:off x="2413000" y="1841500"/>
            <a:ext cx="1016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 b="1">
                <a:solidFill>
                  <a:srgbClr val="3643F4"/>
                </a:solidFill>
                <a:latin typeface="Microsoft YaHei" panose="020B0503020204020204" pitchFamily="34" charset="-122"/>
              </a:rPr>
              <a:t>-20%</a:t>
            </a:r>
            <a:endParaRPr lang="zh-CN" altLang="en-US" sz="1100" b="1">
              <a:solidFill>
                <a:srgbClr val="3643F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C2F4C04-598E-EA23-F317-8B2396D4821F}"/>
              </a:ext>
            </a:extLst>
          </p:cNvPr>
          <p:cNvSpPr txBox="1"/>
          <p:nvPr/>
        </p:nvSpPr>
        <p:spPr>
          <a:xfrm>
            <a:off x="3556000" y="1841500"/>
            <a:ext cx="127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关税冲击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3F34569-0B6D-5264-253D-3F7E4F471740}"/>
              </a:ext>
            </a:extLst>
          </p:cNvPr>
          <p:cNvSpPr/>
          <p:nvPr/>
        </p:nvSpPr>
        <p:spPr>
          <a:xfrm>
            <a:off x="635000" y="2209800"/>
            <a:ext cx="50800" cy="177800"/>
          </a:xfrm>
          <a:prstGeom prst="rect">
            <a:avLst/>
          </a:prstGeom>
          <a:solidFill>
            <a:srgbClr val="50AF4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38A2004-E677-CEE4-C88C-E24E52BE2DDA}"/>
              </a:ext>
            </a:extLst>
          </p:cNvPr>
          <p:cNvSpPr txBox="1"/>
          <p:nvPr/>
        </p:nvSpPr>
        <p:spPr>
          <a:xfrm>
            <a:off x="825500" y="2171700"/>
            <a:ext cx="1524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>
                <a:solidFill>
                  <a:srgbClr val="212121"/>
                </a:solidFill>
                <a:latin typeface="Microsoft YaHei" panose="020B0503020204020204" pitchFamily="34" charset="-122"/>
              </a:rPr>
              <a:t>对非洲贸易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59EBF46-2C0A-F4AD-5899-64D5718D5201}"/>
              </a:ext>
            </a:extLst>
          </p:cNvPr>
          <p:cNvSpPr txBox="1"/>
          <p:nvPr/>
        </p:nvSpPr>
        <p:spPr>
          <a:xfrm>
            <a:off x="2413000" y="2171700"/>
            <a:ext cx="1016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 b="1">
                <a:solidFill>
                  <a:srgbClr val="50AF4C"/>
                </a:solidFill>
                <a:latin typeface="Microsoft YaHei" panose="020B0503020204020204" pitchFamily="34" charset="-122"/>
              </a:rPr>
              <a:t>+18.4%</a:t>
            </a:r>
            <a:endParaRPr lang="zh-CN" altLang="en-US" sz="1100" b="1">
              <a:solidFill>
                <a:srgbClr val="50AF4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5681B22-562D-A1EA-14DF-42FD4777C6DA}"/>
              </a:ext>
            </a:extLst>
          </p:cNvPr>
          <p:cNvSpPr txBox="1"/>
          <p:nvPr/>
        </p:nvSpPr>
        <p:spPr>
          <a:xfrm>
            <a:off x="3556000" y="2171700"/>
            <a:ext cx="127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南方转向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3EC8BBA-24D2-E525-A9B7-83A4B2ED39AE}"/>
              </a:ext>
            </a:extLst>
          </p:cNvPr>
          <p:cNvSpPr/>
          <p:nvPr/>
        </p:nvSpPr>
        <p:spPr>
          <a:xfrm>
            <a:off x="635000" y="2540000"/>
            <a:ext cx="50800" cy="177800"/>
          </a:xfrm>
          <a:prstGeom prst="rect">
            <a:avLst/>
          </a:prstGeom>
          <a:solidFill>
            <a:srgbClr val="F3962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7DD004C-FEE8-C225-B09A-C67ACAA98202}"/>
              </a:ext>
            </a:extLst>
          </p:cNvPr>
          <p:cNvSpPr txBox="1"/>
          <p:nvPr/>
        </p:nvSpPr>
        <p:spPr>
          <a:xfrm>
            <a:off x="825500" y="2501900"/>
            <a:ext cx="1524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>
                <a:solidFill>
                  <a:srgbClr val="212121"/>
                </a:solidFill>
                <a:latin typeface="Microsoft YaHei" panose="020B0503020204020204" pitchFamily="34" charset="-122"/>
              </a:rPr>
              <a:t>BRI</a:t>
            </a:r>
            <a:r>
              <a:rPr lang="zh-CN" altLang="en-US" sz="1100">
                <a:solidFill>
                  <a:srgbClr val="212121"/>
                </a:solidFill>
                <a:latin typeface="Microsoft YaHei" panose="020B0503020204020204" pitchFamily="34" charset="-122"/>
              </a:rPr>
              <a:t>国家贸易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B5F482C-B9DA-62BA-2BC1-D286E07109E1}"/>
              </a:ext>
            </a:extLst>
          </p:cNvPr>
          <p:cNvSpPr txBox="1"/>
          <p:nvPr/>
        </p:nvSpPr>
        <p:spPr>
          <a:xfrm>
            <a:off x="2413000" y="2501900"/>
            <a:ext cx="1016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 b="1">
                <a:solidFill>
                  <a:srgbClr val="F39621"/>
                </a:solidFill>
                <a:latin typeface="Microsoft YaHei" panose="020B0503020204020204" pitchFamily="34" charset="-122"/>
              </a:rPr>
              <a:t>51.9%</a:t>
            </a:r>
            <a:endParaRPr lang="zh-CN" altLang="en-US" sz="1100" b="1">
              <a:solidFill>
                <a:srgbClr val="F396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B2A97A0-898F-5B66-2B94-00BEA9B89EE1}"/>
              </a:ext>
            </a:extLst>
          </p:cNvPr>
          <p:cNvSpPr txBox="1"/>
          <p:nvPr/>
        </p:nvSpPr>
        <p:spPr>
          <a:xfrm>
            <a:off x="3556000" y="2501900"/>
            <a:ext cx="127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超半数占比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BB5860F-BA7C-7215-030F-CD8B21BD9434}"/>
              </a:ext>
            </a:extLst>
          </p:cNvPr>
          <p:cNvSpPr/>
          <p:nvPr/>
        </p:nvSpPr>
        <p:spPr>
          <a:xfrm>
            <a:off x="635000" y="2870200"/>
            <a:ext cx="50800" cy="177800"/>
          </a:xfrm>
          <a:prstGeom prst="rect">
            <a:avLst/>
          </a:prstGeom>
          <a:solidFill>
            <a:srgbClr val="50AF4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6E15EFB-831C-A1E0-CF70-0A9DB3F3A67D}"/>
              </a:ext>
            </a:extLst>
          </p:cNvPr>
          <p:cNvSpPr txBox="1"/>
          <p:nvPr/>
        </p:nvSpPr>
        <p:spPr>
          <a:xfrm>
            <a:off x="825500" y="2832100"/>
            <a:ext cx="1524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>
                <a:solidFill>
                  <a:srgbClr val="212121"/>
                </a:solidFill>
                <a:latin typeface="Microsoft YaHei" panose="020B0503020204020204" pitchFamily="34" charset="-122"/>
              </a:rPr>
              <a:t>东盟贸易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F440404-848F-7673-A3FA-197B8DF61270}"/>
              </a:ext>
            </a:extLst>
          </p:cNvPr>
          <p:cNvSpPr txBox="1"/>
          <p:nvPr/>
        </p:nvSpPr>
        <p:spPr>
          <a:xfrm>
            <a:off x="2413000" y="2832100"/>
            <a:ext cx="1016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 b="1">
                <a:solidFill>
                  <a:srgbClr val="50AF4C"/>
                </a:solidFill>
                <a:latin typeface="Microsoft YaHei" panose="020B0503020204020204" pitchFamily="34" charset="-122"/>
              </a:rPr>
              <a:t>&gt;$1.02</a:t>
            </a:r>
            <a:r>
              <a:rPr lang="zh-CN" altLang="en-US" sz="1100" b="1">
                <a:solidFill>
                  <a:srgbClr val="50AF4C"/>
                </a:solidFill>
                <a:latin typeface="Microsoft YaHei" panose="020B0503020204020204" pitchFamily="34" charset="-122"/>
              </a:rPr>
              <a:t>万亿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4BC32C7-CA1F-2B35-DF07-E9B1BDB7BFA0}"/>
              </a:ext>
            </a:extLst>
          </p:cNvPr>
          <p:cNvSpPr txBox="1"/>
          <p:nvPr/>
        </p:nvSpPr>
        <p:spPr>
          <a:xfrm>
            <a:off x="3556000" y="2832100"/>
            <a:ext cx="127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最大伙伴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919B211-DB93-C016-A9B3-F583DEADA66D}"/>
              </a:ext>
            </a:extLst>
          </p:cNvPr>
          <p:cNvSpPr txBox="1"/>
          <p:nvPr/>
        </p:nvSpPr>
        <p:spPr>
          <a:xfrm>
            <a:off x="6604000" y="1397000"/>
            <a:ext cx="5080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 b="1">
                <a:solidFill>
                  <a:srgbClr val="212121"/>
                </a:solidFill>
                <a:latin typeface="Microsoft YaHei" panose="020B0503020204020204" pitchFamily="34" charset="-122"/>
              </a:rPr>
              <a:t>▎关税冲击与供应链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2E79E98-4B87-71CB-5430-32890DBAA536}"/>
              </a:ext>
            </a:extLst>
          </p:cNvPr>
          <p:cNvSpPr txBox="1"/>
          <p:nvPr/>
        </p:nvSpPr>
        <p:spPr>
          <a:xfrm>
            <a:off x="6731000" y="1841500"/>
            <a:ext cx="203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IMF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下调全球增长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C8B1890-E5C7-5C6B-0797-F8A020FCCD39}"/>
              </a:ext>
            </a:extLst>
          </p:cNvPr>
          <p:cNvSpPr txBox="1"/>
          <p:nvPr/>
        </p:nvSpPr>
        <p:spPr>
          <a:xfrm>
            <a:off x="8890000" y="1841500"/>
            <a:ext cx="1524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000" b="1">
                <a:solidFill>
                  <a:srgbClr val="212121"/>
                </a:solidFill>
                <a:latin typeface="Microsoft YaHei" panose="020B0503020204020204" pitchFamily="34" charset="-122"/>
              </a:rPr>
              <a:t>3.3%→2.8%</a:t>
            </a:r>
            <a:endParaRPr lang="zh-CN" altLang="en-US" sz="1000" b="1">
              <a:solidFill>
                <a:srgbClr val="2121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B6C8348-456F-30F5-2480-10A5ECB1B2ED}"/>
              </a:ext>
            </a:extLst>
          </p:cNvPr>
          <p:cNvSpPr txBox="1"/>
          <p:nvPr/>
        </p:nvSpPr>
        <p:spPr>
          <a:xfrm>
            <a:off x="6731000" y="2146300"/>
            <a:ext cx="203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中美贸易休战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9FACF94-8B9B-027E-0CCF-244F2B9F1128}"/>
              </a:ext>
            </a:extLst>
          </p:cNvPr>
          <p:cNvSpPr txBox="1"/>
          <p:nvPr/>
        </p:nvSpPr>
        <p:spPr>
          <a:xfrm>
            <a:off x="8890000" y="2146300"/>
            <a:ext cx="1524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000" b="1">
                <a:solidFill>
                  <a:srgbClr val="212121"/>
                </a:solidFill>
                <a:latin typeface="Microsoft YaHei" panose="020B0503020204020204" pitchFamily="34" charset="-122"/>
              </a:rPr>
              <a:t>90</a:t>
            </a:r>
            <a:r>
              <a:rPr lang="zh-CN" altLang="en-US" sz="1000" b="1">
                <a:solidFill>
                  <a:srgbClr val="212121"/>
                </a:solidFill>
                <a:latin typeface="Microsoft YaHei" panose="020B0503020204020204" pitchFamily="34" charset="-122"/>
              </a:rPr>
              <a:t>天关税回滚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35F83C55-A415-901F-4B85-F5ACFEB8D539}"/>
              </a:ext>
            </a:extLst>
          </p:cNvPr>
          <p:cNvSpPr txBox="1"/>
          <p:nvPr/>
        </p:nvSpPr>
        <p:spPr>
          <a:xfrm>
            <a:off x="6731000" y="2451100"/>
            <a:ext cx="203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中国出口韧性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4349EF3-07BC-6686-527B-C429D5ED3F95}"/>
              </a:ext>
            </a:extLst>
          </p:cNvPr>
          <p:cNvSpPr txBox="1"/>
          <p:nvPr/>
        </p:nvSpPr>
        <p:spPr>
          <a:xfrm>
            <a:off x="8890000" y="2451100"/>
            <a:ext cx="1524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 b="1">
                <a:solidFill>
                  <a:srgbClr val="212121"/>
                </a:solidFill>
                <a:latin typeface="Microsoft YaHei" panose="020B0503020204020204" pitchFamily="34" charset="-122"/>
              </a:rPr>
              <a:t>全年</a:t>
            </a:r>
            <a:r>
              <a:rPr lang="en-US" altLang="zh-CN" sz="1000" b="1">
                <a:solidFill>
                  <a:srgbClr val="212121"/>
                </a:solidFill>
                <a:latin typeface="Microsoft YaHei" panose="020B0503020204020204" pitchFamily="34" charset="-122"/>
              </a:rPr>
              <a:t>+6.1%</a:t>
            </a:r>
            <a:endParaRPr lang="zh-CN" altLang="en-US" sz="1000" b="1">
              <a:solidFill>
                <a:srgbClr val="2121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7D126AE-0D9F-E739-F665-7E5DBF45923F}"/>
              </a:ext>
            </a:extLst>
          </p:cNvPr>
          <p:cNvSpPr txBox="1"/>
          <p:nvPr/>
        </p:nvSpPr>
        <p:spPr>
          <a:xfrm>
            <a:off x="6731000" y="2755900"/>
            <a:ext cx="203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新三大出口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7B64800-0F0D-8830-F7B9-CDC5B76DAC88}"/>
              </a:ext>
            </a:extLst>
          </p:cNvPr>
          <p:cNvSpPr txBox="1"/>
          <p:nvPr/>
        </p:nvSpPr>
        <p:spPr>
          <a:xfrm>
            <a:off x="8890000" y="2755900"/>
            <a:ext cx="1524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000" b="1">
                <a:solidFill>
                  <a:srgbClr val="212121"/>
                </a:solidFill>
                <a:latin typeface="Microsoft YaHei" panose="020B0503020204020204" pitchFamily="34" charset="-122"/>
              </a:rPr>
              <a:t>+27.1% YoY</a:t>
            </a:r>
            <a:endParaRPr lang="zh-CN" altLang="en-US" sz="1000" b="1">
              <a:solidFill>
                <a:srgbClr val="2121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AE753C0B-7B87-8E79-3475-35371BF38ADE}"/>
              </a:ext>
            </a:extLst>
          </p:cNvPr>
          <p:cNvSpPr txBox="1"/>
          <p:nvPr/>
        </p:nvSpPr>
        <p:spPr>
          <a:xfrm>
            <a:off x="6731000" y="3060700"/>
            <a:ext cx="203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能源冲击风险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42B1ADDF-2EA4-E883-8DC3-ACD7252D18D2}"/>
              </a:ext>
            </a:extLst>
          </p:cNvPr>
          <p:cNvSpPr txBox="1"/>
          <p:nvPr/>
        </p:nvSpPr>
        <p:spPr>
          <a:xfrm>
            <a:off x="8890000" y="3060700"/>
            <a:ext cx="1524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 b="1">
                <a:solidFill>
                  <a:srgbClr val="212121"/>
                </a:solidFill>
                <a:latin typeface="Microsoft YaHei" panose="020B0503020204020204" pitchFamily="34" charset="-122"/>
              </a:rPr>
              <a:t>布伦特</a:t>
            </a:r>
            <a:r>
              <a:rPr lang="en-US" altLang="zh-CN" sz="1000" b="1">
                <a:solidFill>
                  <a:srgbClr val="212121"/>
                </a:solidFill>
                <a:latin typeface="Microsoft YaHei" panose="020B0503020204020204" pitchFamily="34" charset="-122"/>
              </a:rPr>
              <a:t>$94/</a:t>
            </a:r>
            <a:r>
              <a:rPr lang="zh-CN" altLang="en-US" sz="1000" b="1">
                <a:solidFill>
                  <a:srgbClr val="212121"/>
                </a:solidFill>
                <a:latin typeface="Microsoft YaHei" panose="020B0503020204020204" pitchFamily="34" charset="-122"/>
              </a:rPr>
              <a:t>桶</a:t>
            </a:r>
            <a:r>
              <a:rPr lang="en-US" altLang="zh-CN" sz="1000" b="1">
                <a:solidFill>
                  <a:srgbClr val="212121"/>
                </a:solidFill>
                <a:latin typeface="Microsoft YaHei" panose="020B0503020204020204" pitchFamily="34" charset="-122"/>
              </a:rPr>
              <a:t>(2026)</a:t>
            </a:r>
            <a:endParaRPr lang="zh-CN" altLang="en-US" sz="1000" b="1">
              <a:solidFill>
                <a:srgbClr val="2121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33447E91-116A-6B17-EE0D-5F5346368A55}"/>
              </a:ext>
            </a:extLst>
          </p:cNvPr>
          <p:cNvSpPr txBox="1"/>
          <p:nvPr/>
        </p:nvSpPr>
        <p:spPr>
          <a:xfrm>
            <a:off x="508000" y="3810000"/>
            <a:ext cx="6350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 b="1">
                <a:solidFill>
                  <a:srgbClr val="212121"/>
                </a:solidFill>
                <a:latin typeface="Microsoft YaHei" panose="020B0503020204020204" pitchFamily="34" charset="-122"/>
              </a:rPr>
              <a:t>▎</a:t>
            </a:r>
            <a:r>
              <a:rPr lang="en-US" altLang="zh-CN" sz="1300" b="1">
                <a:solidFill>
                  <a:srgbClr val="212121"/>
                </a:solidFill>
                <a:latin typeface="Microsoft YaHei" panose="020B0503020204020204" pitchFamily="34" charset="-122"/>
              </a:rPr>
              <a:t>2026</a:t>
            </a:r>
            <a:r>
              <a:rPr lang="zh-CN" altLang="en-US" sz="1300" b="1">
                <a:solidFill>
                  <a:srgbClr val="212121"/>
                </a:solidFill>
                <a:latin typeface="Microsoft YaHei" panose="020B0503020204020204" pitchFamily="34" charset="-122"/>
              </a:rPr>
              <a:t>年主要地缘政治风险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45FC4B5-4402-61B3-2565-54007AF412B3}"/>
              </a:ext>
            </a:extLst>
          </p:cNvPr>
          <p:cNvSpPr/>
          <p:nvPr/>
        </p:nvSpPr>
        <p:spPr>
          <a:xfrm>
            <a:off x="635000" y="4254500"/>
            <a:ext cx="3810000" cy="330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3643F4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112D41F-4D76-E86C-C93E-42C9D49972B0}"/>
              </a:ext>
            </a:extLst>
          </p:cNvPr>
          <p:cNvSpPr txBox="1"/>
          <p:nvPr/>
        </p:nvSpPr>
        <p:spPr>
          <a:xfrm>
            <a:off x="762000" y="4292600"/>
            <a:ext cx="254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🔥 中东冲突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霍尔木兹海峡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10252E8B-76C0-D2B5-12AA-4DAE4167AFA1}"/>
              </a:ext>
            </a:extLst>
          </p:cNvPr>
          <p:cNvSpPr txBox="1"/>
          <p:nvPr/>
        </p:nvSpPr>
        <p:spPr>
          <a:xfrm>
            <a:off x="3429000" y="4292600"/>
            <a:ext cx="76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000" b="1">
                <a:solidFill>
                  <a:srgbClr val="3643F4"/>
                </a:solidFill>
                <a:latin typeface="Microsoft YaHei" panose="020B0503020204020204" pitchFamily="34" charset="-122"/>
              </a:rPr>
              <a:t>高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2B8A02C3-22BC-CFA1-6F34-64B3C580447E}"/>
              </a:ext>
            </a:extLst>
          </p:cNvPr>
          <p:cNvSpPr/>
          <p:nvPr/>
        </p:nvSpPr>
        <p:spPr>
          <a:xfrm>
            <a:off x="635000" y="4610100"/>
            <a:ext cx="3810000" cy="330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98FF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20604D9-86C3-396E-CAD7-EDFEC68F3ABA}"/>
              </a:ext>
            </a:extLst>
          </p:cNvPr>
          <p:cNvSpPr txBox="1"/>
          <p:nvPr/>
        </p:nvSpPr>
        <p:spPr>
          <a:xfrm>
            <a:off x="762000" y="4648200"/>
            <a:ext cx="254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💰 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估值集中风险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0926957D-2DAA-F832-72D4-ED1E7C5E5D64}"/>
              </a:ext>
            </a:extLst>
          </p:cNvPr>
          <p:cNvSpPr txBox="1"/>
          <p:nvPr/>
        </p:nvSpPr>
        <p:spPr>
          <a:xfrm>
            <a:off x="3429000" y="4648200"/>
            <a:ext cx="76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000" b="1">
                <a:solidFill>
                  <a:srgbClr val="0098FF"/>
                </a:solidFill>
                <a:latin typeface="Microsoft YaHei" panose="020B0503020204020204" pitchFamily="34" charset="-122"/>
              </a:rPr>
              <a:t>中高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BECE2AD2-AD63-4A42-D1F8-33718A27A323}"/>
              </a:ext>
            </a:extLst>
          </p:cNvPr>
          <p:cNvSpPr/>
          <p:nvPr/>
        </p:nvSpPr>
        <p:spPr>
          <a:xfrm>
            <a:off x="635000" y="4965700"/>
            <a:ext cx="3810000" cy="330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98FF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8EB77F78-0149-A1DA-CE13-B0E9727C0293}"/>
              </a:ext>
            </a:extLst>
          </p:cNvPr>
          <p:cNvSpPr txBox="1"/>
          <p:nvPr/>
        </p:nvSpPr>
        <p:spPr>
          <a:xfrm>
            <a:off x="762000" y="5003800"/>
            <a:ext cx="254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🏦 高债务经济体脆弱性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241BDCD2-3361-AA52-4E6A-0170C229A92C}"/>
              </a:ext>
            </a:extLst>
          </p:cNvPr>
          <p:cNvSpPr txBox="1"/>
          <p:nvPr/>
        </p:nvSpPr>
        <p:spPr>
          <a:xfrm>
            <a:off x="3429000" y="5003800"/>
            <a:ext cx="76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000" b="1">
                <a:solidFill>
                  <a:srgbClr val="0098FF"/>
                </a:solidFill>
                <a:latin typeface="Microsoft YaHei" panose="020B0503020204020204" pitchFamily="34" charset="-122"/>
              </a:rPr>
              <a:t>中高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D122A91E-B018-A4C9-4714-2C5007CAFB36}"/>
              </a:ext>
            </a:extLst>
          </p:cNvPr>
          <p:cNvSpPr/>
          <p:nvPr/>
        </p:nvSpPr>
        <p:spPr>
          <a:xfrm>
            <a:off x="635000" y="5321300"/>
            <a:ext cx="3810000" cy="330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98FF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41CEFE6-731C-E46F-E3AA-77AB9E2CD387}"/>
              </a:ext>
            </a:extLst>
          </p:cNvPr>
          <p:cNvSpPr txBox="1"/>
          <p:nvPr/>
        </p:nvSpPr>
        <p:spPr>
          <a:xfrm>
            <a:off x="762000" y="5359400"/>
            <a:ext cx="254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🇺🇸🇨🇳 中美科技脱钩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7151AE7C-863B-DCFC-8854-A5E7A8A09B68}"/>
              </a:ext>
            </a:extLst>
          </p:cNvPr>
          <p:cNvSpPr txBox="1"/>
          <p:nvPr/>
        </p:nvSpPr>
        <p:spPr>
          <a:xfrm>
            <a:off x="3429000" y="5359400"/>
            <a:ext cx="76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000" b="1">
                <a:solidFill>
                  <a:srgbClr val="0098FF"/>
                </a:solidFill>
                <a:latin typeface="Microsoft YaHei" panose="020B0503020204020204" pitchFamily="34" charset="-122"/>
              </a:rPr>
              <a:t>中</a:t>
            </a:r>
          </a:p>
        </p:txBody>
      </p:sp>
      <p:pic>
        <p:nvPicPr>
          <p:cNvPr id="52" name="图片 51">
            <a:extLst>
              <a:ext uri="{FF2B5EF4-FFF2-40B4-BE49-F238E27FC236}">
                <a16:creationId xmlns:a16="http://schemas.microsoft.com/office/drawing/2014/main" id="{CE7E648A-1530-F781-71B0-61C683ED9EB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0" y="3937000"/>
            <a:ext cx="2540000" cy="1778000"/>
          </a:xfrm>
          <a:prstGeom prst="rect">
            <a:avLst/>
          </a:prstGeom>
          <a:effectLst>
            <a:outerShdw blurRad="63500" dist="37357" dir="2700000" rotWithShape="0">
              <a:scrgbClr r="0" g="0" b="0"/>
            </a:outerShdw>
          </a:effectLst>
        </p:spPr>
      </p:pic>
      <p:sp>
        <p:nvSpPr>
          <p:cNvPr id="53" name="矩形 52">
            <a:extLst>
              <a:ext uri="{FF2B5EF4-FFF2-40B4-BE49-F238E27FC236}">
                <a16:creationId xmlns:a16="http://schemas.microsoft.com/office/drawing/2014/main" id="{958789E4-3FB4-BD04-EDFF-699608470342}"/>
              </a:ext>
            </a:extLst>
          </p:cNvPr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32231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4B5B90BE-2CFE-4888-B282-B204394751BE}"/>
              </a:ext>
            </a:extLst>
          </p:cNvPr>
          <p:cNvSpPr txBox="1"/>
          <p:nvPr/>
        </p:nvSpPr>
        <p:spPr>
          <a:xfrm>
            <a:off x="508000" y="6540500"/>
            <a:ext cx="7620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800">
                <a:solidFill>
                  <a:srgbClr val="FFFFFF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sz="800">
                <a:solidFill>
                  <a:srgbClr val="FFFFFF"/>
                </a:solidFill>
                <a:latin typeface="Microsoft YaHei" panose="020B0503020204020204" pitchFamily="34" charset="-122"/>
              </a:rPr>
              <a:t>资本泡沫与全球经济走势分析 </a:t>
            </a:r>
            <a:r>
              <a:rPr lang="en-US" altLang="zh-CN" sz="800">
                <a:solidFill>
                  <a:srgbClr val="FFFFFF"/>
                </a:solidFill>
                <a:latin typeface="Microsoft YaHei" panose="020B0503020204020204" pitchFamily="34" charset="-122"/>
              </a:rPr>
              <a:t>| 2026</a:t>
            </a:r>
            <a:endParaRPr lang="zh-CN" altLang="en-US" sz="800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900246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5629746E-E10A-F6AD-69E2-9B3FE358240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1F8FF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939EDC4-46A8-62B5-473D-52B0D308A15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7DCEA09-430A-8A47-C083-74D0EFBCA314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F3962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6C9AD06-C124-FB8B-6CA3-D66F2FEDAE90}"/>
              </a:ext>
            </a:extLst>
          </p:cNvPr>
          <p:cNvSpPr txBox="1"/>
          <p:nvPr/>
        </p:nvSpPr>
        <p:spPr>
          <a:xfrm>
            <a:off x="508000" y="317500"/>
            <a:ext cx="762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3600" b="1">
                <a:solidFill>
                  <a:srgbClr val="F39621"/>
                </a:solidFill>
                <a:latin typeface="Microsoft YaHei" panose="020B0503020204020204" pitchFamily="34" charset="-122"/>
              </a:rPr>
              <a:t>08</a:t>
            </a:r>
            <a:endParaRPr lang="zh-CN" altLang="en-US" sz="3600" b="1">
              <a:solidFill>
                <a:srgbClr val="F396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45EF2E-E451-B7A5-FAB4-5DBDFF8648A4}"/>
              </a:ext>
            </a:extLst>
          </p:cNvPr>
          <p:cNvSpPr/>
          <p:nvPr/>
        </p:nvSpPr>
        <p:spPr>
          <a:xfrm>
            <a:off x="1270000" y="381000"/>
            <a:ext cx="25400" cy="381000"/>
          </a:xfrm>
          <a:prstGeom prst="rect">
            <a:avLst/>
          </a:prstGeom>
          <a:solidFill>
            <a:srgbClr val="F3962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828BBF8-2575-EF20-1E44-6F3412E5384E}"/>
              </a:ext>
            </a:extLst>
          </p:cNvPr>
          <p:cNvSpPr txBox="1"/>
          <p:nvPr/>
        </p:nvSpPr>
        <p:spPr>
          <a:xfrm>
            <a:off x="1460500" y="317500"/>
            <a:ext cx="889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 b="1">
                <a:solidFill>
                  <a:srgbClr val="212121"/>
                </a:solidFill>
                <a:latin typeface="Microsoft YaHei" panose="020B0503020204020204" pitchFamily="34" charset="-122"/>
              </a:rPr>
              <a:t>全球经济风险矩阵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75C2114-F3D7-1C0D-30DA-0798127099C0}"/>
              </a:ext>
            </a:extLst>
          </p:cNvPr>
          <p:cNvSpPr txBox="1"/>
          <p:nvPr/>
        </p:nvSpPr>
        <p:spPr>
          <a:xfrm>
            <a:off x="1460500" y="787400"/>
            <a:ext cx="889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200">
                <a:solidFill>
                  <a:srgbClr val="757575"/>
                </a:solidFill>
                <a:latin typeface="Microsoft YaHei" panose="020B0503020204020204" pitchFamily="34" charset="-122"/>
              </a:rPr>
              <a:t>衰退概率 </a:t>
            </a:r>
            <a:r>
              <a:rPr lang="en-US" altLang="zh-CN" sz="1200">
                <a:solidFill>
                  <a:srgbClr val="757575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757575"/>
                </a:solidFill>
                <a:latin typeface="Microsoft YaHei" panose="020B0503020204020204" pitchFamily="34" charset="-122"/>
              </a:rPr>
              <a:t>通胀 </a:t>
            </a:r>
            <a:r>
              <a:rPr lang="en-US" altLang="zh-CN" sz="1200">
                <a:solidFill>
                  <a:srgbClr val="757575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757575"/>
                </a:solidFill>
                <a:latin typeface="Microsoft YaHei" panose="020B0503020204020204" pitchFamily="34" charset="-122"/>
              </a:rPr>
              <a:t>能源 </a:t>
            </a:r>
            <a:r>
              <a:rPr lang="en-US" altLang="zh-CN" sz="1200">
                <a:solidFill>
                  <a:srgbClr val="757575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757575"/>
                </a:solidFill>
                <a:latin typeface="Microsoft YaHei" panose="020B0503020204020204" pitchFamily="34" charset="-122"/>
              </a:rPr>
              <a:t>金融市场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D8D022E-946C-A6F5-1C84-F2E461C9EACC}"/>
              </a:ext>
            </a:extLst>
          </p:cNvPr>
          <p:cNvSpPr/>
          <p:nvPr/>
        </p:nvSpPr>
        <p:spPr>
          <a:xfrm>
            <a:off x="508000" y="1206500"/>
            <a:ext cx="11176000" cy="12700"/>
          </a:xfrm>
          <a:prstGeom prst="rect">
            <a:avLst/>
          </a:prstGeom>
          <a:solidFill>
            <a:srgbClr val="E0E0E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E5E8830-450E-1000-7F70-C2DD1423B905}"/>
              </a:ext>
            </a:extLst>
          </p:cNvPr>
          <p:cNvSpPr/>
          <p:nvPr/>
        </p:nvSpPr>
        <p:spPr>
          <a:xfrm>
            <a:off x="508000" y="1397000"/>
            <a:ext cx="5588000" cy="127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0E0"/>
            </a:solidFill>
            <a:prstDash val="solid"/>
            <a:miter lim="800000"/>
          </a:ln>
          <a:effectLst>
            <a:outerShdw blurRad="50800" dist="37357" dir="2700000" rotWithShape="0">
              <a:scrgbClr r="0" g="0" b="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7A424A3-749A-7B45-FD08-7785D068B36A}"/>
              </a:ext>
            </a:extLst>
          </p:cNvPr>
          <p:cNvSpPr/>
          <p:nvPr/>
        </p:nvSpPr>
        <p:spPr>
          <a:xfrm>
            <a:off x="508000" y="1397000"/>
            <a:ext cx="63500" cy="1270000"/>
          </a:xfrm>
          <a:prstGeom prst="rect">
            <a:avLst/>
          </a:prstGeom>
          <a:solidFill>
            <a:srgbClr val="3643F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C00958E-F964-23D9-8ED3-E7FD112BA3BD}"/>
              </a:ext>
            </a:extLst>
          </p:cNvPr>
          <p:cNvSpPr txBox="1"/>
          <p:nvPr/>
        </p:nvSpPr>
        <p:spPr>
          <a:xfrm>
            <a:off x="698500" y="1524000"/>
            <a:ext cx="254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200" b="1">
                <a:solidFill>
                  <a:srgbClr val="212121"/>
                </a:solidFill>
                <a:latin typeface="Microsoft YaHei" panose="020B0503020204020204" pitchFamily="34" charset="-122"/>
              </a:rPr>
              <a:t>全球衰退概率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D4CE19A-4758-53BE-C217-97EB718FAAC9}"/>
              </a:ext>
            </a:extLst>
          </p:cNvPr>
          <p:cNvSpPr txBox="1"/>
          <p:nvPr/>
        </p:nvSpPr>
        <p:spPr>
          <a:xfrm>
            <a:off x="698500" y="1841500"/>
            <a:ext cx="1524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400" b="1">
                <a:solidFill>
                  <a:srgbClr val="3643F4"/>
                </a:solidFill>
                <a:latin typeface="Microsoft YaHei" panose="020B0503020204020204" pitchFamily="34" charset="-122"/>
              </a:rPr>
              <a:t>15-40%</a:t>
            </a:r>
            <a:endParaRPr lang="zh-CN" altLang="en-US" sz="2400" b="1">
              <a:solidFill>
                <a:srgbClr val="3643F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EC33272-1D6C-2DFE-FE92-5490B82C3621}"/>
              </a:ext>
            </a:extLst>
          </p:cNvPr>
          <p:cNvSpPr txBox="1"/>
          <p:nvPr/>
        </p:nvSpPr>
        <p:spPr>
          <a:xfrm>
            <a:off x="3302000" y="1841500"/>
            <a:ext cx="2540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NY Fed 15%
JPM</a:t>
            </a:r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峰值</a:t>
            </a:r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40%</a:t>
            </a:r>
            <a:endParaRPr lang="zh-CN" altLang="en-US" sz="1000">
              <a:solidFill>
                <a:srgbClr val="7575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A3251EC-B31B-3AC4-4EDA-79AA5B560BFC}"/>
              </a:ext>
            </a:extLst>
          </p:cNvPr>
          <p:cNvSpPr/>
          <p:nvPr/>
        </p:nvSpPr>
        <p:spPr>
          <a:xfrm>
            <a:off x="6350000" y="1397000"/>
            <a:ext cx="5588000" cy="127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0E0"/>
            </a:solidFill>
            <a:prstDash val="solid"/>
            <a:miter lim="800000"/>
          </a:ln>
          <a:effectLst>
            <a:outerShdw blurRad="50800" dist="37357" dir="2700000" rotWithShape="0">
              <a:scrgbClr r="0" g="0" b="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3A0DEE6-BDCD-EEF7-078D-9A3658E29809}"/>
              </a:ext>
            </a:extLst>
          </p:cNvPr>
          <p:cNvSpPr/>
          <p:nvPr/>
        </p:nvSpPr>
        <p:spPr>
          <a:xfrm>
            <a:off x="6350000" y="1397000"/>
            <a:ext cx="63500" cy="1270000"/>
          </a:xfrm>
          <a:prstGeom prst="rect">
            <a:avLst/>
          </a:prstGeom>
          <a:solidFill>
            <a:srgbClr val="0098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200813D-423C-4693-DB1E-B18D9E9662C2}"/>
              </a:ext>
            </a:extLst>
          </p:cNvPr>
          <p:cNvSpPr txBox="1"/>
          <p:nvPr/>
        </p:nvSpPr>
        <p:spPr>
          <a:xfrm>
            <a:off x="6540500" y="1524000"/>
            <a:ext cx="254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200" b="1">
                <a:solidFill>
                  <a:srgbClr val="212121"/>
                </a:solidFill>
                <a:latin typeface="Microsoft YaHei" panose="020B0503020204020204" pitchFamily="34" charset="-122"/>
              </a:rPr>
              <a:t>全球通胀</a:t>
            </a:r>
            <a:r>
              <a:rPr lang="en-US" altLang="zh-CN" sz="1200" b="1">
                <a:solidFill>
                  <a:srgbClr val="212121"/>
                </a:solidFill>
                <a:latin typeface="Microsoft YaHei" panose="020B0503020204020204" pitchFamily="34" charset="-122"/>
              </a:rPr>
              <a:t>(2026)</a:t>
            </a:r>
            <a:endParaRPr lang="zh-CN" altLang="en-US" sz="1200" b="1">
              <a:solidFill>
                <a:srgbClr val="2121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6D3CB46-620D-CEB5-15C8-0504E9D8724A}"/>
              </a:ext>
            </a:extLst>
          </p:cNvPr>
          <p:cNvSpPr txBox="1"/>
          <p:nvPr/>
        </p:nvSpPr>
        <p:spPr>
          <a:xfrm>
            <a:off x="6540500" y="1841500"/>
            <a:ext cx="1524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400" b="1">
                <a:solidFill>
                  <a:srgbClr val="0098FF"/>
                </a:solidFill>
                <a:latin typeface="Microsoft YaHei" panose="020B0503020204020204" pitchFamily="34" charset="-122"/>
              </a:rPr>
              <a:t>4.0%</a:t>
            </a:r>
            <a:endParaRPr lang="zh-CN" altLang="en-US" sz="2400" b="1">
              <a:solidFill>
                <a:srgbClr val="0098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BEDF5F8-13C4-EA3D-05B4-F38F997271CB}"/>
              </a:ext>
            </a:extLst>
          </p:cNvPr>
          <p:cNvSpPr txBox="1"/>
          <p:nvPr/>
        </p:nvSpPr>
        <p:spPr>
          <a:xfrm>
            <a:off x="9144000" y="1841500"/>
            <a:ext cx="254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较</a:t>
            </a:r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2025+0.7pp</a:t>
            </a:r>
            <a:endParaRPr lang="zh-CN" altLang="en-US" sz="1000">
              <a:solidFill>
                <a:srgbClr val="7575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6986C03-3E13-DD9B-F946-7FB640023624}"/>
              </a:ext>
            </a:extLst>
          </p:cNvPr>
          <p:cNvSpPr/>
          <p:nvPr/>
        </p:nvSpPr>
        <p:spPr>
          <a:xfrm>
            <a:off x="508000" y="2794000"/>
            <a:ext cx="5588000" cy="127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0E0"/>
            </a:solidFill>
            <a:prstDash val="solid"/>
            <a:miter lim="800000"/>
          </a:ln>
          <a:effectLst>
            <a:outerShdw blurRad="50800" dist="37357" dir="2700000" rotWithShape="0">
              <a:scrgbClr r="0" g="0" b="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0DE04E3-CD02-65EA-AFDA-F51F8B55DDE9}"/>
              </a:ext>
            </a:extLst>
          </p:cNvPr>
          <p:cNvSpPr/>
          <p:nvPr/>
        </p:nvSpPr>
        <p:spPr>
          <a:xfrm>
            <a:off x="508000" y="2794000"/>
            <a:ext cx="63500" cy="1270000"/>
          </a:xfrm>
          <a:prstGeom prst="rect">
            <a:avLst/>
          </a:prstGeom>
          <a:solidFill>
            <a:srgbClr val="0098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F798E86-05D2-61A7-708B-2BBB40592CB3}"/>
              </a:ext>
            </a:extLst>
          </p:cNvPr>
          <p:cNvSpPr txBox="1"/>
          <p:nvPr/>
        </p:nvSpPr>
        <p:spPr>
          <a:xfrm>
            <a:off x="698500" y="2921000"/>
            <a:ext cx="254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200" b="1">
                <a:solidFill>
                  <a:srgbClr val="212121"/>
                </a:solidFill>
                <a:latin typeface="Microsoft YaHei" panose="020B0503020204020204" pitchFamily="34" charset="-122"/>
              </a:rPr>
              <a:t>布伦特原油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64B3B57-DF65-AAEE-2946-B9520A8576BE}"/>
              </a:ext>
            </a:extLst>
          </p:cNvPr>
          <p:cNvSpPr txBox="1"/>
          <p:nvPr/>
        </p:nvSpPr>
        <p:spPr>
          <a:xfrm>
            <a:off x="698500" y="3238500"/>
            <a:ext cx="1524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400" b="1">
                <a:solidFill>
                  <a:srgbClr val="0098FF"/>
                </a:solidFill>
                <a:latin typeface="Microsoft YaHei" panose="020B0503020204020204" pitchFamily="34" charset="-122"/>
              </a:rPr>
              <a:t>$94/</a:t>
            </a:r>
            <a:r>
              <a:rPr lang="zh-CN" altLang="en-US" sz="2400" b="1">
                <a:solidFill>
                  <a:srgbClr val="0098FF"/>
                </a:solidFill>
                <a:latin typeface="Microsoft YaHei" panose="020B0503020204020204" pitchFamily="34" charset="-122"/>
              </a:rPr>
              <a:t>桶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BA850ED-6408-8768-4E93-73F51A12A76B}"/>
              </a:ext>
            </a:extLst>
          </p:cNvPr>
          <p:cNvSpPr txBox="1"/>
          <p:nvPr/>
        </p:nvSpPr>
        <p:spPr>
          <a:xfrm>
            <a:off x="3302000" y="3238500"/>
            <a:ext cx="254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较</a:t>
            </a:r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2025+36%</a:t>
            </a:r>
            <a:endParaRPr lang="zh-CN" altLang="en-US" sz="1000">
              <a:solidFill>
                <a:srgbClr val="7575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8AA5E2E-2B57-7D30-77A7-6A29970EC95F}"/>
              </a:ext>
            </a:extLst>
          </p:cNvPr>
          <p:cNvSpPr/>
          <p:nvPr/>
        </p:nvSpPr>
        <p:spPr>
          <a:xfrm>
            <a:off x="6350000" y="2794000"/>
            <a:ext cx="5588000" cy="127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0E0"/>
            </a:solidFill>
            <a:prstDash val="solid"/>
            <a:miter lim="800000"/>
          </a:ln>
          <a:effectLst>
            <a:outerShdw blurRad="50800" dist="37357" dir="2700000" rotWithShape="0">
              <a:scrgbClr r="0" g="0" b="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1A94FCA-D1AE-49EF-D34D-2D6187D8FD5F}"/>
              </a:ext>
            </a:extLst>
          </p:cNvPr>
          <p:cNvSpPr/>
          <p:nvPr/>
        </p:nvSpPr>
        <p:spPr>
          <a:xfrm>
            <a:off x="6350000" y="2794000"/>
            <a:ext cx="63500" cy="1270000"/>
          </a:xfrm>
          <a:prstGeom prst="rect">
            <a:avLst/>
          </a:prstGeom>
          <a:solidFill>
            <a:srgbClr val="F3962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D7F995B-7007-3E9D-9F11-181263F73CB9}"/>
              </a:ext>
            </a:extLst>
          </p:cNvPr>
          <p:cNvSpPr txBox="1"/>
          <p:nvPr/>
        </p:nvSpPr>
        <p:spPr>
          <a:xfrm>
            <a:off x="6540500" y="2921000"/>
            <a:ext cx="254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200" b="1">
                <a:solidFill>
                  <a:srgbClr val="212121"/>
                </a:solidFill>
                <a:latin typeface="Microsoft YaHei" panose="020B0503020204020204" pitchFamily="34" charset="-122"/>
              </a:rPr>
              <a:t>美元走势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46DD850-EADE-394B-7416-C51E9BFDCDFD}"/>
              </a:ext>
            </a:extLst>
          </p:cNvPr>
          <p:cNvSpPr txBox="1"/>
          <p:nvPr/>
        </p:nvSpPr>
        <p:spPr>
          <a:xfrm>
            <a:off x="6540500" y="3238500"/>
            <a:ext cx="1524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 b="1">
                <a:solidFill>
                  <a:srgbClr val="F39621"/>
                </a:solidFill>
                <a:latin typeface="Microsoft YaHei" panose="020B0503020204020204" pitchFamily="34" charset="-122"/>
              </a:rPr>
              <a:t>走弱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11BBB0E-92C3-49C9-27B6-98411FF90D29}"/>
              </a:ext>
            </a:extLst>
          </p:cNvPr>
          <p:cNvSpPr txBox="1"/>
          <p:nvPr/>
        </p:nvSpPr>
        <p:spPr>
          <a:xfrm>
            <a:off x="9144000" y="3238500"/>
            <a:ext cx="254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利好</a:t>
            </a:r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EM</a:t>
            </a:r>
            <a:endParaRPr lang="zh-CN" altLang="en-US" sz="1000">
              <a:solidFill>
                <a:srgbClr val="7575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C95FBD0-61BC-8B6C-E929-99728ED6A9BE}"/>
              </a:ext>
            </a:extLst>
          </p:cNvPr>
          <p:cNvSpPr txBox="1"/>
          <p:nvPr/>
        </p:nvSpPr>
        <p:spPr>
          <a:xfrm>
            <a:off x="508000" y="4318000"/>
            <a:ext cx="6350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 b="1">
                <a:solidFill>
                  <a:srgbClr val="212121"/>
                </a:solidFill>
                <a:latin typeface="Microsoft YaHei" panose="020B0503020204020204" pitchFamily="34" charset="-122"/>
              </a:rPr>
              <a:t>▎世行情景分析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82110CC-7501-97CE-DC42-BD6E59538494}"/>
              </a:ext>
            </a:extLst>
          </p:cNvPr>
          <p:cNvSpPr/>
          <p:nvPr/>
        </p:nvSpPr>
        <p:spPr>
          <a:xfrm>
            <a:off x="508000" y="4762500"/>
            <a:ext cx="3683000" cy="11430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50AF4C"/>
            </a:solidFill>
            <a:prstDash val="solid"/>
            <a:miter lim="800000"/>
          </a:ln>
          <a:effectLst>
            <a:outerShdw blurRad="50800" dist="37357" dir="2700000" rotWithShape="0">
              <a:scrgbClr r="0" g="0" b="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E502764-5A81-CE09-05E6-CA80DE2FFCC5}"/>
              </a:ext>
            </a:extLst>
          </p:cNvPr>
          <p:cNvSpPr/>
          <p:nvPr/>
        </p:nvSpPr>
        <p:spPr>
          <a:xfrm>
            <a:off x="508000" y="4762500"/>
            <a:ext cx="3683000" cy="50800"/>
          </a:xfrm>
          <a:prstGeom prst="rect">
            <a:avLst/>
          </a:prstGeom>
          <a:solidFill>
            <a:srgbClr val="50AF4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EF0AD7A5-AA26-DFEF-66F9-46F9CC87C3CA}"/>
              </a:ext>
            </a:extLst>
          </p:cNvPr>
          <p:cNvSpPr txBox="1"/>
          <p:nvPr/>
        </p:nvSpPr>
        <p:spPr>
          <a:xfrm>
            <a:off x="635000" y="4914900"/>
            <a:ext cx="1270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 b="1">
                <a:solidFill>
                  <a:srgbClr val="50AF4C"/>
                </a:solidFill>
                <a:latin typeface="Microsoft YaHei" panose="020B0503020204020204" pitchFamily="34" charset="-122"/>
              </a:rPr>
              <a:t>基准情景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717D872-91F8-3125-9958-7177FBD5BD50}"/>
              </a:ext>
            </a:extLst>
          </p:cNvPr>
          <p:cNvSpPr txBox="1"/>
          <p:nvPr/>
        </p:nvSpPr>
        <p:spPr>
          <a:xfrm>
            <a:off x="635000" y="5270500"/>
            <a:ext cx="1524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增长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2.5% 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通胀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4.0%</a:t>
            </a:r>
            <a:endParaRPr lang="zh-CN" altLang="en-US" sz="1000">
              <a:solidFill>
                <a:srgbClr val="2121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A09D8899-61A5-C1BB-5F7E-CF33A7952000}"/>
              </a:ext>
            </a:extLst>
          </p:cNvPr>
          <p:cNvSpPr txBox="1"/>
          <p:nvPr/>
        </p:nvSpPr>
        <p:spPr>
          <a:xfrm>
            <a:off x="2286000" y="5270500"/>
            <a:ext cx="1778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温和增长</a:t>
            </a:r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+</a:t>
            </a:r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通胀上行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9BA76A3-DD48-2AF0-4236-5567B1CAB381}"/>
              </a:ext>
            </a:extLst>
          </p:cNvPr>
          <p:cNvSpPr/>
          <p:nvPr/>
        </p:nvSpPr>
        <p:spPr>
          <a:xfrm>
            <a:off x="4445000" y="4762500"/>
            <a:ext cx="3683000" cy="11430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3643F4"/>
            </a:solidFill>
            <a:prstDash val="solid"/>
            <a:miter lim="800000"/>
          </a:ln>
          <a:effectLst>
            <a:outerShdw blurRad="50800" dist="37357" dir="2700000" rotWithShape="0">
              <a:scrgbClr r="0" g="0" b="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52920AA-2770-2B8B-7753-460211EBCBC9}"/>
              </a:ext>
            </a:extLst>
          </p:cNvPr>
          <p:cNvSpPr/>
          <p:nvPr/>
        </p:nvSpPr>
        <p:spPr>
          <a:xfrm>
            <a:off x="4445000" y="4762500"/>
            <a:ext cx="3683000" cy="50800"/>
          </a:xfrm>
          <a:prstGeom prst="rect">
            <a:avLst/>
          </a:prstGeom>
          <a:solidFill>
            <a:srgbClr val="3643F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86193C4-6843-FBD4-3299-BE4B524B8840}"/>
              </a:ext>
            </a:extLst>
          </p:cNvPr>
          <p:cNvSpPr txBox="1"/>
          <p:nvPr/>
        </p:nvSpPr>
        <p:spPr>
          <a:xfrm>
            <a:off x="4572000" y="4914900"/>
            <a:ext cx="1270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 b="1">
                <a:solidFill>
                  <a:srgbClr val="3643F4"/>
                </a:solidFill>
                <a:latin typeface="Microsoft YaHei" panose="020B0503020204020204" pitchFamily="34" charset="-122"/>
              </a:rPr>
              <a:t>下行情景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A02B3C22-2C25-1344-E809-CE294C281BED}"/>
              </a:ext>
            </a:extLst>
          </p:cNvPr>
          <p:cNvSpPr txBox="1"/>
          <p:nvPr/>
        </p:nvSpPr>
        <p:spPr>
          <a:xfrm>
            <a:off x="4572000" y="5270500"/>
            <a:ext cx="1524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增长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1.3% 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通胀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4.4%</a:t>
            </a:r>
            <a:endParaRPr lang="zh-CN" altLang="en-US" sz="1000">
              <a:solidFill>
                <a:srgbClr val="2121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C34DFEF-CCEA-B7D8-919D-12A3AE8FEA8C}"/>
              </a:ext>
            </a:extLst>
          </p:cNvPr>
          <p:cNvSpPr txBox="1"/>
          <p:nvPr/>
        </p:nvSpPr>
        <p:spPr>
          <a:xfrm>
            <a:off x="6223000" y="5270500"/>
            <a:ext cx="1778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能源中断</a:t>
            </a:r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+</a:t>
            </a:r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金融压力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819581F-59B7-1DAB-6215-CBADE501BC72}"/>
              </a:ext>
            </a:extLst>
          </p:cNvPr>
          <p:cNvSpPr/>
          <p:nvPr/>
        </p:nvSpPr>
        <p:spPr>
          <a:xfrm>
            <a:off x="8382000" y="4762500"/>
            <a:ext cx="3683000" cy="11430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39621"/>
            </a:solidFill>
            <a:prstDash val="solid"/>
            <a:miter lim="800000"/>
          </a:ln>
          <a:effectLst>
            <a:outerShdw blurRad="50800" dist="37357" dir="2700000" rotWithShape="0">
              <a:scrgbClr r="0" g="0" b="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01F3C511-0C9F-F86A-DA12-81C6AF84FED2}"/>
              </a:ext>
            </a:extLst>
          </p:cNvPr>
          <p:cNvSpPr/>
          <p:nvPr/>
        </p:nvSpPr>
        <p:spPr>
          <a:xfrm>
            <a:off x="8382000" y="4762500"/>
            <a:ext cx="3683000" cy="50800"/>
          </a:xfrm>
          <a:prstGeom prst="rect">
            <a:avLst/>
          </a:prstGeom>
          <a:solidFill>
            <a:srgbClr val="F3962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873636B0-9B18-9974-AF92-3C5AEAC457F3}"/>
              </a:ext>
            </a:extLst>
          </p:cNvPr>
          <p:cNvSpPr txBox="1"/>
          <p:nvPr/>
        </p:nvSpPr>
        <p:spPr>
          <a:xfrm>
            <a:off x="8509000" y="4914900"/>
            <a:ext cx="1270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 b="1">
                <a:solidFill>
                  <a:srgbClr val="F39621"/>
                </a:solidFill>
                <a:latin typeface="Microsoft YaHei" panose="020B0503020204020204" pitchFamily="34" charset="-122"/>
              </a:rPr>
              <a:t>上行情景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7211B11-25BD-A994-C2C1-B577E58AC914}"/>
              </a:ext>
            </a:extLst>
          </p:cNvPr>
          <p:cNvSpPr txBox="1"/>
          <p:nvPr/>
        </p:nvSpPr>
        <p:spPr>
          <a:xfrm>
            <a:off x="8509000" y="5270500"/>
            <a:ext cx="1524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增长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2.8%+ 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通胀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3.5%</a:t>
            </a:r>
            <a:endParaRPr lang="zh-CN" altLang="en-US" sz="1000">
              <a:solidFill>
                <a:srgbClr val="2121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1B323F06-5B33-6421-7374-B118C1F1D8F7}"/>
              </a:ext>
            </a:extLst>
          </p:cNvPr>
          <p:cNvSpPr txBox="1"/>
          <p:nvPr/>
        </p:nvSpPr>
        <p:spPr>
          <a:xfrm>
            <a:off x="10160000" y="5270500"/>
            <a:ext cx="1778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驱动</a:t>
            </a:r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+</a:t>
            </a:r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贸易缓和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5AAAB59-D10B-B0CE-0D23-E0949EABBC35}"/>
              </a:ext>
            </a:extLst>
          </p:cNvPr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32231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6BEF6469-83AD-DAFA-4A47-64E9CEB8966A}"/>
              </a:ext>
            </a:extLst>
          </p:cNvPr>
          <p:cNvSpPr txBox="1"/>
          <p:nvPr/>
        </p:nvSpPr>
        <p:spPr>
          <a:xfrm>
            <a:off x="508000" y="6540500"/>
            <a:ext cx="7620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800">
                <a:solidFill>
                  <a:srgbClr val="FFFFFF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sz="800">
                <a:solidFill>
                  <a:srgbClr val="FFFFFF"/>
                </a:solidFill>
                <a:latin typeface="Microsoft YaHei" panose="020B0503020204020204" pitchFamily="34" charset="-122"/>
              </a:rPr>
              <a:t>资本泡沫与全球经济走势分析 </a:t>
            </a:r>
            <a:r>
              <a:rPr lang="en-US" altLang="zh-CN" sz="800">
                <a:solidFill>
                  <a:srgbClr val="FFFFFF"/>
                </a:solidFill>
                <a:latin typeface="Microsoft YaHei" panose="020B0503020204020204" pitchFamily="34" charset="-122"/>
              </a:rPr>
              <a:t>| 2026</a:t>
            </a:r>
            <a:endParaRPr lang="zh-CN" altLang="en-US" sz="800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75497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C0D96ACB-3E65-7D95-0CC5-73DBA7DEA1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9F5E8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BE5C7A7-5F08-5E1C-1240-BB215A2F4AE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3D997DA-B393-7B64-93E9-4A17652B3911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F3962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A7BC12A-93B8-AA83-DF71-29EF6452115C}"/>
              </a:ext>
            </a:extLst>
          </p:cNvPr>
          <p:cNvSpPr txBox="1"/>
          <p:nvPr/>
        </p:nvSpPr>
        <p:spPr>
          <a:xfrm>
            <a:off x="508000" y="317500"/>
            <a:ext cx="762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3600" b="1">
                <a:solidFill>
                  <a:srgbClr val="F39621"/>
                </a:solidFill>
                <a:latin typeface="Microsoft YaHei" panose="020B0503020204020204" pitchFamily="34" charset="-122"/>
              </a:rPr>
              <a:t>09</a:t>
            </a:r>
            <a:endParaRPr lang="zh-CN" altLang="en-US" sz="3600" b="1">
              <a:solidFill>
                <a:srgbClr val="F396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6596565-D922-6644-6262-1745FE775E0D}"/>
              </a:ext>
            </a:extLst>
          </p:cNvPr>
          <p:cNvSpPr/>
          <p:nvPr/>
        </p:nvSpPr>
        <p:spPr>
          <a:xfrm>
            <a:off x="1270000" y="381000"/>
            <a:ext cx="25400" cy="381000"/>
          </a:xfrm>
          <a:prstGeom prst="rect">
            <a:avLst/>
          </a:prstGeom>
          <a:solidFill>
            <a:srgbClr val="F3962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E3A05F0-0CF8-7EDD-4D5A-7F6A0B80FC84}"/>
              </a:ext>
            </a:extLst>
          </p:cNvPr>
          <p:cNvSpPr txBox="1"/>
          <p:nvPr/>
        </p:nvSpPr>
        <p:spPr>
          <a:xfrm>
            <a:off x="1460500" y="317500"/>
            <a:ext cx="889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400" b="1">
                <a:solidFill>
                  <a:srgbClr val="212121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sz="2400" b="1">
                <a:solidFill>
                  <a:srgbClr val="212121"/>
                </a:solidFill>
                <a:latin typeface="Microsoft YaHei" panose="020B0503020204020204" pitchFamily="34" charset="-122"/>
              </a:rPr>
              <a:t>泡沫对中国的双面影响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8A0773A-43B2-E11C-7B51-CE3B52CF9FDC}"/>
              </a:ext>
            </a:extLst>
          </p:cNvPr>
          <p:cNvSpPr txBox="1"/>
          <p:nvPr/>
        </p:nvSpPr>
        <p:spPr>
          <a:xfrm>
            <a:off x="1460500" y="787400"/>
            <a:ext cx="889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200">
                <a:solidFill>
                  <a:srgbClr val="757575"/>
                </a:solidFill>
                <a:latin typeface="Microsoft YaHei" panose="020B0503020204020204" pitchFamily="34" charset="-122"/>
              </a:rPr>
              <a:t>机遇与风险并存 </a:t>
            </a:r>
            <a:r>
              <a:rPr lang="en-US" altLang="zh-CN" sz="1200">
                <a:solidFill>
                  <a:srgbClr val="757575"/>
                </a:solidFill>
                <a:latin typeface="Microsoft YaHei" panose="020B0503020204020204" pitchFamily="34" charset="-122"/>
              </a:rPr>
              <a:t>| </a:t>
            </a:r>
            <a:r>
              <a:rPr lang="zh-CN" altLang="en-US" sz="1200">
                <a:solidFill>
                  <a:srgbClr val="757575"/>
                </a:solidFill>
                <a:latin typeface="Microsoft YaHei" panose="020B0503020204020204" pitchFamily="34" charset="-122"/>
              </a:rPr>
              <a:t>投资</a:t>
            </a:r>
            <a:r>
              <a:rPr lang="en-US" altLang="zh-CN" sz="1200">
                <a:solidFill>
                  <a:srgbClr val="757575"/>
                </a:solidFill>
                <a:latin typeface="Microsoft YaHei" panose="020B0503020204020204" pitchFamily="34" charset="-122"/>
              </a:rPr>
              <a:t>·</a:t>
            </a:r>
            <a:r>
              <a:rPr lang="zh-CN" altLang="en-US" sz="1200">
                <a:solidFill>
                  <a:srgbClr val="757575"/>
                </a:solidFill>
                <a:latin typeface="Microsoft YaHei" panose="020B0503020204020204" pitchFamily="34" charset="-122"/>
              </a:rPr>
              <a:t>产业</a:t>
            </a:r>
            <a:r>
              <a:rPr lang="en-US" altLang="zh-CN" sz="1200">
                <a:solidFill>
                  <a:srgbClr val="757575"/>
                </a:solidFill>
                <a:latin typeface="Microsoft YaHei" panose="020B0503020204020204" pitchFamily="34" charset="-122"/>
              </a:rPr>
              <a:t>·</a:t>
            </a:r>
            <a:r>
              <a:rPr lang="zh-CN" altLang="en-US" sz="1200">
                <a:solidFill>
                  <a:srgbClr val="757575"/>
                </a:solidFill>
                <a:latin typeface="Microsoft YaHei" panose="020B0503020204020204" pitchFamily="34" charset="-122"/>
              </a:rPr>
              <a:t>就业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36B58B8-F403-B2FE-3396-C903F1A73698}"/>
              </a:ext>
            </a:extLst>
          </p:cNvPr>
          <p:cNvSpPr/>
          <p:nvPr/>
        </p:nvSpPr>
        <p:spPr>
          <a:xfrm>
            <a:off x="508000" y="1206500"/>
            <a:ext cx="11176000" cy="12700"/>
          </a:xfrm>
          <a:prstGeom prst="rect">
            <a:avLst/>
          </a:prstGeom>
          <a:solidFill>
            <a:srgbClr val="E0E0E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6C8A91C-1810-148C-6889-0376B4CEA933}"/>
              </a:ext>
            </a:extLst>
          </p:cNvPr>
          <p:cNvSpPr txBox="1"/>
          <p:nvPr/>
        </p:nvSpPr>
        <p:spPr>
          <a:xfrm>
            <a:off x="508000" y="1397000"/>
            <a:ext cx="5715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 b="1">
                <a:solidFill>
                  <a:srgbClr val="50AF4C"/>
                </a:solidFill>
                <a:latin typeface="Microsoft YaHei" panose="020B0503020204020204" pitchFamily="34" charset="-122"/>
              </a:rPr>
              <a:t>▎正面影响 </a:t>
            </a:r>
            <a:r>
              <a:rPr lang="en-US" altLang="zh-CN" sz="1300" b="1">
                <a:solidFill>
                  <a:srgbClr val="50AF4C"/>
                </a:solidFill>
                <a:latin typeface="Microsoft YaHei" panose="020B0503020204020204" pitchFamily="34" charset="-122"/>
              </a:rPr>
              <a:t>— AI</a:t>
            </a:r>
            <a:r>
              <a:rPr lang="zh-CN" altLang="en-US" sz="1300" b="1">
                <a:solidFill>
                  <a:srgbClr val="50AF4C"/>
                </a:solidFill>
                <a:latin typeface="Microsoft YaHei" panose="020B0503020204020204" pitchFamily="34" charset="-122"/>
              </a:rPr>
              <a:t>驱动增长机遇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A432F57-38A1-8B5C-991F-A7D950701804}"/>
              </a:ext>
            </a:extLst>
          </p:cNvPr>
          <p:cNvSpPr/>
          <p:nvPr/>
        </p:nvSpPr>
        <p:spPr>
          <a:xfrm>
            <a:off x="635000" y="1879600"/>
            <a:ext cx="152400" cy="152400"/>
          </a:xfrm>
          <a:prstGeom prst="rect">
            <a:avLst/>
          </a:prstGeom>
          <a:solidFill>
            <a:srgbClr val="50AF4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B9280EE-6856-88DE-2CA5-76D9EE94A012}"/>
              </a:ext>
            </a:extLst>
          </p:cNvPr>
          <p:cNvSpPr txBox="1"/>
          <p:nvPr/>
        </p:nvSpPr>
        <p:spPr>
          <a:xfrm>
            <a:off x="889000" y="1841500"/>
            <a:ext cx="444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 b="1">
                <a:solidFill>
                  <a:srgbClr val="212121"/>
                </a:solidFill>
                <a:latin typeface="Microsoft YaHei" panose="020B0503020204020204" pitchFamily="34" charset="-122"/>
              </a:rPr>
              <a:t>✅ 产业升级加速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813D3F8-76F5-5942-0244-49430C8A165C}"/>
              </a:ext>
            </a:extLst>
          </p:cNvPr>
          <p:cNvSpPr txBox="1"/>
          <p:nvPr/>
        </p:nvSpPr>
        <p:spPr>
          <a:xfrm>
            <a:off x="889000" y="2070100"/>
            <a:ext cx="4826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高技术制造</a:t>
            </a:r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+9.4%</a:t>
            </a:r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，设备制造</a:t>
            </a:r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+9.2%</a:t>
            </a:r>
            <a:endParaRPr lang="zh-CN" altLang="en-US" sz="1000">
              <a:solidFill>
                <a:srgbClr val="7575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C81271F-0795-65AE-ADAA-EFC921F45277}"/>
              </a:ext>
            </a:extLst>
          </p:cNvPr>
          <p:cNvSpPr/>
          <p:nvPr/>
        </p:nvSpPr>
        <p:spPr>
          <a:xfrm>
            <a:off x="635000" y="2362200"/>
            <a:ext cx="152400" cy="152400"/>
          </a:xfrm>
          <a:prstGeom prst="rect">
            <a:avLst/>
          </a:prstGeom>
          <a:solidFill>
            <a:srgbClr val="50AF4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5366942-C838-963D-193B-A5CDD2A2A5F1}"/>
              </a:ext>
            </a:extLst>
          </p:cNvPr>
          <p:cNvSpPr txBox="1"/>
          <p:nvPr/>
        </p:nvSpPr>
        <p:spPr>
          <a:xfrm>
            <a:off x="889000" y="2324100"/>
            <a:ext cx="444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 b="1">
                <a:solidFill>
                  <a:srgbClr val="212121"/>
                </a:solidFill>
                <a:latin typeface="Microsoft YaHei" panose="020B0503020204020204" pitchFamily="34" charset="-122"/>
              </a:rPr>
              <a:t>✅ 出口结构优化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3F68E42-F4B7-F348-5B7D-0C744A8CD6F7}"/>
              </a:ext>
            </a:extLst>
          </p:cNvPr>
          <p:cNvSpPr txBox="1"/>
          <p:nvPr/>
        </p:nvSpPr>
        <p:spPr>
          <a:xfrm>
            <a:off x="889000" y="2552700"/>
            <a:ext cx="4826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高新技术</a:t>
            </a:r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$7500</a:t>
            </a:r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亿</a:t>
            </a:r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(+13.2%)</a:t>
            </a:r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，机器人</a:t>
            </a:r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+48.7%</a:t>
            </a:r>
            <a:endParaRPr lang="zh-CN" altLang="en-US" sz="1000">
              <a:solidFill>
                <a:srgbClr val="7575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A19AACF-BCC0-0225-1372-474FD5FABA1D}"/>
              </a:ext>
            </a:extLst>
          </p:cNvPr>
          <p:cNvSpPr/>
          <p:nvPr/>
        </p:nvSpPr>
        <p:spPr>
          <a:xfrm>
            <a:off x="635000" y="2844800"/>
            <a:ext cx="152400" cy="152400"/>
          </a:xfrm>
          <a:prstGeom prst="rect">
            <a:avLst/>
          </a:prstGeom>
          <a:solidFill>
            <a:srgbClr val="50AF4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3E4962E-9AD3-CCA0-8F6E-789F8BD72220}"/>
              </a:ext>
            </a:extLst>
          </p:cNvPr>
          <p:cNvSpPr txBox="1"/>
          <p:nvPr/>
        </p:nvSpPr>
        <p:spPr>
          <a:xfrm>
            <a:off x="889000" y="2806700"/>
            <a:ext cx="444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 b="1">
                <a:solidFill>
                  <a:srgbClr val="212121"/>
                </a:solidFill>
                <a:latin typeface="Microsoft YaHei" panose="020B0503020204020204" pitchFamily="34" charset="-122"/>
              </a:rPr>
              <a:t>✅ 新消费增长点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49E59E3-5CE5-9B07-2531-A4226698B4C2}"/>
              </a:ext>
            </a:extLst>
          </p:cNvPr>
          <p:cNvSpPr txBox="1"/>
          <p:nvPr/>
        </p:nvSpPr>
        <p:spPr>
          <a:xfrm>
            <a:off x="889000" y="3035300"/>
            <a:ext cx="4826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生成式</a:t>
            </a:r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用户</a:t>
            </a:r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6</a:t>
            </a:r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亿</a:t>
            </a:r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+</a:t>
            </a:r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，智能硬件爆发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70AECB3-EF7D-D6CE-0163-7882AD556FBA}"/>
              </a:ext>
            </a:extLst>
          </p:cNvPr>
          <p:cNvSpPr/>
          <p:nvPr/>
        </p:nvSpPr>
        <p:spPr>
          <a:xfrm>
            <a:off x="635000" y="3327400"/>
            <a:ext cx="152400" cy="152400"/>
          </a:xfrm>
          <a:prstGeom prst="rect">
            <a:avLst/>
          </a:prstGeom>
          <a:solidFill>
            <a:srgbClr val="50AF4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9ADBC1C-6DA9-90BF-270C-96A3BD996A3D}"/>
              </a:ext>
            </a:extLst>
          </p:cNvPr>
          <p:cNvSpPr txBox="1"/>
          <p:nvPr/>
        </p:nvSpPr>
        <p:spPr>
          <a:xfrm>
            <a:off x="889000" y="3289300"/>
            <a:ext cx="444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 b="1">
                <a:solidFill>
                  <a:srgbClr val="212121"/>
                </a:solidFill>
                <a:latin typeface="Microsoft YaHei" panose="020B0503020204020204" pitchFamily="34" charset="-122"/>
              </a:rPr>
              <a:t>✅ 生产率提升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3F5E763-D7ED-8BEB-07E7-33BB4C9C4F24}"/>
              </a:ext>
            </a:extLst>
          </p:cNvPr>
          <p:cNvSpPr txBox="1"/>
          <p:nvPr/>
        </p:nvSpPr>
        <p:spPr>
          <a:xfrm>
            <a:off x="889000" y="3517900"/>
            <a:ext cx="4826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制造业</a:t>
            </a:r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使用率</a:t>
            </a:r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&gt;30%</a:t>
            </a:r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，智算</a:t>
            </a:r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1590 EFLOPS</a:t>
            </a:r>
            <a:endParaRPr lang="zh-CN" altLang="en-US" sz="1000">
              <a:solidFill>
                <a:srgbClr val="7575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DCD5AB1-A45C-019D-A123-C8DE483B663F}"/>
              </a:ext>
            </a:extLst>
          </p:cNvPr>
          <p:cNvSpPr/>
          <p:nvPr/>
        </p:nvSpPr>
        <p:spPr>
          <a:xfrm>
            <a:off x="635000" y="3810000"/>
            <a:ext cx="152400" cy="152400"/>
          </a:xfrm>
          <a:prstGeom prst="rect">
            <a:avLst/>
          </a:prstGeom>
          <a:solidFill>
            <a:srgbClr val="50AF4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0512DAF-4774-0E13-C93A-ED743BE88FBA}"/>
              </a:ext>
            </a:extLst>
          </p:cNvPr>
          <p:cNvSpPr txBox="1"/>
          <p:nvPr/>
        </p:nvSpPr>
        <p:spPr>
          <a:xfrm>
            <a:off x="889000" y="3771900"/>
            <a:ext cx="444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 b="1">
                <a:solidFill>
                  <a:srgbClr val="212121"/>
                </a:solidFill>
                <a:latin typeface="Microsoft YaHei" panose="020B0503020204020204" pitchFamily="34" charset="-122"/>
              </a:rPr>
              <a:t>✅ 吸引高科技</a:t>
            </a:r>
            <a:r>
              <a:rPr lang="en-US" altLang="zh-CN" sz="1100" b="1">
                <a:solidFill>
                  <a:srgbClr val="212121"/>
                </a:solidFill>
                <a:latin typeface="Microsoft YaHei" panose="020B0503020204020204" pitchFamily="34" charset="-122"/>
              </a:rPr>
              <a:t>FDI</a:t>
            </a:r>
            <a:endParaRPr lang="zh-CN" altLang="en-US" sz="1100" b="1">
              <a:solidFill>
                <a:srgbClr val="2121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97050B3-F288-1F0D-E415-42A0889B92C9}"/>
              </a:ext>
            </a:extLst>
          </p:cNvPr>
          <p:cNvSpPr txBox="1"/>
          <p:nvPr/>
        </p:nvSpPr>
        <p:spPr>
          <a:xfrm>
            <a:off x="889000" y="4000500"/>
            <a:ext cx="4826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高科技</a:t>
            </a:r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FDI</a:t>
            </a:r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占</a:t>
            </a:r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40.4%</a:t>
            </a:r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+20.3%</a:t>
            </a:r>
            <a:endParaRPr lang="zh-CN" altLang="en-US" sz="1000">
              <a:solidFill>
                <a:srgbClr val="7575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1EC9F5A-5398-60D4-FD7B-F540D864A6A2}"/>
              </a:ext>
            </a:extLst>
          </p:cNvPr>
          <p:cNvSpPr/>
          <p:nvPr/>
        </p:nvSpPr>
        <p:spPr>
          <a:xfrm>
            <a:off x="635000" y="4292600"/>
            <a:ext cx="152400" cy="152400"/>
          </a:xfrm>
          <a:prstGeom prst="rect">
            <a:avLst/>
          </a:prstGeom>
          <a:solidFill>
            <a:srgbClr val="50AF4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B8E7040-FBF5-F4E9-0567-6D21D861908A}"/>
              </a:ext>
            </a:extLst>
          </p:cNvPr>
          <p:cNvSpPr txBox="1"/>
          <p:nvPr/>
        </p:nvSpPr>
        <p:spPr>
          <a:xfrm>
            <a:off x="889000" y="4254500"/>
            <a:ext cx="444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 b="1">
                <a:solidFill>
                  <a:srgbClr val="212121"/>
                </a:solidFill>
                <a:latin typeface="Microsoft YaHei" panose="020B0503020204020204" pitchFamily="34" charset="-122"/>
              </a:rPr>
              <a:t>✅ 创新药突破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1DC1B79-89A3-9F8C-B6F5-055F65BD4296}"/>
              </a:ext>
            </a:extLst>
          </p:cNvPr>
          <p:cNvSpPr txBox="1"/>
          <p:nvPr/>
        </p:nvSpPr>
        <p:spPr>
          <a:xfrm>
            <a:off x="889000" y="4483100"/>
            <a:ext cx="4826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76</a:t>
            </a:r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款新药，</a:t>
            </a:r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license-out&gt;$1300</a:t>
            </a:r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亿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54BAB2B-BE7A-69F0-DF7A-4B26DECA2B9A}"/>
              </a:ext>
            </a:extLst>
          </p:cNvPr>
          <p:cNvSpPr txBox="1"/>
          <p:nvPr/>
        </p:nvSpPr>
        <p:spPr>
          <a:xfrm>
            <a:off x="6604000" y="1397000"/>
            <a:ext cx="5715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 b="1">
                <a:solidFill>
                  <a:srgbClr val="3643F4"/>
                </a:solidFill>
                <a:latin typeface="Microsoft YaHei" panose="020B0503020204020204" pitchFamily="34" charset="-122"/>
              </a:rPr>
              <a:t>▎负面影响 </a:t>
            </a:r>
            <a:r>
              <a:rPr lang="en-US" altLang="zh-CN" sz="1300" b="1">
                <a:solidFill>
                  <a:srgbClr val="3643F4"/>
                </a:solidFill>
                <a:latin typeface="Microsoft YaHei" panose="020B0503020204020204" pitchFamily="34" charset="-122"/>
              </a:rPr>
              <a:t>— </a:t>
            </a:r>
            <a:r>
              <a:rPr lang="zh-CN" altLang="en-US" sz="1300" b="1">
                <a:solidFill>
                  <a:srgbClr val="3643F4"/>
                </a:solidFill>
                <a:latin typeface="Microsoft YaHei" panose="020B0503020204020204" pitchFamily="34" charset="-122"/>
              </a:rPr>
              <a:t>泡沫溢出风险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209B9A8-E5D0-BC02-2C80-A2083FA1201C}"/>
              </a:ext>
            </a:extLst>
          </p:cNvPr>
          <p:cNvSpPr/>
          <p:nvPr/>
        </p:nvSpPr>
        <p:spPr>
          <a:xfrm>
            <a:off x="6731000" y="1879600"/>
            <a:ext cx="152400" cy="152400"/>
          </a:xfrm>
          <a:prstGeom prst="rect">
            <a:avLst/>
          </a:prstGeom>
          <a:solidFill>
            <a:srgbClr val="3643F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B890277-C7FB-89E5-BD41-64F98A4575E1}"/>
              </a:ext>
            </a:extLst>
          </p:cNvPr>
          <p:cNvSpPr txBox="1"/>
          <p:nvPr/>
        </p:nvSpPr>
        <p:spPr>
          <a:xfrm>
            <a:off x="6985000" y="1841500"/>
            <a:ext cx="444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 b="1">
                <a:solidFill>
                  <a:srgbClr val="212121"/>
                </a:solidFill>
                <a:latin typeface="Microsoft YaHei" panose="020B0503020204020204" pitchFamily="34" charset="-122"/>
              </a:rPr>
              <a:t>⚠️ 出口依赖风险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E0ABC3F-A24F-B62E-EA3E-46F8C3C9FA88}"/>
              </a:ext>
            </a:extLst>
          </p:cNvPr>
          <p:cNvSpPr txBox="1"/>
          <p:nvPr/>
        </p:nvSpPr>
        <p:spPr>
          <a:xfrm>
            <a:off x="6985000" y="2070100"/>
            <a:ext cx="4826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全球需求收缩→出口承压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6D259FB-9682-3C6E-7363-7003F6098E8F}"/>
              </a:ext>
            </a:extLst>
          </p:cNvPr>
          <p:cNvSpPr/>
          <p:nvPr/>
        </p:nvSpPr>
        <p:spPr>
          <a:xfrm>
            <a:off x="6731000" y="2362200"/>
            <a:ext cx="152400" cy="152400"/>
          </a:xfrm>
          <a:prstGeom prst="rect">
            <a:avLst/>
          </a:prstGeom>
          <a:solidFill>
            <a:srgbClr val="3643F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1658BC1-4A1F-1935-E721-5AD829D8DE1C}"/>
              </a:ext>
            </a:extLst>
          </p:cNvPr>
          <p:cNvSpPr txBox="1"/>
          <p:nvPr/>
        </p:nvSpPr>
        <p:spPr>
          <a:xfrm>
            <a:off x="6985000" y="2324100"/>
            <a:ext cx="444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 b="1">
                <a:solidFill>
                  <a:srgbClr val="212121"/>
                </a:solidFill>
                <a:latin typeface="Microsoft YaHei" panose="020B0503020204020204" pitchFamily="34" charset="-122"/>
              </a:rPr>
              <a:t>⚠️ 资本外流压力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9A543AF-462A-E85F-0592-4EAABB71130D}"/>
              </a:ext>
            </a:extLst>
          </p:cNvPr>
          <p:cNvSpPr txBox="1"/>
          <p:nvPr/>
        </p:nvSpPr>
        <p:spPr>
          <a:xfrm>
            <a:off x="6985000" y="2552700"/>
            <a:ext cx="4826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估值崩盘→流动性收紧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D0D6F96-780D-DC58-2CD7-A507658BB757}"/>
              </a:ext>
            </a:extLst>
          </p:cNvPr>
          <p:cNvSpPr/>
          <p:nvPr/>
        </p:nvSpPr>
        <p:spPr>
          <a:xfrm>
            <a:off x="6731000" y="2844800"/>
            <a:ext cx="152400" cy="152400"/>
          </a:xfrm>
          <a:prstGeom prst="rect">
            <a:avLst/>
          </a:prstGeom>
          <a:solidFill>
            <a:srgbClr val="3643F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29ACF8B8-5F4A-D297-C005-9CA250552620}"/>
              </a:ext>
            </a:extLst>
          </p:cNvPr>
          <p:cNvSpPr txBox="1"/>
          <p:nvPr/>
        </p:nvSpPr>
        <p:spPr>
          <a:xfrm>
            <a:off x="6985000" y="2806700"/>
            <a:ext cx="444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 b="1">
                <a:solidFill>
                  <a:srgbClr val="212121"/>
                </a:solidFill>
                <a:latin typeface="Microsoft YaHei" panose="020B0503020204020204" pitchFamily="34" charset="-122"/>
              </a:rPr>
              <a:t>⚠️ 房地产拖累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4F4CABF-97ED-30D8-DF74-2BE347434E78}"/>
              </a:ext>
            </a:extLst>
          </p:cNvPr>
          <p:cNvSpPr txBox="1"/>
          <p:nvPr/>
        </p:nvSpPr>
        <p:spPr>
          <a:xfrm>
            <a:off x="6985000" y="3035300"/>
            <a:ext cx="4826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新开工</a:t>
            </a:r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-75%</a:t>
            </a:r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，投资</a:t>
            </a:r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-50%</a:t>
            </a:r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，第</a:t>
            </a:r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5</a:t>
            </a:r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年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9720B8E-0D7D-A497-FCA5-B4332E4F2884}"/>
              </a:ext>
            </a:extLst>
          </p:cNvPr>
          <p:cNvSpPr/>
          <p:nvPr/>
        </p:nvSpPr>
        <p:spPr>
          <a:xfrm>
            <a:off x="6731000" y="3327400"/>
            <a:ext cx="152400" cy="152400"/>
          </a:xfrm>
          <a:prstGeom prst="rect">
            <a:avLst/>
          </a:prstGeom>
          <a:solidFill>
            <a:srgbClr val="3643F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3FBA3214-1EF2-FCEC-77DA-39854D07FB68}"/>
              </a:ext>
            </a:extLst>
          </p:cNvPr>
          <p:cNvSpPr txBox="1"/>
          <p:nvPr/>
        </p:nvSpPr>
        <p:spPr>
          <a:xfrm>
            <a:off x="6985000" y="3289300"/>
            <a:ext cx="444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 b="1">
                <a:solidFill>
                  <a:srgbClr val="212121"/>
                </a:solidFill>
                <a:latin typeface="Microsoft YaHei" panose="020B0503020204020204" pitchFamily="34" charset="-122"/>
              </a:rPr>
              <a:t>⚠️ FDI</a:t>
            </a:r>
            <a:r>
              <a:rPr lang="zh-CN" altLang="en-US" sz="1100" b="1">
                <a:solidFill>
                  <a:srgbClr val="212121"/>
                </a:solidFill>
                <a:latin typeface="Microsoft YaHei" panose="020B0503020204020204" pitchFamily="34" charset="-122"/>
              </a:rPr>
              <a:t>下滑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FB31F1C5-90BB-CF5B-2FB7-5E789261B5A8}"/>
              </a:ext>
            </a:extLst>
          </p:cNvPr>
          <p:cNvSpPr txBox="1"/>
          <p:nvPr/>
        </p:nvSpPr>
        <p:spPr>
          <a:xfrm>
            <a:off x="6985000" y="3517900"/>
            <a:ext cx="4826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实际使用</a:t>
            </a:r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-9.5%</a:t>
            </a:r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BOP 30</a:t>
            </a:r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年低点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90BF633-7D5D-1FC3-D0DA-C72C838BE794}"/>
              </a:ext>
            </a:extLst>
          </p:cNvPr>
          <p:cNvSpPr/>
          <p:nvPr/>
        </p:nvSpPr>
        <p:spPr>
          <a:xfrm>
            <a:off x="6731000" y="3810000"/>
            <a:ext cx="152400" cy="152400"/>
          </a:xfrm>
          <a:prstGeom prst="rect">
            <a:avLst/>
          </a:prstGeom>
          <a:solidFill>
            <a:srgbClr val="3643F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80101214-3061-70DB-DA4D-2C71BFA5BEF0}"/>
              </a:ext>
            </a:extLst>
          </p:cNvPr>
          <p:cNvSpPr txBox="1"/>
          <p:nvPr/>
        </p:nvSpPr>
        <p:spPr>
          <a:xfrm>
            <a:off x="6985000" y="3771900"/>
            <a:ext cx="444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 b="1">
                <a:solidFill>
                  <a:srgbClr val="212121"/>
                </a:solidFill>
                <a:latin typeface="Microsoft YaHei" panose="020B0503020204020204" pitchFamily="34" charset="-122"/>
              </a:rPr>
              <a:t>⚠️ 芯片制裁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9C58FC39-FDCD-03F6-FF13-AB3D95A705EE}"/>
              </a:ext>
            </a:extLst>
          </p:cNvPr>
          <p:cNvSpPr txBox="1"/>
          <p:nvPr/>
        </p:nvSpPr>
        <p:spPr>
          <a:xfrm>
            <a:off x="6985000" y="4000500"/>
            <a:ext cx="4826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集成电路</a:t>
            </a:r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&gt;$4240</a:t>
            </a:r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亿，自主替代中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6F031B11-7BC0-E567-8551-088AFDB2EACE}"/>
              </a:ext>
            </a:extLst>
          </p:cNvPr>
          <p:cNvSpPr/>
          <p:nvPr/>
        </p:nvSpPr>
        <p:spPr>
          <a:xfrm>
            <a:off x="6731000" y="4292600"/>
            <a:ext cx="152400" cy="152400"/>
          </a:xfrm>
          <a:prstGeom prst="rect">
            <a:avLst/>
          </a:prstGeom>
          <a:solidFill>
            <a:srgbClr val="3643F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B5A9110B-9F39-5377-FD17-611A3AB4BA3E}"/>
              </a:ext>
            </a:extLst>
          </p:cNvPr>
          <p:cNvSpPr txBox="1"/>
          <p:nvPr/>
        </p:nvSpPr>
        <p:spPr>
          <a:xfrm>
            <a:off x="6985000" y="4254500"/>
            <a:ext cx="444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 b="1">
                <a:solidFill>
                  <a:srgbClr val="212121"/>
                </a:solidFill>
                <a:latin typeface="Microsoft YaHei" panose="020B0503020204020204" pitchFamily="34" charset="-122"/>
              </a:rPr>
              <a:t>⚠️ AI</a:t>
            </a:r>
            <a:r>
              <a:rPr lang="zh-CN" altLang="en-US" sz="1100" b="1">
                <a:solidFill>
                  <a:srgbClr val="212121"/>
                </a:solidFill>
                <a:latin typeface="Microsoft YaHei" panose="020B0503020204020204" pitchFamily="34" charset="-122"/>
              </a:rPr>
              <a:t>投资过热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9BF5A929-C26F-F4AD-0BA9-56166D3A464E}"/>
              </a:ext>
            </a:extLst>
          </p:cNvPr>
          <p:cNvSpPr txBox="1"/>
          <p:nvPr/>
        </p:nvSpPr>
        <p:spPr>
          <a:xfrm>
            <a:off x="6985000" y="4483100"/>
            <a:ext cx="4826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6200+</a:t>
            </a:r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企业，依赖补贴和</a:t>
            </a:r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VC</a:t>
            </a:r>
            <a:endParaRPr lang="zh-CN" altLang="en-US" sz="1000">
              <a:solidFill>
                <a:srgbClr val="757575"/>
              </a:solidFill>
              <a:latin typeface="Microsoft YaHei" panose="020B0503020204020204" pitchFamily="34" charset="-122"/>
            </a:endParaRPr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7B58FC83-D609-B2E6-BBA6-D90C033FDAE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5334000"/>
            <a:ext cx="2286000" cy="1016000"/>
          </a:xfrm>
          <a:prstGeom prst="rect">
            <a:avLst/>
          </a:prstGeom>
          <a:effectLst>
            <a:outerShdw blurRad="63500" dist="37357" dir="2700000" rotWithShape="0">
              <a:scrgbClr r="0" g="0" b="0"/>
            </a:outerShdw>
          </a:effectLst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E21E068E-A0B0-B2B5-1ABC-923B4E5475F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5334000"/>
            <a:ext cx="2286000" cy="1016000"/>
          </a:xfrm>
          <a:prstGeom prst="rect">
            <a:avLst/>
          </a:prstGeom>
          <a:effectLst>
            <a:outerShdw blurRad="63500" dist="37357" dir="2700000" rotWithShape="0">
              <a:scrgbClr r="0" g="0" b="0"/>
            </a:outerShdw>
          </a:effectLst>
        </p:spPr>
      </p:pic>
      <p:sp>
        <p:nvSpPr>
          <p:cNvPr id="52" name="矩形 51">
            <a:extLst>
              <a:ext uri="{FF2B5EF4-FFF2-40B4-BE49-F238E27FC236}">
                <a16:creationId xmlns:a16="http://schemas.microsoft.com/office/drawing/2014/main" id="{4B41FF9A-D6C8-A965-052E-88E7F4D16166}"/>
              </a:ext>
            </a:extLst>
          </p:cNvPr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32231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B33C4528-6A51-1055-AD3F-4FEEAA4F45F3}"/>
              </a:ext>
            </a:extLst>
          </p:cNvPr>
          <p:cNvSpPr txBox="1"/>
          <p:nvPr/>
        </p:nvSpPr>
        <p:spPr>
          <a:xfrm>
            <a:off x="508000" y="6540500"/>
            <a:ext cx="7620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800">
                <a:solidFill>
                  <a:srgbClr val="FFFFFF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sz="800">
                <a:solidFill>
                  <a:srgbClr val="FFFFFF"/>
                </a:solidFill>
                <a:latin typeface="Microsoft YaHei" panose="020B0503020204020204" pitchFamily="34" charset="-122"/>
              </a:rPr>
              <a:t>资本泡沫与全球经济走势分析 </a:t>
            </a:r>
            <a:r>
              <a:rPr lang="en-US" altLang="zh-CN" sz="800">
                <a:solidFill>
                  <a:srgbClr val="FFFFFF"/>
                </a:solidFill>
                <a:latin typeface="Microsoft YaHei" panose="020B0503020204020204" pitchFamily="34" charset="-122"/>
              </a:rPr>
              <a:t>| 2026</a:t>
            </a:r>
            <a:endParaRPr lang="zh-CN" altLang="en-US" sz="800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068075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00254162-599C-9E75-F64E-61FC9A76F3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7E0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178BEEE-762C-0F31-5977-10F6A01A6B1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09D31B8-B681-F1CA-7245-7C5B5F6ED07A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F3962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02E5545-ED4C-B506-0668-39CAA0A27BBA}"/>
              </a:ext>
            </a:extLst>
          </p:cNvPr>
          <p:cNvSpPr txBox="1"/>
          <p:nvPr/>
        </p:nvSpPr>
        <p:spPr>
          <a:xfrm>
            <a:off x="508000" y="317500"/>
            <a:ext cx="762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3600" b="1">
                <a:solidFill>
                  <a:srgbClr val="F39621"/>
                </a:solidFill>
                <a:latin typeface="Microsoft YaHei" panose="020B0503020204020204" pitchFamily="34" charset="-122"/>
              </a:rPr>
              <a:t>10</a:t>
            </a:r>
            <a:endParaRPr lang="zh-CN" altLang="en-US" sz="3600" b="1">
              <a:solidFill>
                <a:srgbClr val="F396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0561DE3-9E74-25F4-3AB0-4BB7B5246F68}"/>
              </a:ext>
            </a:extLst>
          </p:cNvPr>
          <p:cNvSpPr/>
          <p:nvPr/>
        </p:nvSpPr>
        <p:spPr>
          <a:xfrm>
            <a:off x="1270000" y="381000"/>
            <a:ext cx="25400" cy="381000"/>
          </a:xfrm>
          <a:prstGeom prst="rect">
            <a:avLst/>
          </a:prstGeom>
          <a:solidFill>
            <a:srgbClr val="F3962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45BEEB0-CDCE-258E-0415-E6E2B5C63753}"/>
              </a:ext>
            </a:extLst>
          </p:cNvPr>
          <p:cNvSpPr txBox="1"/>
          <p:nvPr/>
        </p:nvSpPr>
        <p:spPr>
          <a:xfrm>
            <a:off x="1460500" y="317500"/>
            <a:ext cx="889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 b="1">
                <a:solidFill>
                  <a:srgbClr val="212121"/>
                </a:solidFill>
                <a:latin typeface="Microsoft YaHei" panose="020B0503020204020204" pitchFamily="34" charset="-122"/>
              </a:rPr>
              <a:t>新兴市场与全球资本轮动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3516C32-02AA-02D2-7F55-4BA73308F6F0}"/>
              </a:ext>
            </a:extLst>
          </p:cNvPr>
          <p:cNvSpPr txBox="1"/>
          <p:nvPr/>
        </p:nvSpPr>
        <p:spPr>
          <a:xfrm>
            <a:off x="1460500" y="787400"/>
            <a:ext cx="889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200">
                <a:solidFill>
                  <a:srgbClr val="757575"/>
                </a:solidFill>
                <a:latin typeface="Microsoft YaHei" panose="020B0503020204020204" pitchFamily="34" charset="-122"/>
              </a:rPr>
              <a:t>EM</a:t>
            </a:r>
            <a:r>
              <a:rPr lang="zh-CN" altLang="en-US" sz="1200">
                <a:solidFill>
                  <a:srgbClr val="757575"/>
                </a:solidFill>
                <a:latin typeface="Microsoft YaHei" panose="020B0503020204020204" pitchFamily="34" charset="-122"/>
              </a:rPr>
              <a:t>资金流入 </a:t>
            </a:r>
            <a:r>
              <a:rPr lang="en-US" altLang="zh-CN" sz="1200">
                <a:solidFill>
                  <a:srgbClr val="757575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757575"/>
                </a:solidFill>
                <a:latin typeface="Microsoft YaHei" panose="020B0503020204020204" pitchFamily="34" charset="-122"/>
              </a:rPr>
              <a:t>美元走弱 </a:t>
            </a:r>
            <a:r>
              <a:rPr lang="en-US" altLang="zh-CN" sz="1200">
                <a:solidFill>
                  <a:srgbClr val="757575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757575"/>
                </a:solidFill>
                <a:latin typeface="Microsoft YaHei" panose="020B0503020204020204" pitchFamily="34" charset="-122"/>
              </a:rPr>
              <a:t>资产再配置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7A194-A9F1-F43D-32A1-E1E377FB80F2}"/>
              </a:ext>
            </a:extLst>
          </p:cNvPr>
          <p:cNvSpPr/>
          <p:nvPr/>
        </p:nvSpPr>
        <p:spPr>
          <a:xfrm>
            <a:off x="508000" y="1206500"/>
            <a:ext cx="11176000" cy="12700"/>
          </a:xfrm>
          <a:prstGeom prst="rect">
            <a:avLst/>
          </a:prstGeom>
          <a:solidFill>
            <a:srgbClr val="E0E0E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2318088-70F3-2E75-C144-D9A6C4EF7A74}"/>
              </a:ext>
            </a:extLst>
          </p:cNvPr>
          <p:cNvSpPr/>
          <p:nvPr/>
        </p:nvSpPr>
        <p:spPr>
          <a:xfrm>
            <a:off x="508000" y="1397000"/>
            <a:ext cx="3683000" cy="1270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prstShdw prst="shdw1" dist="35921" dir="2699995">
              <a:srgbClr val="CCCCCC">
                <a:alpha val="50000"/>
              </a:srgbClr>
            </a:prst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3BF71AD-3C22-3EBE-2D00-B97EB5480415}"/>
              </a:ext>
            </a:extLst>
          </p:cNvPr>
          <p:cNvSpPr txBox="1"/>
          <p:nvPr/>
        </p:nvSpPr>
        <p:spPr>
          <a:xfrm>
            <a:off x="635000" y="1587500"/>
            <a:ext cx="3429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800" b="1">
                <a:solidFill>
                  <a:srgbClr val="F39621"/>
                </a:solidFill>
                <a:latin typeface="Microsoft YaHei" panose="020B0503020204020204" pitchFamily="34" charset="-122"/>
              </a:rPr>
              <a:t>$988</a:t>
            </a:r>
            <a:r>
              <a:rPr lang="zh-CN" altLang="en-US" sz="2800" b="1">
                <a:solidFill>
                  <a:srgbClr val="F39621"/>
                </a:solidFill>
                <a:latin typeface="Microsoft YaHei" panose="020B0503020204020204" pitchFamily="34" charset="-122"/>
              </a:rPr>
              <a:t>亿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11E0618-04C8-EE02-550A-F6CEC9E62C1A}"/>
              </a:ext>
            </a:extLst>
          </p:cNvPr>
          <p:cNvSpPr txBox="1"/>
          <p:nvPr/>
        </p:nvSpPr>
        <p:spPr>
          <a:xfrm>
            <a:off x="635000" y="2222500"/>
            <a:ext cx="3429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2026</a:t>
            </a:r>
            <a:r>
              <a:rPr lang="zh-CN" altLang="en-US" sz="1100">
                <a:solidFill>
                  <a:srgbClr val="757575"/>
                </a:solidFill>
                <a:latin typeface="Microsoft YaHei" panose="020B0503020204020204" pitchFamily="34" charset="-122"/>
              </a:rPr>
              <a:t>年</a:t>
            </a:r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1</a:t>
            </a:r>
            <a:r>
              <a:rPr lang="zh-CN" altLang="en-US" sz="1100">
                <a:solidFill>
                  <a:srgbClr val="757575"/>
                </a:solidFill>
                <a:latin typeface="Microsoft YaHei" panose="020B0503020204020204" pitchFamily="34" charset="-122"/>
              </a:rPr>
              <a:t>月</a:t>
            </a:r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EM</a:t>
            </a:r>
            <a:r>
              <a:rPr lang="zh-CN" altLang="en-US" sz="1100">
                <a:solidFill>
                  <a:srgbClr val="757575"/>
                </a:solidFill>
                <a:latin typeface="Microsoft YaHei" panose="020B0503020204020204" pitchFamily="34" charset="-122"/>
              </a:rPr>
              <a:t>组合资金流入
史上最强</a:t>
            </a:r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1</a:t>
            </a:r>
            <a:r>
              <a:rPr lang="zh-CN" altLang="en-US" sz="1100">
                <a:solidFill>
                  <a:srgbClr val="757575"/>
                </a:solidFill>
                <a:latin typeface="Microsoft YaHei" panose="020B0503020204020204" pitchFamily="34" charset="-122"/>
              </a:rPr>
              <a:t>月记录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27BA137-8CC3-5F66-D058-43C9AA281B10}"/>
              </a:ext>
            </a:extLst>
          </p:cNvPr>
          <p:cNvSpPr/>
          <p:nvPr/>
        </p:nvSpPr>
        <p:spPr>
          <a:xfrm>
            <a:off x="4445000" y="1397000"/>
            <a:ext cx="3683000" cy="1270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prstShdw prst="shdw1" dist="35921" dir="2699995">
              <a:srgbClr val="CCCCCC">
                <a:alpha val="50000"/>
              </a:srgbClr>
            </a:prst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22E715D-3AEF-DC1B-46BB-46ECF4991EAC}"/>
              </a:ext>
            </a:extLst>
          </p:cNvPr>
          <p:cNvSpPr txBox="1"/>
          <p:nvPr/>
        </p:nvSpPr>
        <p:spPr>
          <a:xfrm>
            <a:off x="4572000" y="1587500"/>
            <a:ext cx="3429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800" b="1">
                <a:solidFill>
                  <a:srgbClr val="50AF4C"/>
                </a:solidFill>
                <a:latin typeface="Microsoft YaHei" panose="020B0503020204020204" pitchFamily="34" charset="-122"/>
              </a:rPr>
              <a:t>$1.66</a:t>
            </a:r>
            <a:r>
              <a:rPr lang="zh-CN" altLang="en-US" sz="2800" b="1">
                <a:solidFill>
                  <a:srgbClr val="50AF4C"/>
                </a:solidFill>
                <a:latin typeface="Microsoft YaHei" panose="020B0503020204020204" pitchFamily="34" charset="-122"/>
              </a:rPr>
              <a:t>万亿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5EE8B28-5300-C484-C880-134D347E7261}"/>
              </a:ext>
            </a:extLst>
          </p:cNvPr>
          <p:cNvSpPr txBox="1"/>
          <p:nvPr/>
        </p:nvSpPr>
        <p:spPr>
          <a:xfrm>
            <a:off x="4572000" y="2222500"/>
            <a:ext cx="3429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2025</a:t>
            </a:r>
            <a:r>
              <a:rPr lang="zh-CN" altLang="en-US" sz="1100">
                <a:solidFill>
                  <a:srgbClr val="757575"/>
                </a:solidFill>
                <a:latin typeface="Microsoft YaHei" panose="020B0503020204020204" pitchFamily="34" charset="-122"/>
              </a:rPr>
              <a:t>全球</a:t>
            </a:r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FDI
(+15% YoY)</a:t>
            </a:r>
            <a:endParaRPr lang="zh-CN" altLang="en-US" sz="1100">
              <a:solidFill>
                <a:srgbClr val="7575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DCCF69F-6250-12C0-8CBB-CDCD8854C09D}"/>
              </a:ext>
            </a:extLst>
          </p:cNvPr>
          <p:cNvSpPr/>
          <p:nvPr/>
        </p:nvSpPr>
        <p:spPr>
          <a:xfrm>
            <a:off x="8382000" y="1397000"/>
            <a:ext cx="3683000" cy="1270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prstShdw prst="shdw1" dist="35921" dir="2699995">
              <a:srgbClr val="CCCCCC">
                <a:alpha val="50000"/>
              </a:srgbClr>
            </a:prst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2165184-9A26-497C-DE2C-6070FA121F47}"/>
              </a:ext>
            </a:extLst>
          </p:cNvPr>
          <p:cNvSpPr txBox="1"/>
          <p:nvPr/>
        </p:nvSpPr>
        <p:spPr>
          <a:xfrm>
            <a:off x="8509000" y="1587500"/>
            <a:ext cx="3429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800" b="1">
                <a:solidFill>
                  <a:srgbClr val="3643F4"/>
                </a:solidFill>
                <a:latin typeface="Microsoft YaHei" panose="020B0503020204020204" pitchFamily="34" charset="-122"/>
              </a:rPr>
              <a:t>2.5%</a:t>
            </a:r>
            <a:endParaRPr lang="zh-CN" altLang="en-US" sz="2800" b="1">
              <a:solidFill>
                <a:srgbClr val="3643F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26BE8E3-AC45-506B-9CE7-F698600ED301}"/>
              </a:ext>
            </a:extLst>
          </p:cNvPr>
          <p:cNvSpPr txBox="1"/>
          <p:nvPr/>
        </p:nvSpPr>
        <p:spPr>
          <a:xfrm>
            <a:off x="8509000" y="2222500"/>
            <a:ext cx="3429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100">
                <a:solidFill>
                  <a:srgbClr val="757575"/>
                </a:solidFill>
                <a:latin typeface="Microsoft YaHei" panose="020B0503020204020204" pitchFamily="34" charset="-122"/>
              </a:rPr>
              <a:t>世行</a:t>
            </a:r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2026</a:t>
            </a:r>
            <a:r>
              <a:rPr lang="zh-CN" altLang="en-US" sz="1100">
                <a:solidFill>
                  <a:srgbClr val="757575"/>
                </a:solidFill>
                <a:latin typeface="Microsoft YaHei" panose="020B0503020204020204" pitchFamily="34" charset="-122"/>
              </a:rPr>
              <a:t>全球增长
</a:t>
            </a:r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100">
                <a:solidFill>
                  <a:srgbClr val="757575"/>
                </a:solidFill>
                <a:latin typeface="Microsoft YaHei" panose="020B0503020204020204" pitchFamily="34" charset="-122"/>
              </a:rPr>
              <a:t>疫情后最低</a:t>
            </a:r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100">
              <a:solidFill>
                <a:srgbClr val="7575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6AB9462-6165-279F-27E1-37F6BF6B7EBC}"/>
              </a:ext>
            </a:extLst>
          </p:cNvPr>
          <p:cNvSpPr txBox="1"/>
          <p:nvPr/>
        </p:nvSpPr>
        <p:spPr>
          <a:xfrm>
            <a:off x="508000" y="2921000"/>
            <a:ext cx="6350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 b="1">
                <a:solidFill>
                  <a:srgbClr val="212121"/>
                </a:solidFill>
                <a:latin typeface="Microsoft YaHei" panose="020B0503020204020204" pitchFamily="34" charset="-122"/>
              </a:rPr>
              <a:t>▎资本轮动逻辑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A1895F7-A83F-CFDC-39CE-B7B4FD946576}"/>
              </a:ext>
            </a:extLst>
          </p:cNvPr>
          <p:cNvSpPr txBox="1"/>
          <p:nvPr/>
        </p:nvSpPr>
        <p:spPr>
          <a:xfrm>
            <a:off x="635000" y="3365500"/>
            <a:ext cx="2286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000" b="1">
                <a:solidFill>
                  <a:srgbClr val="212121"/>
                </a:solidFill>
                <a:latin typeface="Microsoft YaHei" panose="020B0503020204020204" pitchFamily="34" charset="-122"/>
              </a:rPr>
              <a:t>1. </a:t>
            </a:r>
            <a:r>
              <a:rPr lang="zh-CN" altLang="en-US" sz="1000" b="1">
                <a:solidFill>
                  <a:srgbClr val="212121"/>
                </a:solidFill>
                <a:latin typeface="Microsoft YaHei" panose="020B0503020204020204" pitchFamily="34" charset="-122"/>
              </a:rPr>
              <a:t>美元走弱趋势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BCF1905-8B23-5953-27D5-49E0950AA7C7}"/>
              </a:ext>
            </a:extLst>
          </p:cNvPr>
          <p:cNvSpPr txBox="1"/>
          <p:nvPr/>
        </p:nvSpPr>
        <p:spPr>
          <a:xfrm>
            <a:off x="3048000" y="3365500"/>
            <a:ext cx="330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利好</a:t>
            </a:r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EM</a:t>
            </a:r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资产，降低偿债压力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CEABDC6-846C-0D15-4EAD-EBAB25A2036B}"/>
              </a:ext>
            </a:extLst>
          </p:cNvPr>
          <p:cNvSpPr txBox="1"/>
          <p:nvPr/>
        </p:nvSpPr>
        <p:spPr>
          <a:xfrm>
            <a:off x="635000" y="3695700"/>
            <a:ext cx="2286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000" b="1">
                <a:solidFill>
                  <a:srgbClr val="212121"/>
                </a:solidFill>
                <a:latin typeface="Microsoft YaHei" panose="020B0503020204020204" pitchFamily="34" charset="-122"/>
              </a:rPr>
              <a:t>2. AI</a:t>
            </a:r>
            <a:r>
              <a:rPr lang="zh-CN" altLang="en-US" sz="1000" b="1">
                <a:solidFill>
                  <a:srgbClr val="212121"/>
                </a:solidFill>
                <a:latin typeface="Microsoft YaHei" panose="020B0503020204020204" pitchFamily="34" charset="-122"/>
              </a:rPr>
              <a:t>估值修正预期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B2E91D3-3503-1095-88F3-8393DC613306}"/>
              </a:ext>
            </a:extLst>
          </p:cNvPr>
          <p:cNvSpPr txBox="1"/>
          <p:nvPr/>
        </p:nvSpPr>
        <p:spPr>
          <a:xfrm>
            <a:off x="3048000" y="3695700"/>
            <a:ext cx="330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资金从美股科技向全球分散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67586E7-DAA8-ADE4-3287-7311D237C0F3}"/>
              </a:ext>
            </a:extLst>
          </p:cNvPr>
          <p:cNvSpPr txBox="1"/>
          <p:nvPr/>
        </p:nvSpPr>
        <p:spPr>
          <a:xfrm>
            <a:off x="635000" y="4025900"/>
            <a:ext cx="2286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000" b="1">
                <a:solidFill>
                  <a:srgbClr val="212121"/>
                </a:solidFill>
                <a:latin typeface="Microsoft YaHei" panose="020B0503020204020204" pitchFamily="34" charset="-122"/>
              </a:rPr>
              <a:t>3. EM</a:t>
            </a:r>
            <a:r>
              <a:rPr lang="zh-CN" altLang="en-US" sz="1000" b="1">
                <a:solidFill>
                  <a:srgbClr val="212121"/>
                </a:solidFill>
                <a:latin typeface="Microsoft YaHei" panose="020B0503020204020204" pitchFamily="34" charset="-122"/>
              </a:rPr>
              <a:t>估值吸引力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E960A77-E451-AA21-F70E-8B0C34629586}"/>
              </a:ext>
            </a:extLst>
          </p:cNvPr>
          <p:cNvSpPr txBox="1"/>
          <p:nvPr/>
        </p:nvSpPr>
        <p:spPr>
          <a:xfrm>
            <a:off x="3048000" y="4025900"/>
            <a:ext cx="330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EM</a:t>
            </a:r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股票</a:t>
            </a:r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2025</a:t>
            </a:r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跑赢美股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F15AC10-32F8-4B87-EF99-9FB821D7A540}"/>
              </a:ext>
            </a:extLst>
          </p:cNvPr>
          <p:cNvSpPr txBox="1"/>
          <p:nvPr/>
        </p:nvSpPr>
        <p:spPr>
          <a:xfrm>
            <a:off x="635000" y="4356100"/>
            <a:ext cx="2286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000" b="1">
                <a:solidFill>
                  <a:srgbClr val="212121"/>
                </a:solidFill>
                <a:latin typeface="Microsoft YaHei" panose="020B0503020204020204" pitchFamily="34" charset="-122"/>
              </a:rPr>
              <a:t>4. </a:t>
            </a:r>
            <a:r>
              <a:rPr lang="zh-CN" altLang="en-US" sz="1000" b="1">
                <a:solidFill>
                  <a:srgbClr val="212121"/>
                </a:solidFill>
                <a:latin typeface="Microsoft YaHei" panose="020B0503020204020204" pitchFamily="34" charset="-122"/>
              </a:rPr>
              <a:t>中国结构性转型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D15AA74-FB5C-94B6-1C08-C9A10BA7D0B2}"/>
              </a:ext>
            </a:extLst>
          </p:cNvPr>
          <p:cNvSpPr txBox="1"/>
          <p:nvPr/>
        </p:nvSpPr>
        <p:spPr>
          <a:xfrm>
            <a:off x="3048000" y="4356100"/>
            <a:ext cx="330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消费驱动</a:t>
            </a:r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+</a:t>
            </a:r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高科技产业升级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C3C31D6-490D-608F-5427-441B6434C410}"/>
              </a:ext>
            </a:extLst>
          </p:cNvPr>
          <p:cNvSpPr txBox="1"/>
          <p:nvPr/>
        </p:nvSpPr>
        <p:spPr>
          <a:xfrm>
            <a:off x="635000" y="4686300"/>
            <a:ext cx="2286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000" b="1">
                <a:solidFill>
                  <a:srgbClr val="212121"/>
                </a:solidFill>
                <a:latin typeface="Microsoft YaHei" panose="020B0503020204020204" pitchFamily="34" charset="-122"/>
              </a:rPr>
              <a:t>5. </a:t>
            </a:r>
            <a:r>
              <a:rPr lang="zh-CN" altLang="en-US" sz="1000" b="1">
                <a:solidFill>
                  <a:srgbClr val="212121"/>
                </a:solidFill>
                <a:latin typeface="Microsoft YaHei" panose="020B0503020204020204" pitchFamily="34" charset="-122"/>
              </a:rPr>
              <a:t>大宗商品需求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7225626-11D1-56C4-D686-33DCA33C654C}"/>
              </a:ext>
            </a:extLst>
          </p:cNvPr>
          <p:cNvSpPr txBox="1"/>
          <p:nvPr/>
        </p:nvSpPr>
        <p:spPr>
          <a:xfrm>
            <a:off x="3048000" y="4686300"/>
            <a:ext cx="330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工业金属前景正面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21D24F7-57A0-860A-8118-86674F0B622D}"/>
              </a:ext>
            </a:extLst>
          </p:cNvPr>
          <p:cNvSpPr txBox="1"/>
          <p:nvPr/>
        </p:nvSpPr>
        <p:spPr>
          <a:xfrm>
            <a:off x="635000" y="5016500"/>
            <a:ext cx="2286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000" b="1">
                <a:solidFill>
                  <a:srgbClr val="212121"/>
                </a:solidFill>
                <a:latin typeface="Microsoft YaHei" panose="020B0503020204020204" pitchFamily="34" charset="-122"/>
              </a:rPr>
              <a:t>6. </a:t>
            </a:r>
            <a:r>
              <a:rPr lang="zh-CN" altLang="en-US" sz="1000" b="1">
                <a:solidFill>
                  <a:srgbClr val="212121"/>
                </a:solidFill>
                <a:latin typeface="Microsoft YaHei" panose="020B0503020204020204" pitchFamily="34" charset="-122"/>
              </a:rPr>
              <a:t>利率周期转向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09AB5B5-46E6-36C4-749A-1BD83BF8CFB9}"/>
              </a:ext>
            </a:extLst>
          </p:cNvPr>
          <p:cNvSpPr txBox="1"/>
          <p:nvPr/>
        </p:nvSpPr>
        <p:spPr>
          <a:xfrm>
            <a:off x="3048000" y="5016500"/>
            <a:ext cx="330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全球降息利好</a:t>
            </a:r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EM</a:t>
            </a:r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债券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78F2FA5-8FAF-EBCC-23B5-F6E04237EB06}"/>
              </a:ext>
            </a:extLst>
          </p:cNvPr>
          <p:cNvSpPr txBox="1"/>
          <p:nvPr/>
        </p:nvSpPr>
        <p:spPr>
          <a:xfrm>
            <a:off x="6858000" y="2921000"/>
            <a:ext cx="5080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 b="1">
                <a:solidFill>
                  <a:srgbClr val="212121"/>
                </a:solidFill>
                <a:latin typeface="Microsoft YaHei" panose="020B0503020204020204" pitchFamily="34" charset="-122"/>
              </a:rPr>
              <a:t>▎世行</a:t>
            </a:r>
            <a:r>
              <a:rPr lang="en-US" altLang="zh-CN" sz="1300" b="1">
                <a:solidFill>
                  <a:srgbClr val="212121"/>
                </a:solidFill>
                <a:latin typeface="Microsoft YaHei" panose="020B0503020204020204" pitchFamily="34" charset="-122"/>
              </a:rPr>
              <a:t>2026</a:t>
            </a:r>
            <a:r>
              <a:rPr lang="zh-CN" altLang="en-US" sz="1300" b="1">
                <a:solidFill>
                  <a:srgbClr val="212121"/>
                </a:solidFill>
                <a:latin typeface="Microsoft YaHei" panose="020B0503020204020204" pitchFamily="34" charset="-122"/>
              </a:rPr>
              <a:t>各地区增长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27C7E48-A741-DBEA-31E0-E231B1F581E7}"/>
              </a:ext>
            </a:extLst>
          </p:cNvPr>
          <p:cNvSpPr/>
          <p:nvPr/>
        </p:nvSpPr>
        <p:spPr>
          <a:xfrm>
            <a:off x="6985000" y="3365500"/>
            <a:ext cx="4826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0E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1BBA166-A28C-EEAB-1A3F-583673E91E63}"/>
              </a:ext>
            </a:extLst>
          </p:cNvPr>
          <p:cNvSpPr txBox="1"/>
          <p:nvPr/>
        </p:nvSpPr>
        <p:spPr>
          <a:xfrm>
            <a:off x="7112000" y="3429000"/>
            <a:ext cx="1524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>
                <a:solidFill>
                  <a:srgbClr val="212121"/>
                </a:solidFill>
                <a:latin typeface="Microsoft YaHei" panose="020B0503020204020204" pitchFamily="34" charset="-122"/>
              </a:rPr>
              <a:t>南亚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327D701-2288-359C-2994-8F70E2F24F43}"/>
              </a:ext>
            </a:extLst>
          </p:cNvPr>
          <p:cNvSpPr txBox="1"/>
          <p:nvPr/>
        </p:nvSpPr>
        <p:spPr>
          <a:xfrm>
            <a:off x="8763000" y="3429000"/>
            <a:ext cx="762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300" b="1">
                <a:solidFill>
                  <a:srgbClr val="50AF4C"/>
                </a:solidFill>
                <a:latin typeface="Microsoft YaHei" panose="020B0503020204020204" pitchFamily="34" charset="-122"/>
              </a:rPr>
              <a:t>6.3%</a:t>
            </a:r>
            <a:endParaRPr lang="zh-CN" altLang="en-US" sz="1300" b="1">
              <a:solidFill>
                <a:srgbClr val="50AF4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6BD38C4-225D-F099-BB8A-B6C91B8240A8}"/>
              </a:ext>
            </a:extLst>
          </p:cNvPr>
          <p:cNvSpPr/>
          <p:nvPr/>
        </p:nvSpPr>
        <p:spPr>
          <a:xfrm>
            <a:off x="6985000" y="3771900"/>
            <a:ext cx="4826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0E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4D7D651-E578-5266-B31B-A71AEECEC5F0}"/>
              </a:ext>
            </a:extLst>
          </p:cNvPr>
          <p:cNvSpPr txBox="1"/>
          <p:nvPr/>
        </p:nvSpPr>
        <p:spPr>
          <a:xfrm>
            <a:off x="7112000" y="3835400"/>
            <a:ext cx="1524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>
                <a:solidFill>
                  <a:srgbClr val="212121"/>
                </a:solidFill>
                <a:latin typeface="Microsoft YaHei" panose="020B0503020204020204" pitchFamily="34" charset="-122"/>
              </a:rPr>
              <a:t>东亚太平洋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79490E4B-5750-136C-502D-4A7AFFC25100}"/>
              </a:ext>
            </a:extLst>
          </p:cNvPr>
          <p:cNvSpPr txBox="1"/>
          <p:nvPr/>
        </p:nvSpPr>
        <p:spPr>
          <a:xfrm>
            <a:off x="8763000" y="3835400"/>
            <a:ext cx="762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300" b="1">
                <a:solidFill>
                  <a:srgbClr val="50AF4C"/>
                </a:solidFill>
                <a:latin typeface="Microsoft YaHei" panose="020B0503020204020204" pitchFamily="34" charset="-122"/>
              </a:rPr>
              <a:t>4.2%</a:t>
            </a:r>
            <a:endParaRPr lang="zh-CN" altLang="en-US" sz="1300" b="1">
              <a:solidFill>
                <a:srgbClr val="50AF4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E35064D-642E-F7A5-3249-B3A8BCA02C91}"/>
              </a:ext>
            </a:extLst>
          </p:cNvPr>
          <p:cNvSpPr/>
          <p:nvPr/>
        </p:nvSpPr>
        <p:spPr>
          <a:xfrm>
            <a:off x="6985000" y="4178300"/>
            <a:ext cx="4826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0E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ECD2EC7D-0BA6-80B0-3940-99E5A7A30FF8}"/>
              </a:ext>
            </a:extLst>
          </p:cNvPr>
          <p:cNvSpPr txBox="1"/>
          <p:nvPr/>
        </p:nvSpPr>
        <p:spPr>
          <a:xfrm>
            <a:off x="7112000" y="4241800"/>
            <a:ext cx="1524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>
                <a:solidFill>
                  <a:srgbClr val="212121"/>
                </a:solidFill>
                <a:latin typeface="Microsoft YaHei" panose="020B0503020204020204" pitchFamily="34" charset="-122"/>
              </a:rPr>
              <a:t>撒哈拉以南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7BDDF2A0-91A0-189C-4BE9-65DB1B843EC5}"/>
              </a:ext>
            </a:extLst>
          </p:cNvPr>
          <p:cNvSpPr txBox="1"/>
          <p:nvPr/>
        </p:nvSpPr>
        <p:spPr>
          <a:xfrm>
            <a:off x="8763000" y="4241800"/>
            <a:ext cx="762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300" b="1">
                <a:solidFill>
                  <a:srgbClr val="50AF4C"/>
                </a:solidFill>
                <a:latin typeface="Microsoft YaHei" panose="020B0503020204020204" pitchFamily="34" charset="-122"/>
              </a:rPr>
              <a:t>4.0%</a:t>
            </a:r>
            <a:endParaRPr lang="zh-CN" altLang="en-US" sz="1300" b="1">
              <a:solidFill>
                <a:srgbClr val="50AF4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29408A4B-3721-F50D-319A-C61B018EA243}"/>
              </a:ext>
            </a:extLst>
          </p:cNvPr>
          <p:cNvSpPr/>
          <p:nvPr/>
        </p:nvSpPr>
        <p:spPr>
          <a:xfrm>
            <a:off x="6985000" y="4584700"/>
            <a:ext cx="4826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0E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F040629E-56B1-A50D-380B-DBD2444E6509}"/>
              </a:ext>
            </a:extLst>
          </p:cNvPr>
          <p:cNvSpPr txBox="1"/>
          <p:nvPr/>
        </p:nvSpPr>
        <p:spPr>
          <a:xfrm>
            <a:off x="7112000" y="4648200"/>
            <a:ext cx="1524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>
                <a:solidFill>
                  <a:srgbClr val="212121"/>
                </a:solidFill>
                <a:latin typeface="Microsoft YaHei" panose="020B0503020204020204" pitchFamily="34" charset="-122"/>
              </a:rPr>
              <a:t>拉美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D1E9BF73-9C2B-FA90-CE91-C9E8B68BF9FB}"/>
              </a:ext>
            </a:extLst>
          </p:cNvPr>
          <p:cNvSpPr txBox="1"/>
          <p:nvPr/>
        </p:nvSpPr>
        <p:spPr>
          <a:xfrm>
            <a:off x="8763000" y="4648200"/>
            <a:ext cx="762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300" b="1">
                <a:solidFill>
                  <a:srgbClr val="0098FF"/>
                </a:solidFill>
                <a:latin typeface="Microsoft YaHei" panose="020B0503020204020204" pitchFamily="34" charset="-122"/>
              </a:rPr>
              <a:t>2.2%</a:t>
            </a:r>
            <a:endParaRPr lang="zh-CN" altLang="en-US" sz="1300" b="1">
              <a:solidFill>
                <a:srgbClr val="0098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1DBFE21A-798D-1334-6460-7973585EB990}"/>
              </a:ext>
            </a:extLst>
          </p:cNvPr>
          <p:cNvSpPr/>
          <p:nvPr/>
        </p:nvSpPr>
        <p:spPr>
          <a:xfrm>
            <a:off x="6985000" y="4991100"/>
            <a:ext cx="4826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0E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6979D9B4-ED42-69FC-C64E-C6AE5B428981}"/>
              </a:ext>
            </a:extLst>
          </p:cNvPr>
          <p:cNvSpPr txBox="1"/>
          <p:nvPr/>
        </p:nvSpPr>
        <p:spPr>
          <a:xfrm>
            <a:off x="7112000" y="5054600"/>
            <a:ext cx="1524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>
                <a:solidFill>
                  <a:srgbClr val="212121"/>
                </a:solidFill>
                <a:latin typeface="Microsoft YaHei" panose="020B0503020204020204" pitchFamily="34" charset="-122"/>
              </a:rPr>
              <a:t>欧洲中亚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F3EC6315-23BF-11FD-C34A-C06CB742C615}"/>
              </a:ext>
            </a:extLst>
          </p:cNvPr>
          <p:cNvSpPr txBox="1"/>
          <p:nvPr/>
        </p:nvSpPr>
        <p:spPr>
          <a:xfrm>
            <a:off x="8763000" y="5054600"/>
            <a:ext cx="762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300" b="1">
                <a:solidFill>
                  <a:srgbClr val="0098FF"/>
                </a:solidFill>
                <a:latin typeface="Microsoft YaHei" panose="020B0503020204020204" pitchFamily="34" charset="-122"/>
              </a:rPr>
              <a:t>2.1%</a:t>
            </a:r>
            <a:endParaRPr lang="zh-CN" altLang="en-US" sz="1300" b="1">
              <a:solidFill>
                <a:srgbClr val="0098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F53B9E9C-654D-82D2-9DA2-0AEB63A881EE}"/>
              </a:ext>
            </a:extLst>
          </p:cNvPr>
          <p:cNvSpPr/>
          <p:nvPr/>
        </p:nvSpPr>
        <p:spPr>
          <a:xfrm>
            <a:off x="6985000" y="5397500"/>
            <a:ext cx="4826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0E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619ECD4-55D4-01D7-0EB2-DE03BE29564A}"/>
              </a:ext>
            </a:extLst>
          </p:cNvPr>
          <p:cNvSpPr txBox="1"/>
          <p:nvPr/>
        </p:nvSpPr>
        <p:spPr>
          <a:xfrm>
            <a:off x="7112000" y="5461000"/>
            <a:ext cx="1524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>
                <a:solidFill>
                  <a:srgbClr val="212121"/>
                </a:solidFill>
                <a:latin typeface="Microsoft YaHei" panose="020B0503020204020204" pitchFamily="34" charset="-122"/>
              </a:rPr>
              <a:t>中东北非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B3170155-50A9-428B-CE1E-07C0749741A6}"/>
              </a:ext>
            </a:extLst>
          </p:cNvPr>
          <p:cNvSpPr txBox="1"/>
          <p:nvPr/>
        </p:nvSpPr>
        <p:spPr>
          <a:xfrm>
            <a:off x="8763000" y="5461000"/>
            <a:ext cx="762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300" b="1">
                <a:solidFill>
                  <a:srgbClr val="3643F4"/>
                </a:solidFill>
                <a:latin typeface="Microsoft YaHei" panose="020B0503020204020204" pitchFamily="34" charset="-122"/>
              </a:rPr>
              <a:t>1.6%</a:t>
            </a:r>
            <a:endParaRPr lang="zh-CN" altLang="en-US" sz="1300" b="1">
              <a:solidFill>
                <a:srgbClr val="3643F4"/>
              </a:solidFill>
              <a:latin typeface="Microsoft YaHei" panose="020B0503020204020204" pitchFamily="34" charset="-122"/>
            </a:endParaRPr>
          </a:p>
        </p:txBody>
      </p:sp>
      <p:pic>
        <p:nvPicPr>
          <p:cNvPr id="52" name="图片 51">
            <a:extLst>
              <a:ext uri="{FF2B5EF4-FFF2-40B4-BE49-F238E27FC236}">
                <a16:creationId xmlns:a16="http://schemas.microsoft.com/office/drawing/2014/main" id="{A37CFBBD-AE85-5EEE-6E38-5F66EA831BC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0" y="5080000"/>
            <a:ext cx="2286000" cy="1143000"/>
          </a:xfrm>
          <a:prstGeom prst="rect">
            <a:avLst/>
          </a:prstGeom>
          <a:effectLst>
            <a:outerShdw blurRad="63500" dist="37357" dir="2700000" rotWithShape="0">
              <a:scrgbClr r="0" g="0" b="0"/>
            </a:outerShdw>
          </a:effectLst>
        </p:spPr>
      </p:pic>
      <p:sp>
        <p:nvSpPr>
          <p:cNvPr id="53" name="矩形 52">
            <a:extLst>
              <a:ext uri="{FF2B5EF4-FFF2-40B4-BE49-F238E27FC236}">
                <a16:creationId xmlns:a16="http://schemas.microsoft.com/office/drawing/2014/main" id="{B9CFBA4C-4E74-EE0D-2A1D-384B0A11AC02}"/>
              </a:ext>
            </a:extLst>
          </p:cNvPr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32231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44005818-D212-6F50-1528-C897680D5E49}"/>
              </a:ext>
            </a:extLst>
          </p:cNvPr>
          <p:cNvSpPr txBox="1"/>
          <p:nvPr/>
        </p:nvSpPr>
        <p:spPr>
          <a:xfrm>
            <a:off x="508000" y="6540500"/>
            <a:ext cx="7620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800">
                <a:solidFill>
                  <a:srgbClr val="FFFFFF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sz="800">
                <a:solidFill>
                  <a:srgbClr val="FFFFFF"/>
                </a:solidFill>
                <a:latin typeface="Microsoft YaHei" panose="020B0503020204020204" pitchFamily="34" charset="-122"/>
              </a:rPr>
              <a:t>资本泡沫与全球经济走势分析 </a:t>
            </a:r>
            <a:r>
              <a:rPr lang="en-US" altLang="zh-CN" sz="800">
                <a:solidFill>
                  <a:srgbClr val="FFFFFF"/>
                </a:solidFill>
                <a:latin typeface="Microsoft YaHei" panose="020B0503020204020204" pitchFamily="34" charset="-122"/>
              </a:rPr>
              <a:t>| 2026</a:t>
            </a:r>
            <a:endParaRPr lang="zh-CN" altLang="en-US" sz="800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532307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EB4EEE2-798B-43A0-4D65-8FC002A15A9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CD8CF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5174D48-EECA-AE20-CB32-4F93A89B955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EFE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09E94ED-65EB-4617-4C08-3F3545406B81}"/>
              </a:ext>
            </a:extLst>
          </p:cNvPr>
          <p:cNvSpPr txBox="1"/>
          <p:nvPr/>
        </p:nvSpPr>
        <p:spPr>
          <a:xfrm>
            <a:off x="508000" y="317500"/>
            <a:ext cx="5080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200" b="1">
                <a:solidFill>
                  <a:srgbClr val="212121"/>
                </a:solidFill>
                <a:latin typeface="Microsoft YaHei" panose="020B0503020204020204" pitchFamily="34" charset="-122"/>
              </a:rPr>
              <a:t>核心数据仪表盘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6DE4CA8-F38D-78F6-EA5E-19A5D2F2A30E}"/>
              </a:ext>
            </a:extLst>
          </p:cNvPr>
          <p:cNvSpPr txBox="1"/>
          <p:nvPr/>
        </p:nvSpPr>
        <p:spPr>
          <a:xfrm>
            <a:off x="508000" y="762000"/>
            <a:ext cx="508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200">
                <a:solidFill>
                  <a:srgbClr val="757575"/>
                </a:solidFill>
                <a:latin typeface="Microsoft YaHei" panose="020B0503020204020204" pitchFamily="34" charset="-122"/>
              </a:rPr>
              <a:t>Key Metrics Dashboard | 2025-2026</a:t>
            </a:r>
            <a:endParaRPr lang="zh-CN" altLang="en-US" sz="1200">
              <a:solidFill>
                <a:srgbClr val="7575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CCC079C-FAB0-CEF4-4F3D-4FBA3ADA376E}"/>
              </a:ext>
            </a:extLst>
          </p:cNvPr>
          <p:cNvSpPr/>
          <p:nvPr/>
        </p:nvSpPr>
        <p:spPr>
          <a:xfrm>
            <a:off x="381000" y="1206500"/>
            <a:ext cx="3746500" cy="1143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76200" dist="37357" dir="2700000" rotWithShape="0">
              <a:scrgbClr r="0" g="0" b="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4C12BA8-AA2C-2633-425A-A9CE37FDE97C}"/>
              </a:ext>
            </a:extLst>
          </p:cNvPr>
          <p:cNvSpPr/>
          <p:nvPr/>
        </p:nvSpPr>
        <p:spPr>
          <a:xfrm>
            <a:off x="381000" y="1206500"/>
            <a:ext cx="50800" cy="1143000"/>
          </a:xfrm>
          <a:prstGeom prst="rect">
            <a:avLst/>
          </a:prstGeom>
          <a:solidFill>
            <a:srgbClr val="F3962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03A6E1C-AA25-551A-B997-8E1CC45C17FC}"/>
              </a:ext>
            </a:extLst>
          </p:cNvPr>
          <p:cNvSpPr txBox="1"/>
          <p:nvPr/>
        </p:nvSpPr>
        <p:spPr>
          <a:xfrm>
            <a:off x="571500" y="1333500"/>
            <a:ext cx="317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>
                <a:solidFill>
                  <a:srgbClr val="757575"/>
                </a:solidFill>
                <a:latin typeface="Microsoft YaHei" panose="020B0503020204020204" pitchFamily="34" charset="-122"/>
              </a:rPr>
              <a:t>中国</a:t>
            </a:r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GDP</a:t>
            </a:r>
            <a:endParaRPr lang="zh-CN" altLang="en-US" sz="1100">
              <a:solidFill>
                <a:srgbClr val="7575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EC9C166-0A72-08CA-03DD-391314366E7E}"/>
              </a:ext>
            </a:extLst>
          </p:cNvPr>
          <p:cNvSpPr txBox="1"/>
          <p:nvPr/>
        </p:nvSpPr>
        <p:spPr>
          <a:xfrm>
            <a:off x="571500" y="1612900"/>
            <a:ext cx="3175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200" b="1">
                <a:solidFill>
                  <a:srgbClr val="F39621"/>
                </a:solidFill>
                <a:latin typeface="Microsoft YaHei" panose="020B0503020204020204" pitchFamily="34" charset="-122"/>
              </a:rPr>
              <a:t>¥140.19</a:t>
            </a:r>
            <a:r>
              <a:rPr lang="zh-CN" altLang="en-US" sz="2200" b="1">
                <a:solidFill>
                  <a:srgbClr val="F39621"/>
                </a:solidFill>
                <a:latin typeface="Microsoft YaHei" panose="020B0503020204020204" pitchFamily="34" charset="-122"/>
              </a:rPr>
              <a:t>万亿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4132A55-30BD-FB2A-10DC-CAD4C3421686}"/>
              </a:ext>
            </a:extLst>
          </p:cNvPr>
          <p:cNvSpPr txBox="1"/>
          <p:nvPr/>
        </p:nvSpPr>
        <p:spPr>
          <a:xfrm>
            <a:off x="571500" y="2032000"/>
            <a:ext cx="3175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800">
                <a:solidFill>
                  <a:srgbClr val="BDBDBD"/>
                </a:solidFill>
                <a:latin typeface="Microsoft YaHei" panose="020B0503020204020204" pitchFamily="34" charset="-122"/>
              </a:rPr>
              <a:t>数据来源</a:t>
            </a:r>
            <a:r>
              <a:rPr lang="en-US" altLang="zh-CN" sz="800">
                <a:solidFill>
                  <a:srgbClr val="BDBDBD"/>
                </a:solidFill>
                <a:latin typeface="Microsoft YaHei" panose="020B0503020204020204" pitchFamily="34" charset="-122"/>
              </a:rPr>
              <a:t>: NBS</a:t>
            </a:r>
            <a:endParaRPr lang="zh-CN" altLang="en-US" sz="800">
              <a:solidFill>
                <a:srgbClr val="BDBDB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6BA99FA-08CA-C17F-BBE7-F93A515F35BE}"/>
              </a:ext>
            </a:extLst>
          </p:cNvPr>
          <p:cNvSpPr/>
          <p:nvPr/>
        </p:nvSpPr>
        <p:spPr>
          <a:xfrm>
            <a:off x="4318000" y="1206500"/>
            <a:ext cx="3746500" cy="1143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76200" dist="37357" dir="2700000" rotWithShape="0">
              <a:scrgbClr r="0" g="0" b="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AC5C6C8-FC3A-5BED-B5C0-DEDB970B259B}"/>
              </a:ext>
            </a:extLst>
          </p:cNvPr>
          <p:cNvSpPr/>
          <p:nvPr/>
        </p:nvSpPr>
        <p:spPr>
          <a:xfrm>
            <a:off x="4318000" y="1206500"/>
            <a:ext cx="50800" cy="1143000"/>
          </a:xfrm>
          <a:prstGeom prst="rect">
            <a:avLst/>
          </a:prstGeom>
          <a:solidFill>
            <a:srgbClr val="3643F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5FF9077-4B00-D388-0AB8-B56B18742AA0}"/>
              </a:ext>
            </a:extLst>
          </p:cNvPr>
          <p:cNvSpPr txBox="1"/>
          <p:nvPr/>
        </p:nvSpPr>
        <p:spPr>
          <a:xfrm>
            <a:off x="4508500" y="1333500"/>
            <a:ext cx="317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>
                <a:solidFill>
                  <a:srgbClr val="757575"/>
                </a:solidFill>
                <a:latin typeface="Microsoft YaHei" panose="020B0503020204020204" pitchFamily="34" charset="-122"/>
              </a:rPr>
              <a:t>全球</a:t>
            </a:r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GDP</a:t>
            </a:r>
            <a:r>
              <a:rPr lang="zh-CN" altLang="en-US" sz="1100">
                <a:solidFill>
                  <a:srgbClr val="757575"/>
                </a:solidFill>
                <a:latin typeface="Microsoft YaHei" panose="020B0503020204020204" pitchFamily="34" charset="-122"/>
              </a:rPr>
              <a:t>增速</a:t>
            </a:r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(2026)</a:t>
            </a:r>
            <a:endParaRPr lang="zh-CN" altLang="en-US" sz="1100">
              <a:solidFill>
                <a:srgbClr val="7575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0913015-A70D-B5BE-BB34-1585F9654DB6}"/>
              </a:ext>
            </a:extLst>
          </p:cNvPr>
          <p:cNvSpPr txBox="1"/>
          <p:nvPr/>
        </p:nvSpPr>
        <p:spPr>
          <a:xfrm>
            <a:off x="4508500" y="1612900"/>
            <a:ext cx="3175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200" b="1">
                <a:solidFill>
                  <a:srgbClr val="3643F4"/>
                </a:solidFill>
                <a:latin typeface="Microsoft YaHei" panose="020B0503020204020204" pitchFamily="34" charset="-122"/>
              </a:rPr>
              <a:t>2.5%</a:t>
            </a:r>
            <a:endParaRPr lang="zh-CN" altLang="en-US" sz="2200" b="1">
              <a:solidFill>
                <a:srgbClr val="3643F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67F20A9-3C7C-CCE6-FA0D-E6BEAA35E696}"/>
              </a:ext>
            </a:extLst>
          </p:cNvPr>
          <p:cNvSpPr txBox="1"/>
          <p:nvPr/>
        </p:nvSpPr>
        <p:spPr>
          <a:xfrm>
            <a:off x="4508500" y="2032000"/>
            <a:ext cx="3175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800">
                <a:solidFill>
                  <a:srgbClr val="BDBDBD"/>
                </a:solidFill>
                <a:latin typeface="Microsoft YaHei" panose="020B0503020204020204" pitchFamily="34" charset="-122"/>
              </a:rPr>
              <a:t>数据来源</a:t>
            </a:r>
            <a:r>
              <a:rPr lang="en-US" altLang="zh-CN" sz="800">
                <a:solidFill>
                  <a:srgbClr val="BDBDBD"/>
                </a:solidFill>
                <a:latin typeface="Microsoft YaHei" panose="020B0503020204020204" pitchFamily="34" charset="-122"/>
              </a:rPr>
              <a:t>: </a:t>
            </a:r>
            <a:r>
              <a:rPr lang="zh-CN" altLang="en-US" sz="800">
                <a:solidFill>
                  <a:srgbClr val="BDBDBD"/>
                </a:solidFill>
                <a:latin typeface="Microsoft YaHei" panose="020B0503020204020204" pitchFamily="34" charset="-122"/>
              </a:rPr>
              <a:t>世行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3E0694A-0E7A-A1B0-323D-0E3DE40D5296}"/>
              </a:ext>
            </a:extLst>
          </p:cNvPr>
          <p:cNvSpPr/>
          <p:nvPr/>
        </p:nvSpPr>
        <p:spPr>
          <a:xfrm>
            <a:off x="8255000" y="1206500"/>
            <a:ext cx="3746500" cy="1143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76200" dist="37357" dir="2700000" rotWithShape="0">
              <a:scrgbClr r="0" g="0" b="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1FB2DC6-640E-DBD4-4779-CEDA69E7884F}"/>
              </a:ext>
            </a:extLst>
          </p:cNvPr>
          <p:cNvSpPr/>
          <p:nvPr/>
        </p:nvSpPr>
        <p:spPr>
          <a:xfrm>
            <a:off x="8255000" y="1206500"/>
            <a:ext cx="50800" cy="1143000"/>
          </a:xfrm>
          <a:prstGeom prst="rect">
            <a:avLst/>
          </a:prstGeom>
          <a:solidFill>
            <a:srgbClr val="B0279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5CA276B-8915-6D8C-F8B1-1BEB564CB125}"/>
              </a:ext>
            </a:extLst>
          </p:cNvPr>
          <p:cNvSpPr txBox="1"/>
          <p:nvPr/>
        </p:nvSpPr>
        <p:spPr>
          <a:xfrm>
            <a:off x="8445500" y="1333500"/>
            <a:ext cx="317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sz="1100">
                <a:solidFill>
                  <a:srgbClr val="757575"/>
                </a:solidFill>
                <a:latin typeface="Microsoft YaHei" panose="020B0503020204020204" pitchFamily="34" charset="-122"/>
              </a:rPr>
              <a:t>基建支出</a:t>
            </a:r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(2025)</a:t>
            </a:r>
            <a:endParaRPr lang="zh-CN" altLang="en-US" sz="1100">
              <a:solidFill>
                <a:srgbClr val="7575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C82741E-D363-2A37-8E7D-24E71233877B}"/>
              </a:ext>
            </a:extLst>
          </p:cNvPr>
          <p:cNvSpPr txBox="1"/>
          <p:nvPr/>
        </p:nvSpPr>
        <p:spPr>
          <a:xfrm>
            <a:off x="8445500" y="1612900"/>
            <a:ext cx="3175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200" b="1">
                <a:solidFill>
                  <a:srgbClr val="B0279C"/>
                </a:solidFill>
                <a:latin typeface="Microsoft YaHei" panose="020B0503020204020204" pitchFamily="34" charset="-122"/>
              </a:rPr>
              <a:t>$3180</a:t>
            </a:r>
            <a:r>
              <a:rPr lang="zh-CN" altLang="en-US" sz="2200" b="1">
                <a:solidFill>
                  <a:srgbClr val="B0279C"/>
                </a:solidFill>
                <a:latin typeface="Microsoft YaHei" panose="020B0503020204020204" pitchFamily="34" charset="-122"/>
              </a:rPr>
              <a:t>亿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7B6B868-A461-7270-9919-A58B2BF38D41}"/>
              </a:ext>
            </a:extLst>
          </p:cNvPr>
          <p:cNvSpPr txBox="1"/>
          <p:nvPr/>
        </p:nvSpPr>
        <p:spPr>
          <a:xfrm>
            <a:off x="8445500" y="2032000"/>
            <a:ext cx="3175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800">
                <a:solidFill>
                  <a:srgbClr val="BDBDBD"/>
                </a:solidFill>
                <a:latin typeface="Microsoft YaHei" panose="020B0503020204020204" pitchFamily="34" charset="-122"/>
              </a:rPr>
              <a:t>数据来源</a:t>
            </a:r>
            <a:r>
              <a:rPr lang="en-US" altLang="zh-CN" sz="800">
                <a:solidFill>
                  <a:srgbClr val="BDBDBD"/>
                </a:solidFill>
                <a:latin typeface="Microsoft YaHei" panose="020B0503020204020204" pitchFamily="34" charset="-122"/>
              </a:rPr>
              <a:t>: IDC</a:t>
            </a:r>
            <a:endParaRPr lang="zh-CN" altLang="en-US" sz="800">
              <a:solidFill>
                <a:srgbClr val="BDBDB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F4F1659-A0E8-9334-55D7-2AFB86A4C5B7}"/>
              </a:ext>
            </a:extLst>
          </p:cNvPr>
          <p:cNvSpPr/>
          <p:nvPr/>
        </p:nvSpPr>
        <p:spPr>
          <a:xfrm>
            <a:off x="381000" y="2476500"/>
            <a:ext cx="3746500" cy="1143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76200" dist="37357" dir="2700000" rotWithShape="0">
              <a:scrgbClr r="0" g="0" b="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1DE03B8-5696-4522-C3F9-8FBD471B2766}"/>
              </a:ext>
            </a:extLst>
          </p:cNvPr>
          <p:cNvSpPr/>
          <p:nvPr/>
        </p:nvSpPr>
        <p:spPr>
          <a:xfrm>
            <a:off x="381000" y="2476500"/>
            <a:ext cx="50800" cy="1143000"/>
          </a:xfrm>
          <a:prstGeom prst="rect">
            <a:avLst/>
          </a:prstGeom>
          <a:solidFill>
            <a:srgbClr val="50AF4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BA8C13B-9361-4160-84FA-329552E72FB7}"/>
              </a:ext>
            </a:extLst>
          </p:cNvPr>
          <p:cNvSpPr txBox="1"/>
          <p:nvPr/>
        </p:nvSpPr>
        <p:spPr>
          <a:xfrm>
            <a:off x="571500" y="2603500"/>
            <a:ext cx="317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>
                <a:solidFill>
                  <a:srgbClr val="757575"/>
                </a:solidFill>
                <a:latin typeface="Microsoft YaHei" panose="020B0503020204020204" pitchFamily="34" charset="-122"/>
              </a:rPr>
              <a:t>中国贸易顺差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A1F4A69-FAB9-FEB8-CB58-FB69239A4EDE}"/>
              </a:ext>
            </a:extLst>
          </p:cNvPr>
          <p:cNvSpPr txBox="1"/>
          <p:nvPr/>
        </p:nvSpPr>
        <p:spPr>
          <a:xfrm>
            <a:off x="571500" y="2882900"/>
            <a:ext cx="3175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200" b="1">
                <a:solidFill>
                  <a:srgbClr val="50AF4C"/>
                </a:solidFill>
                <a:latin typeface="Microsoft YaHei" panose="020B0503020204020204" pitchFamily="34" charset="-122"/>
              </a:rPr>
              <a:t>$1.19</a:t>
            </a:r>
            <a:r>
              <a:rPr lang="zh-CN" altLang="en-US" sz="2200" b="1">
                <a:solidFill>
                  <a:srgbClr val="50AF4C"/>
                </a:solidFill>
                <a:latin typeface="Microsoft YaHei" panose="020B0503020204020204" pitchFamily="34" charset="-122"/>
              </a:rPr>
              <a:t>万亿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55D2872-68ED-0186-6431-51303FC1886F}"/>
              </a:ext>
            </a:extLst>
          </p:cNvPr>
          <p:cNvSpPr txBox="1"/>
          <p:nvPr/>
        </p:nvSpPr>
        <p:spPr>
          <a:xfrm>
            <a:off x="571500" y="3302000"/>
            <a:ext cx="3175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800">
                <a:solidFill>
                  <a:srgbClr val="BDBDBD"/>
                </a:solidFill>
                <a:latin typeface="Microsoft YaHei" panose="020B0503020204020204" pitchFamily="34" charset="-122"/>
              </a:rPr>
              <a:t>数据来源</a:t>
            </a:r>
            <a:r>
              <a:rPr lang="en-US" altLang="zh-CN" sz="800">
                <a:solidFill>
                  <a:srgbClr val="BDBDBD"/>
                </a:solidFill>
                <a:latin typeface="Microsoft YaHei" panose="020B0503020204020204" pitchFamily="34" charset="-122"/>
              </a:rPr>
              <a:t>: </a:t>
            </a:r>
            <a:r>
              <a:rPr lang="zh-CN" altLang="en-US" sz="800">
                <a:solidFill>
                  <a:srgbClr val="BDBDBD"/>
                </a:solidFill>
                <a:latin typeface="Microsoft YaHei" panose="020B0503020204020204" pitchFamily="34" charset="-122"/>
              </a:rPr>
              <a:t>海关总署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4D2F87A-3671-6067-7ADE-A5E2CFDDE491}"/>
              </a:ext>
            </a:extLst>
          </p:cNvPr>
          <p:cNvSpPr/>
          <p:nvPr/>
        </p:nvSpPr>
        <p:spPr>
          <a:xfrm>
            <a:off x="4318000" y="2476500"/>
            <a:ext cx="3746500" cy="1143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76200" dist="37357" dir="2700000" rotWithShape="0">
              <a:scrgbClr r="0" g="0" b="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1C79B31-63B7-62ED-91A5-5CF6325DB7CE}"/>
              </a:ext>
            </a:extLst>
          </p:cNvPr>
          <p:cNvSpPr/>
          <p:nvPr/>
        </p:nvSpPr>
        <p:spPr>
          <a:xfrm>
            <a:off x="4318000" y="2476500"/>
            <a:ext cx="50800" cy="1143000"/>
          </a:xfrm>
          <a:prstGeom prst="rect">
            <a:avLst/>
          </a:prstGeom>
          <a:solidFill>
            <a:srgbClr val="F3962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45F5B74-468A-A7A8-DBB5-697C886B6ACF}"/>
              </a:ext>
            </a:extLst>
          </p:cNvPr>
          <p:cNvSpPr txBox="1"/>
          <p:nvPr/>
        </p:nvSpPr>
        <p:spPr>
          <a:xfrm>
            <a:off x="4508500" y="2603500"/>
            <a:ext cx="317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>
                <a:solidFill>
                  <a:srgbClr val="757575"/>
                </a:solidFill>
                <a:latin typeface="Microsoft YaHei" panose="020B0503020204020204" pitchFamily="34" charset="-122"/>
              </a:rPr>
              <a:t>全球</a:t>
            </a:r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FDI(2025)</a:t>
            </a:r>
            <a:endParaRPr lang="zh-CN" altLang="en-US" sz="1100">
              <a:solidFill>
                <a:srgbClr val="7575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36D1FC5-246D-F842-0EB1-8C6298B9091A}"/>
              </a:ext>
            </a:extLst>
          </p:cNvPr>
          <p:cNvSpPr txBox="1"/>
          <p:nvPr/>
        </p:nvSpPr>
        <p:spPr>
          <a:xfrm>
            <a:off x="4508500" y="2882900"/>
            <a:ext cx="3175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200" b="1">
                <a:solidFill>
                  <a:srgbClr val="F39621"/>
                </a:solidFill>
                <a:latin typeface="Microsoft YaHei" panose="020B0503020204020204" pitchFamily="34" charset="-122"/>
              </a:rPr>
              <a:t>$1.6</a:t>
            </a:r>
            <a:r>
              <a:rPr lang="zh-CN" altLang="en-US" sz="2200" b="1">
                <a:solidFill>
                  <a:srgbClr val="F39621"/>
                </a:solidFill>
                <a:latin typeface="Microsoft YaHei" panose="020B0503020204020204" pitchFamily="34" charset="-122"/>
              </a:rPr>
              <a:t>万亿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9DF3B3F-DDF2-6EEC-3862-2DEFBAA6E729}"/>
              </a:ext>
            </a:extLst>
          </p:cNvPr>
          <p:cNvSpPr txBox="1"/>
          <p:nvPr/>
        </p:nvSpPr>
        <p:spPr>
          <a:xfrm>
            <a:off x="4508500" y="3302000"/>
            <a:ext cx="3175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800">
                <a:solidFill>
                  <a:srgbClr val="BDBDBD"/>
                </a:solidFill>
                <a:latin typeface="Microsoft YaHei" panose="020B0503020204020204" pitchFamily="34" charset="-122"/>
              </a:rPr>
              <a:t>数据来源</a:t>
            </a:r>
            <a:r>
              <a:rPr lang="en-US" altLang="zh-CN" sz="800">
                <a:solidFill>
                  <a:srgbClr val="BDBDBD"/>
                </a:solidFill>
                <a:latin typeface="Microsoft YaHei" panose="020B0503020204020204" pitchFamily="34" charset="-122"/>
              </a:rPr>
              <a:t>: UNCTAD</a:t>
            </a:r>
            <a:endParaRPr lang="zh-CN" altLang="en-US" sz="800">
              <a:solidFill>
                <a:srgbClr val="BDBDB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CC99713-EECD-8B5F-F1A0-D8AA9031204E}"/>
              </a:ext>
            </a:extLst>
          </p:cNvPr>
          <p:cNvSpPr/>
          <p:nvPr/>
        </p:nvSpPr>
        <p:spPr>
          <a:xfrm>
            <a:off x="8255000" y="2476500"/>
            <a:ext cx="3746500" cy="1143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76200" dist="37357" dir="2700000" rotWithShape="0">
              <a:scrgbClr r="0" g="0" b="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6A82F85-AE1E-87A2-36B3-30FBDF3F9E67}"/>
              </a:ext>
            </a:extLst>
          </p:cNvPr>
          <p:cNvSpPr/>
          <p:nvPr/>
        </p:nvSpPr>
        <p:spPr>
          <a:xfrm>
            <a:off x="8255000" y="2476500"/>
            <a:ext cx="50800" cy="1143000"/>
          </a:xfrm>
          <a:prstGeom prst="rect">
            <a:avLst/>
          </a:prstGeom>
          <a:solidFill>
            <a:srgbClr val="B0279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63C524AE-688A-9FCF-2DA2-8D5D479E5823}"/>
              </a:ext>
            </a:extLst>
          </p:cNvPr>
          <p:cNvSpPr txBox="1"/>
          <p:nvPr/>
        </p:nvSpPr>
        <p:spPr>
          <a:xfrm>
            <a:off x="8445500" y="2603500"/>
            <a:ext cx="317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>
                <a:solidFill>
                  <a:srgbClr val="757575"/>
                </a:solidFill>
                <a:latin typeface="Microsoft YaHei" panose="020B0503020204020204" pitchFamily="34" charset="-122"/>
              </a:rPr>
              <a:t>科技巨头</a:t>
            </a:r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Capex(2026E)</a:t>
            </a:r>
            <a:endParaRPr lang="zh-CN" altLang="en-US" sz="1100">
              <a:solidFill>
                <a:srgbClr val="7575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8F59552-E3A0-A157-954A-E18676B21486}"/>
              </a:ext>
            </a:extLst>
          </p:cNvPr>
          <p:cNvSpPr txBox="1"/>
          <p:nvPr/>
        </p:nvSpPr>
        <p:spPr>
          <a:xfrm>
            <a:off x="8445500" y="2882900"/>
            <a:ext cx="3175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200" b="1">
                <a:solidFill>
                  <a:srgbClr val="B0279C"/>
                </a:solidFill>
                <a:latin typeface="Microsoft YaHei" panose="020B0503020204020204" pitchFamily="34" charset="-122"/>
              </a:rPr>
              <a:t>$5270</a:t>
            </a:r>
            <a:r>
              <a:rPr lang="zh-CN" altLang="en-US" sz="2200" b="1">
                <a:solidFill>
                  <a:srgbClr val="B0279C"/>
                </a:solidFill>
                <a:latin typeface="Microsoft YaHei" panose="020B0503020204020204" pitchFamily="34" charset="-122"/>
              </a:rPr>
              <a:t>亿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1DEF4A2-D0E6-244E-DCBC-DA533ED1C2FC}"/>
              </a:ext>
            </a:extLst>
          </p:cNvPr>
          <p:cNvSpPr txBox="1"/>
          <p:nvPr/>
        </p:nvSpPr>
        <p:spPr>
          <a:xfrm>
            <a:off x="8445500" y="3302000"/>
            <a:ext cx="3175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800">
                <a:solidFill>
                  <a:srgbClr val="BDBDBD"/>
                </a:solidFill>
                <a:latin typeface="Microsoft YaHei" panose="020B0503020204020204" pitchFamily="34" charset="-122"/>
              </a:rPr>
              <a:t>数据来源</a:t>
            </a:r>
            <a:r>
              <a:rPr lang="en-US" altLang="zh-CN" sz="800">
                <a:solidFill>
                  <a:srgbClr val="BDBDBD"/>
                </a:solidFill>
                <a:latin typeface="Microsoft YaHei" panose="020B0503020204020204" pitchFamily="34" charset="-122"/>
              </a:rPr>
              <a:t>: GS</a:t>
            </a:r>
            <a:endParaRPr lang="zh-CN" altLang="en-US" sz="800">
              <a:solidFill>
                <a:srgbClr val="BDBDB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A6C1DBD-299B-D7DB-E544-64B8DC0FF354}"/>
              </a:ext>
            </a:extLst>
          </p:cNvPr>
          <p:cNvSpPr/>
          <p:nvPr/>
        </p:nvSpPr>
        <p:spPr>
          <a:xfrm>
            <a:off x="381000" y="3746500"/>
            <a:ext cx="3746500" cy="1143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76200" dist="37357" dir="2700000" rotWithShape="0">
              <a:scrgbClr r="0" g="0" b="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9BECBBE-CD58-9942-6658-D92F2CF98801}"/>
              </a:ext>
            </a:extLst>
          </p:cNvPr>
          <p:cNvSpPr/>
          <p:nvPr/>
        </p:nvSpPr>
        <p:spPr>
          <a:xfrm>
            <a:off x="381000" y="3746500"/>
            <a:ext cx="50800" cy="1143000"/>
          </a:xfrm>
          <a:prstGeom prst="rect">
            <a:avLst/>
          </a:prstGeom>
          <a:solidFill>
            <a:srgbClr val="0098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181C5BA-2AC6-20BB-5664-0DA9D4875607}"/>
              </a:ext>
            </a:extLst>
          </p:cNvPr>
          <p:cNvSpPr txBox="1"/>
          <p:nvPr/>
        </p:nvSpPr>
        <p:spPr>
          <a:xfrm>
            <a:off x="571500" y="3873500"/>
            <a:ext cx="317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>
                <a:solidFill>
                  <a:srgbClr val="757575"/>
                </a:solidFill>
                <a:latin typeface="Microsoft YaHei" panose="020B0503020204020204" pitchFamily="34" charset="-122"/>
              </a:rPr>
              <a:t>中国</a:t>
            </a:r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R&amp;D</a:t>
            </a:r>
            <a:r>
              <a:rPr lang="zh-CN" altLang="en-US" sz="1100">
                <a:solidFill>
                  <a:srgbClr val="757575"/>
                </a:solidFill>
                <a:latin typeface="Microsoft YaHei" panose="020B0503020204020204" pitchFamily="34" charset="-122"/>
              </a:rPr>
              <a:t>投入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197B79AA-73DE-A126-A5BE-FC49CF07CA52}"/>
              </a:ext>
            </a:extLst>
          </p:cNvPr>
          <p:cNvSpPr txBox="1"/>
          <p:nvPr/>
        </p:nvSpPr>
        <p:spPr>
          <a:xfrm>
            <a:off x="571500" y="4152900"/>
            <a:ext cx="3175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200" b="1">
                <a:solidFill>
                  <a:srgbClr val="0098FF"/>
                </a:solidFill>
                <a:latin typeface="Microsoft YaHei" panose="020B0503020204020204" pitchFamily="34" charset="-122"/>
              </a:rPr>
              <a:t>¥3.93</a:t>
            </a:r>
            <a:r>
              <a:rPr lang="zh-CN" altLang="en-US" sz="2200" b="1">
                <a:solidFill>
                  <a:srgbClr val="0098FF"/>
                </a:solidFill>
                <a:latin typeface="Microsoft YaHei" panose="020B0503020204020204" pitchFamily="34" charset="-122"/>
              </a:rPr>
              <a:t>万亿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F859EA4-D887-91B1-D6F4-F70DBD12ACB6}"/>
              </a:ext>
            </a:extLst>
          </p:cNvPr>
          <p:cNvSpPr txBox="1"/>
          <p:nvPr/>
        </p:nvSpPr>
        <p:spPr>
          <a:xfrm>
            <a:off x="571500" y="4572000"/>
            <a:ext cx="3175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800">
                <a:solidFill>
                  <a:srgbClr val="BDBDBD"/>
                </a:solidFill>
                <a:latin typeface="Microsoft YaHei" panose="020B0503020204020204" pitchFamily="34" charset="-122"/>
              </a:rPr>
              <a:t>数据来源</a:t>
            </a:r>
            <a:r>
              <a:rPr lang="en-US" altLang="zh-CN" sz="800">
                <a:solidFill>
                  <a:srgbClr val="BDBDBD"/>
                </a:solidFill>
                <a:latin typeface="Microsoft YaHei" panose="020B0503020204020204" pitchFamily="34" charset="-122"/>
              </a:rPr>
              <a:t>: </a:t>
            </a:r>
            <a:r>
              <a:rPr lang="zh-CN" altLang="en-US" sz="800">
                <a:solidFill>
                  <a:srgbClr val="BDBDBD"/>
                </a:solidFill>
                <a:latin typeface="Microsoft YaHei" panose="020B0503020204020204" pitchFamily="34" charset="-122"/>
              </a:rPr>
              <a:t>科技部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BCDAA8C-E94E-7035-D873-DD99E1E83470}"/>
              </a:ext>
            </a:extLst>
          </p:cNvPr>
          <p:cNvSpPr/>
          <p:nvPr/>
        </p:nvSpPr>
        <p:spPr>
          <a:xfrm>
            <a:off x="4318000" y="3746500"/>
            <a:ext cx="3746500" cy="1143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76200" dist="37357" dir="2700000" rotWithShape="0">
              <a:scrgbClr r="0" g="0" b="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C8FF32C-7FE8-0AB9-1165-095A07A9D733}"/>
              </a:ext>
            </a:extLst>
          </p:cNvPr>
          <p:cNvSpPr/>
          <p:nvPr/>
        </p:nvSpPr>
        <p:spPr>
          <a:xfrm>
            <a:off x="4318000" y="3746500"/>
            <a:ext cx="50800" cy="1143000"/>
          </a:xfrm>
          <a:prstGeom prst="rect">
            <a:avLst/>
          </a:prstGeom>
          <a:solidFill>
            <a:srgbClr val="50AF4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4C7E1B3-9194-12DC-8ED4-262EC49461FF}"/>
              </a:ext>
            </a:extLst>
          </p:cNvPr>
          <p:cNvSpPr txBox="1"/>
          <p:nvPr/>
        </p:nvSpPr>
        <p:spPr>
          <a:xfrm>
            <a:off x="4508500" y="3873500"/>
            <a:ext cx="317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NEV</a:t>
            </a:r>
            <a:r>
              <a:rPr lang="zh-CN" altLang="en-US" sz="1100">
                <a:solidFill>
                  <a:srgbClr val="757575"/>
                </a:solidFill>
                <a:latin typeface="Microsoft YaHei" panose="020B0503020204020204" pitchFamily="34" charset="-122"/>
              </a:rPr>
              <a:t>销量</a:t>
            </a:r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(2025)</a:t>
            </a:r>
            <a:endParaRPr lang="zh-CN" altLang="en-US" sz="1100">
              <a:solidFill>
                <a:srgbClr val="7575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F07DAFF0-36B6-03C2-0855-85E01A6A81AB}"/>
              </a:ext>
            </a:extLst>
          </p:cNvPr>
          <p:cNvSpPr txBox="1"/>
          <p:nvPr/>
        </p:nvSpPr>
        <p:spPr>
          <a:xfrm>
            <a:off x="4508500" y="4152900"/>
            <a:ext cx="3175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200" b="1">
                <a:solidFill>
                  <a:srgbClr val="50AF4C"/>
                </a:solidFill>
                <a:latin typeface="Microsoft YaHei" panose="020B0503020204020204" pitchFamily="34" charset="-122"/>
              </a:rPr>
              <a:t>~1300</a:t>
            </a:r>
            <a:r>
              <a:rPr lang="zh-CN" altLang="en-US" sz="2200" b="1">
                <a:solidFill>
                  <a:srgbClr val="50AF4C"/>
                </a:solidFill>
                <a:latin typeface="Microsoft YaHei" panose="020B0503020204020204" pitchFamily="34" charset="-122"/>
              </a:rPr>
              <a:t>万辆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F5A18786-2B17-8699-D7D5-75DC87C648C5}"/>
              </a:ext>
            </a:extLst>
          </p:cNvPr>
          <p:cNvSpPr txBox="1"/>
          <p:nvPr/>
        </p:nvSpPr>
        <p:spPr>
          <a:xfrm>
            <a:off x="4508500" y="4572000"/>
            <a:ext cx="3175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800">
                <a:solidFill>
                  <a:srgbClr val="BDBDBD"/>
                </a:solidFill>
                <a:latin typeface="Microsoft YaHei" panose="020B0503020204020204" pitchFamily="34" charset="-122"/>
              </a:rPr>
              <a:t>数据来源</a:t>
            </a:r>
            <a:r>
              <a:rPr lang="en-US" altLang="zh-CN" sz="800">
                <a:solidFill>
                  <a:srgbClr val="BDBDBD"/>
                </a:solidFill>
                <a:latin typeface="Microsoft YaHei" panose="020B0503020204020204" pitchFamily="34" charset="-122"/>
              </a:rPr>
              <a:t>: CPCA</a:t>
            </a:r>
            <a:endParaRPr lang="zh-CN" altLang="en-US" sz="800">
              <a:solidFill>
                <a:srgbClr val="BDBDB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2AF3898C-ED94-138E-B640-6D811BB92202}"/>
              </a:ext>
            </a:extLst>
          </p:cNvPr>
          <p:cNvSpPr/>
          <p:nvPr/>
        </p:nvSpPr>
        <p:spPr>
          <a:xfrm>
            <a:off x="8255000" y="3746500"/>
            <a:ext cx="3746500" cy="1143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76200" dist="37357" dir="2700000" rotWithShape="0">
              <a:scrgbClr r="0" g="0" b="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EAE4866-15A1-95AE-418D-77E5240210B0}"/>
              </a:ext>
            </a:extLst>
          </p:cNvPr>
          <p:cNvSpPr/>
          <p:nvPr/>
        </p:nvSpPr>
        <p:spPr>
          <a:xfrm>
            <a:off x="8255000" y="3746500"/>
            <a:ext cx="50800" cy="1143000"/>
          </a:xfrm>
          <a:prstGeom prst="rect">
            <a:avLst/>
          </a:prstGeom>
          <a:solidFill>
            <a:srgbClr val="F3962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29F33208-1F8A-33DC-47E0-DEF3A3C66731}"/>
              </a:ext>
            </a:extLst>
          </p:cNvPr>
          <p:cNvSpPr txBox="1"/>
          <p:nvPr/>
        </p:nvSpPr>
        <p:spPr>
          <a:xfrm>
            <a:off x="8445500" y="3873500"/>
            <a:ext cx="317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EM</a:t>
            </a:r>
            <a:r>
              <a:rPr lang="zh-CN" altLang="en-US" sz="1100">
                <a:solidFill>
                  <a:srgbClr val="757575"/>
                </a:solidFill>
                <a:latin typeface="Microsoft YaHei" panose="020B0503020204020204" pitchFamily="34" charset="-122"/>
              </a:rPr>
              <a:t>资金流入</a:t>
            </a:r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(1</a:t>
            </a:r>
            <a:r>
              <a:rPr lang="zh-CN" altLang="en-US" sz="1100">
                <a:solidFill>
                  <a:srgbClr val="757575"/>
                </a:solidFill>
                <a:latin typeface="Microsoft YaHei" panose="020B0503020204020204" pitchFamily="34" charset="-122"/>
              </a:rPr>
              <a:t>月</a:t>
            </a:r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100">
              <a:solidFill>
                <a:srgbClr val="7575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F457256A-98E7-7C60-CBDD-2374606B4C40}"/>
              </a:ext>
            </a:extLst>
          </p:cNvPr>
          <p:cNvSpPr txBox="1"/>
          <p:nvPr/>
        </p:nvSpPr>
        <p:spPr>
          <a:xfrm>
            <a:off x="8445500" y="4152900"/>
            <a:ext cx="3175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200" b="1">
                <a:solidFill>
                  <a:srgbClr val="F39621"/>
                </a:solidFill>
                <a:latin typeface="Microsoft YaHei" panose="020B0503020204020204" pitchFamily="34" charset="-122"/>
              </a:rPr>
              <a:t>$988</a:t>
            </a:r>
            <a:r>
              <a:rPr lang="zh-CN" altLang="en-US" sz="2200" b="1">
                <a:solidFill>
                  <a:srgbClr val="F39621"/>
                </a:solidFill>
                <a:latin typeface="Microsoft YaHei" panose="020B0503020204020204" pitchFamily="34" charset="-122"/>
              </a:rPr>
              <a:t>亿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23210C4C-81B5-3F7E-CD61-6AD9E3857740}"/>
              </a:ext>
            </a:extLst>
          </p:cNvPr>
          <p:cNvSpPr txBox="1"/>
          <p:nvPr/>
        </p:nvSpPr>
        <p:spPr>
          <a:xfrm>
            <a:off x="8445500" y="4572000"/>
            <a:ext cx="3175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800">
                <a:solidFill>
                  <a:srgbClr val="BDBDBD"/>
                </a:solidFill>
                <a:latin typeface="Microsoft YaHei" panose="020B0503020204020204" pitchFamily="34" charset="-122"/>
              </a:rPr>
              <a:t>数据来源</a:t>
            </a:r>
            <a:r>
              <a:rPr lang="en-US" altLang="zh-CN" sz="800">
                <a:solidFill>
                  <a:srgbClr val="BDBDBD"/>
                </a:solidFill>
                <a:latin typeface="Microsoft YaHei" panose="020B0503020204020204" pitchFamily="34" charset="-122"/>
              </a:rPr>
              <a:t>: IIF</a:t>
            </a:r>
            <a:endParaRPr lang="zh-CN" altLang="en-US" sz="800">
              <a:solidFill>
                <a:srgbClr val="BDBDB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566312C0-7B05-2C11-3352-3C918B3F78A4}"/>
              </a:ext>
            </a:extLst>
          </p:cNvPr>
          <p:cNvSpPr/>
          <p:nvPr/>
        </p:nvSpPr>
        <p:spPr>
          <a:xfrm>
            <a:off x="381000" y="5016500"/>
            <a:ext cx="3746500" cy="1143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76200" dist="37357" dir="2700000" rotWithShape="0">
              <a:scrgbClr r="0" g="0" b="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4D1641DE-595F-1786-97E2-693C81B4712F}"/>
              </a:ext>
            </a:extLst>
          </p:cNvPr>
          <p:cNvSpPr/>
          <p:nvPr/>
        </p:nvSpPr>
        <p:spPr>
          <a:xfrm>
            <a:off x="381000" y="5016500"/>
            <a:ext cx="50800" cy="1143000"/>
          </a:xfrm>
          <a:prstGeom prst="rect">
            <a:avLst/>
          </a:prstGeom>
          <a:solidFill>
            <a:srgbClr val="3643F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FDFB4690-4C2B-CD3F-CD16-3B3B23A29BC1}"/>
              </a:ext>
            </a:extLst>
          </p:cNvPr>
          <p:cNvSpPr txBox="1"/>
          <p:nvPr/>
        </p:nvSpPr>
        <p:spPr>
          <a:xfrm>
            <a:off x="571500" y="5143500"/>
            <a:ext cx="317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>
                <a:solidFill>
                  <a:srgbClr val="757575"/>
                </a:solidFill>
                <a:latin typeface="Microsoft YaHei" panose="020B0503020204020204" pitchFamily="34" charset="-122"/>
              </a:rPr>
              <a:t>全球通胀</a:t>
            </a:r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(2026)</a:t>
            </a:r>
            <a:endParaRPr lang="zh-CN" altLang="en-US" sz="1100">
              <a:solidFill>
                <a:srgbClr val="7575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8560C169-8010-7888-1277-D47C81F273EC}"/>
              </a:ext>
            </a:extLst>
          </p:cNvPr>
          <p:cNvSpPr txBox="1"/>
          <p:nvPr/>
        </p:nvSpPr>
        <p:spPr>
          <a:xfrm>
            <a:off x="571500" y="5422900"/>
            <a:ext cx="3175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200" b="1">
                <a:solidFill>
                  <a:srgbClr val="3643F4"/>
                </a:solidFill>
                <a:latin typeface="Microsoft YaHei" panose="020B0503020204020204" pitchFamily="34" charset="-122"/>
              </a:rPr>
              <a:t>4.0%</a:t>
            </a:r>
            <a:endParaRPr lang="zh-CN" altLang="en-US" sz="2200" b="1">
              <a:solidFill>
                <a:srgbClr val="3643F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2CE2B8CE-7010-C217-5A79-C3E8F1AB6D10}"/>
              </a:ext>
            </a:extLst>
          </p:cNvPr>
          <p:cNvSpPr txBox="1"/>
          <p:nvPr/>
        </p:nvSpPr>
        <p:spPr>
          <a:xfrm>
            <a:off x="571500" y="5842000"/>
            <a:ext cx="3175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800">
                <a:solidFill>
                  <a:srgbClr val="BDBDBD"/>
                </a:solidFill>
                <a:latin typeface="Microsoft YaHei" panose="020B0503020204020204" pitchFamily="34" charset="-122"/>
              </a:rPr>
              <a:t>数据来源</a:t>
            </a:r>
            <a:r>
              <a:rPr lang="en-US" altLang="zh-CN" sz="800">
                <a:solidFill>
                  <a:srgbClr val="BDBDBD"/>
                </a:solidFill>
                <a:latin typeface="Microsoft YaHei" panose="020B0503020204020204" pitchFamily="34" charset="-122"/>
              </a:rPr>
              <a:t>: </a:t>
            </a:r>
            <a:r>
              <a:rPr lang="zh-CN" altLang="en-US" sz="800">
                <a:solidFill>
                  <a:srgbClr val="BDBDBD"/>
                </a:solidFill>
                <a:latin typeface="Microsoft YaHei" panose="020B0503020204020204" pitchFamily="34" charset="-122"/>
              </a:rPr>
              <a:t>世行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E910F1F9-0145-EA4E-BAFE-CCC5DB47595A}"/>
              </a:ext>
            </a:extLst>
          </p:cNvPr>
          <p:cNvSpPr/>
          <p:nvPr/>
        </p:nvSpPr>
        <p:spPr>
          <a:xfrm>
            <a:off x="4318000" y="5016500"/>
            <a:ext cx="3746500" cy="1143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76200" dist="37357" dir="2700000" rotWithShape="0">
              <a:scrgbClr r="0" g="0" b="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DFE05938-BDC6-8630-2541-69866893C28A}"/>
              </a:ext>
            </a:extLst>
          </p:cNvPr>
          <p:cNvSpPr/>
          <p:nvPr/>
        </p:nvSpPr>
        <p:spPr>
          <a:xfrm>
            <a:off x="4318000" y="5016500"/>
            <a:ext cx="50800" cy="1143000"/>
          </a:xfrm>
          <a:prstGeom prst="rect">
            <a:avLst/>
          </a:prstGeom>
          <a:solidFill>
            <a:srgbClr val="B0279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10A3D85E-FE86-D4BB-9C01-8CFD2B562091}"/>
              </a:ext>
            </a:extLst>
          </p:cNvPr>
          <p:cNvSpPr txBox="1"/>
          <p:nvPr/>
        </p:nvSpPr>
        <p:spPr>
          <a:xfrm>
            <a:off x="4508500" y="5143500"/>
            <a:ext cx="317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>
                <a:solidFill>
                  <a:srgbClr val="757575"/>
                </a:solidFill>
                <a:latin typeface="Microsoft YaHei" panose="020B0503020204020204" pitchFamily="34" charset="-122"/>
              </a:rPr>
              <a:t>核心</a:t>
            </a:r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sz="1100">
                <a:solidFill>
                  <a:srgbClr val="757575"/>
                </a:solidFill>
                <a:latin typeface="Microsoft YaHei" panose="020B0503020204020204" pitchFamily="34" charset="-122"/>
              </a:rPr>
              <a:t>产业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9BA8812A-C6C7-E4C4-0387-D047E9747956}"/>
              </a:ext>
            </a:extLst>
          </p:cNvPr>
          <p:cNvSpPr txBox="1"/>
          <p:nvPr/>
        </p:nvSpPr>
        <p:spPr>
          <a:xfrm>
            <a:off x="4508500" y="5422900"/>
            <a:ext cx="3175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200" b="1">
                <a:solidFill>
                  <a:srgbClr val="B0279C"/>
                </a:solidFill>
                <a:latin typeface="Microsoft YaHei" panose="020B0503020204020204" pitchFamily="34" charset="-122"/>
              </a:rPr>
              <a:t>¥1.2</a:t>
            </a:r>
            <a:r>
              <a:rPr lang="zh-CN" altLang="en-US" sz="2200" b="1">
                <a:solidFill>
                  <a:srgbClr val="B0279C"/>
                </a:solidFill>
                <a:latin typeface="Microsoft YaHei" panose="020B0503020204020204" pitchFamily="34" charset="-122"/>
              </a:rPr>
              <a:t>万亿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56FA4777-5AE7-B2A3-E5AC-4C5B5532212D}"/>
              </a:ext>
            </a:extLst>
          </p:cNvPr>
          <p:cNvSpPr txBox="1"/>
          <p:nvPr/>
        </p:nvSpPr>
        <p:spPr>
          <a:xfrm>
            <a:off x="4508500" y="5842000"/>
            <a:ext cx="3175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800">
                <a:solidFill>
                  <a:srgbClr val="BDBDBD"/>
                </a:solidFill>
                <a:latin typeface="Microsoft YaHei" panose="020B0503020204020204" pitchFamily="34" charset="-122"/>
              </a:rPr>
              <a:t>数据来源</a:t>
            </a:r>
            <a:r>
              <a:rPr lang="en-US" altLang="zh-CN" sz="800">
                <a:solidFill>
                  <a:srgbClr val="BDBDBD"/>
                </a:solidFill>
                <a:latin typeface="Microsoft YaHei" panose="020B0503020204020204" pitchFamily="34" charset="-122"/>
              </a:rPr>
              <a:t>: </a:t>
            </a:r>
            <a:r>
              <a:rPr lang="zh-CN" altLang="en-US" sz="800">
                <a:solidFill>
                  <a:srgbClr val="BDBDBD"/>
                </a:solidFill>
                <a:latin typeface="Microsoft YaHei" panose="020B0503020204020204" pitchFamily="34" charset="-122"/>
              </a:rPr>
              <a:t>工信部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9A46F75A-F0DE-B973-E959-C5C970EEB21A}"/>
              </a:ext>
            </a:extLst>
          </p:cNvPr>
          <p:cNvSpPr/>
          <p:nvPr/>
        </p:nvSpPr>
        <p:spPr>
          <a:xfrm>
            <a:off x="8255000" y="5016500"/>
            <a:ext cx="3746500" cy="1143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76200" dist="37357" dir="2700000" rotWithShape="0">
              <a:scrgbClr r="0" g="0" b="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72FB8AE2-74D9-6B9D-5372-2CED27F2F4C2}"/>
              </a:ext>
            </a:extLst>
          </p:cNvPr>
          <p:cNvSpPr/>
          <p:nvPr/>
        </p:nvSpPr>
        <p:spPr>
          <a:xfrm>
            <a:off x="8255000" y="5016500"/>
            <a:ext cx="50800" cy="1143000"/>
          </a:xfrm>
          <a:prstGeom prst="rect">
            <a:avLst/>
          </a:prstGeom>
          <a:solidFill>
            <a:srgbClr val="0098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D3982706-FBE4-60E9-58FE-3FA2B7630378}"/>
              </a:ext>
            </a:extLst>
          </p:cNvPr>
          <p:cNvSpPr txBox="1"/>
          <p:nvPr/>
        </p:nvSpPr>
        <p:spPr>
          <a:xfrm>
            <a:off x="8445500" y="5143500"/>
            <a:ext cx="317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>
                <a:solidFill>
                  <a:srgbClr val="757575"/>
                </a:solidFill>
                <a:latin typeface="Microsoft YaHei" panose="020B0503020204020204" pitchFamily="34" charset="-122"/>
              </a:rPr>
              <a:t>布伦特原油</a:t>
            </a:r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(2026E)</a:t>
            </a:r>
            <a:endParaRPr lang="zh-CN" altLang="en-US" sz="1100">
              <a:solidFill>
                <a:srgbClr val="7575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439EA283-34AD-7469-A195-FEE10685BB7A}"/>
              </a:ext>
            </a:extLst>
          </p:cNvPr>
          <p:cNvSpPr txBox="1"/>
          <p:nvPr/>
        </p:nvSpPr>
        <p:spPr>
          <a:xfrm>
            <a:off x="8445500" y="5422900"/>
            <a:ext cx="3175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200" b="1">
                <a:solidFill>
                  <a:srgbClr val="0098FF"/>
                </a:solidFill>
                <a:latin typeface="Microsoft YaHei" panose="020B0503020204020204" pitchFamily="34" charset="-122"/>
              </a:rPr>
              <a:t>$94/</a:t>
            </a:r>
            <a:r>
              <a:rPr lang="zh-CN" altLang="en-US" sz="2200" b="1">
                <a:solidFill>
                  <a:srgbClr val="0098FF"/>
                </a:solidFill>
                <a:latin typeface="Microsoft YaHei" panose="020B0503020204020204" pitchFamily="34" charset="-122"/>
              </a:rPr>
              <a:t>桶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2ACC19C5-0385-A671-ADB7-39E66EF9E4A4}"/>
              </a:ext>
            </a:extLst>
          </p:cNvPr>
          <p:cNvSpPr txBox="1"/>
          <p:nvPr/>
        </p:nvSpPr>
        <p:spPr>
          <a:xfrm>
            <a:off x="8445500" y="5842000"/>
            <a:ext cx="3175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800">
                <a:solidFill>
                  <a:srgbClr val="BDBDBD"/>
                </a:solidFill>
                <a:latin typeface="Microsoft YaHei" panose="020B0503020204020204" pitchFamily="34" charset="-122"/>
              </a:rPr>
              <a:t>数据来源</a:t>
            </a:r>
            <a:r>
              <a:rPr lang="en-US" altLang="zh-CN" sz="800">
                <a:solidFill>
                  <a:srgbClr val="BDBDBD"/>
                </a:solidFill>
                <a:latin typeface="Microsoft YaHei" panose="020B0503020204020204" pitchFamily="34" charset="-122"/>
              </a:rPr>
              <a:t>: </a:t>
            </a:r>
            <a:r>
              <a:rPr lang="zh-CN" altLang="en-US" sz="800">
                <a:solidFill>
                  <a:srgbClr val="BDBDBD"/>
                </a:solidFill>
                <a:latin typeface="Microsoft YaHei" panose="020B0503020204020204" pitchFamily="34" charset="-122"/>
              </a:rPr>
              <a:t>世行</a:t>
            </a:r>
          </a:p>
        </p:txBody>
      </p:sp>
    </p:spTree>
    <p:extLst>
      <p:ext uri="{BB962C8B-B14F-4D97-AF65-F5344CB8AC3E}">
        <p14:creationId xmlns:p14="http://schemas.microsoft.com/office/powerpoint/2010/main" val="862089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778C5AE2-CC80-F1A6-50AC-B65C4CEE97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EAE8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1CFE334-1489-47B3-E318-95E38664BB2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BD2C37B-B8CB-B5CF-9EAF-DF5978475E71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F3962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075B0FC-F334-D61B-C3F2-BCC62141089B}"/>
              </a:ext>
            </a:extLst>
          </p:cNvPr>
          <p:cNvSpPr txBox="1"/>
          <p:nvPr/>
        </p:nvSpPr>
        <p:spPr>
          <a:xfrm>
            <a:off x="508000" y="317500"/>
            <a:ext cx="762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3600" b="1">
                <a:solidFill>
                  <a:srgbClr val="F39621"/>
                </a:solidFill>
                <a:latin typeface="Microsoft YaHei" panose="020B0503020204020204" pitchFamily="34" charset="-122"/>
              </a:rPr>
              <a:t>11</a:t>
            </a:r>
            <a:endParaRPr lang="zh-CN" altLang="en-US" sz="3600" b="1">
              <a:solidFill>
                <a:srgbClr val="F396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0C8B311-5143-6126-7C85-D3D54CC8120A}"/>
              </a:ext>
            </a:extLst>
          </p:cNvPr>
          <p:cNvSpPr/>
          <p:nvPr/>
        </p:nvSpPr>
        <p:spPr>
          <a:xfrm>
            <a:off x="1270000" y="381000"/>
            <a:ext cx="25400" cy="381000"/>
          </a:xfrm>
          <a:prstGeom prst="rect">
            <a:avLst/>
          </a:prstGeom>
          <a:solidFill>
            <a:srgbClr val="F3962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D3EFCB8-A94B-9510-8D21-9A9AEA7FEEE8}"/>
              </a:ext>
            </a:extLst>
          </p:cNvPr>
          <p:cNvSpPr txBox="1"/>
          <p:nvPr/>
        </p:nvSpPr>
        <p:spPr>
          <a:xfrm>
            <a:off x="1460500" y="317500"/>
            <a:ext cx="889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 b="1">
                <a:solidFill>
                  <a:srgbClr val="212121"/>
                </a:solidFill>
                <a:latin typeface="Microsoft YaHei" panose="020B0503020204020204" pitchFamily="34" charset="-122"/>
              </a:rPr>
              <a:t>投资策略与市场展望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B308428-B614-BC7D-BA04-138AE3E3D125}"/>
              </a:ext>
            </a:extLst>
          </p:cNvPr>
          <p:cNvSpPr txBox="1"/>
          <p:nvPr/>
        </p:nvSpPr>
        <p:spPr>
          <a:xfrm>
            <a:off x="1460500" y="787400"/>
            <a:ext cx="889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200">
                <a:solidFill>
                  <a:srgbClr val="757575"/>
                </a:solidFill>
                <a:latin typeface="Microsoft YaHei" panose="020B0503020204020204" pitchFamily="34" charset="-122"/>
              </a:rPr>
              <a:t>资产配置 </a:t>
            </a:r>
            <a:r>
              <a:rPr lang="en-US" altLang="zh-CN" sz="1200">
                <a:solidFill>
                  <a:srgbClr val="757575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757575"/>
                </a:solidFill>
                <a:latin typeface="Microsoft YaHei" panose="020B0503020204020204" pitchFamily="34" charset="-122"/>
              </a:rPr>
              <a:t>风险管理 </a:t>
            </a:r>
            <a:r>
              <a:rPr lang="en-US" altLang="zh-CN" sz="1200">
                <a:solidFill>
                  <a:srgbClr val="757575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757575"/>
                </a:solidFill>
                <a:latin typeface="Microsoft YaHei" panose="020B0503020204020204" pitchFamily="34" charset="-122"/>
              </a:rPr>
              <a:t>趋势判断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2EF64B5-BC53-9583-8966-F1DC33905D22}"/>
              </a:ext>
            </a:extLst>
          </p:cNvPr>
          <p:cNvSpPr/>
          <p:nvPr/>
        </p:nvSpPr>
        <p:spPr>
          <a:xfrm>
            <a:off x="508000" y="1206500"/>
            <a:ext cx="11176000" cy="12700"/>
          </a:xfrm>
          <a:prstGeom prst="rect">
            <a:avLst/>
          </a:prstGeom>
          <a:solidFill>
            <a:srgbClr val="E0E0E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FF44F25-8D9B-F84F-930C-173ED6B4C658}"/>
              </a:ext>
            </a:extLst>
          </p:cNvPr>
          <p:cNvSpPr/>
          <p:nvPr/>
        </p:nvSpPr>
        <p:spPr>
          <a:xfrm>
            <a:off x="508000" y="1397000"/>
            <a:ext cx="3746500" cy="35560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39621"/>
            </a:solidFill>
            <a:prstDash val="solid"/>
            <a:miter lim="800000"/>
          </a:ln>
          <a:effectLst>
            <a:outerShdw blurRad="101600" dist="37357" dir="2700000" rotWithShape="0">
              <a:scrgbClr r="0" g="0" b="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4A1DB82-CDA4-6072-B185-41E5963515F2}"/>
              </a:ext>
            </a:extLst>
          </p:cNvPr>
          <p:cNvSpPr/>
          <p:nvPr/>
        </p:nvSpPr>
        <p:spPr>
          <a:xfrm>
            <a:off x="508000" y="1397000"/>
            <a:ext cx="3746500" cy="50800"/>
          </a:xfrm>
          <a:prstGeom prst="rect">
            <a:avLst/>
          </a:prstGeom>
          <a:solidFill>
            <a:srgbClr val="F3962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A1E73F1-9B13-6630-BD18-2258B18DA097}"/>
              </a:ext>
            </a:extLst>
          </p:cNvPr>
          <p:cNvSpPr txBox="1"/>
          <p:nvPr/>
        </p:nvSpPr>
        <p:spPr>
          <a:xfrm>
            <a:off x="698500" y="1587500"/>
            <a:ext cx="33655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600" b="1">
                <a:solidFill>
                  <a:srgbClr val="F39621"/>
                </a:solidFill>
                <a:latin typeface="Microsoft YaHei" panose="020B0503020204020204" pitchFamily="34" charset="-122"/>
              </a:rPr>
              <a:t>🌍 全球配置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CF8FF40-E2A1-06F0-A1C8-02C3EAA51214}"/>
              </a:ext>
            </a:extLst>
          </p:cNvPr>
          <p:cNvSpPr txBox="1"/>
          <p:nvPr/>
        </p:nvSpPr>
        <p:spPr>
          <a:xfrm>
            <a:off x="698500" y="1968500"/>
            <a:ext cx="33655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>
                <a:solidFill>
                  <a:srgbClr val="757575"/>
                </a:solidFill>
                <a:latin typeface="Microsoft YaHei" panose="020B0503020204020204" pitchFamily="34" charset="-122"/>
              </a:rPr>
              <a:t>从美股集中向全球分散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89E46F0-A467-BE08-95CD-8EBF2137CFD6}"/>
              </a:ext>
            </a:extLst>
          </p:cNvPr>
          <p:cNvSpPr/>
          <p:nvPr/>
        </p:nvSpPr>
        <p:spPr>
          <a:xfrm>
            <a:off x="698500" y="2286000"/>
            <a:ext cx="3365500" cy="12700"/>
          </a:xfrm>
          <a:prstGeom prst="rect">
            <a:avLst/>
          </a:prstGeom>
          <a:solidFill>
            <a:srgbClr val="E0E0E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5E41AD3-7C95-82A5-C186-0550DDB9CA3E}"/>
              </a:ext>
            </a:extLst>
          </p:cNvPr>
          <p:cNvSpPr/>
          <p:nvPr/>
        </p:nvSpPr>
        <p:spPr>
          <a:xfrm>
            <a:off x="698500" y="2514600"/>
            <a:ext cx="101600" cy="101600"/>
          </a:xfrm>
          <a:prstGeom prst="rect">
            <a:avLst/>
          </a:prstGeom>
          <a:solidFill>
            <a:srgbClr val="F3962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25260D5-F47D-55F5-859A-52916367D8A7}"/>
              </a:ext>
            </a:extLst>
          </p:cNvPr>
          <p:cNvSpPr txBox="1"/>
          <p:nvPr/>
        </p:nvSpPr>
        <p:spPr>
          <a:xfrm>
            <a:off x="889000" y="2476500"/>
            <a:ext cx="317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>
                <a:solidFill>
                  <a:srgbClr val="212121"/>
                </a:solidFill>
                <a:latin typeface="Microsoft YaHei" panose="020B0503020204020204" pitchFamily="34" charset="-122"/>
              </a:rPr>
              <a:t>EM</a:t>
            </a:r>
            <a:r>
              <a:rPr lang="zh-CN" altLang="en-US" sz="1100">
                <a:solidFill>
                  <a:srgbClr val="212121"/>
                </a:solidFill>
                <a:latin typeface="Microsoft YaHei" panose="020B0503020204020204" pitchFamily="34" charset="-122"/>
              </a:rPr>
              <a:t>股票</a:t>
            </a:r>
            <a:r>
              <a:rPr lang="en-US" altLang="zh-CN" sz="1100">
                <a:solidFill>
                  <a:srgbClr val="212121"/>
                </a:solidFill>
                <a:latin typeface="Microsoft YaHei" panose="020B0503020204020204" pitchFamily="34" charset="-122"/>
              </a:rPr>
              <a:t>2025</a:t>
            </a:r>
            <a:r>
              <a:rPr lang="zh-CN" altLang="en-US" sz="1100">
                <a:solidFill>
                  <a:srgbClr val="212121"/>
                </a:solidFill>
                <a:latin typeface="Microsoft YaHei" panose="020B0503020204020204" pitchFamily="34" charset="-122"/>
              </a:rPr>
              <a:t>跑赢美股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7ADF30C-8969-9BC6-3C53-6BBD93F5C515}"/>
              </a:ext>
            </a:extLst>
          </p:cNvPr>
          <p:cNvSpPr/>
          <p:nvPr/>
        </p:nvSpPr>
        <p:spPr>
          <a:xfrm>
            <a:off x="698500" y="2959100"/>
            <a:ext cx="101600" cy="101600"/>
          </a:xfrm>
          <a:prstGeom prst="rect">
            <a:avLst/>
          </a:prstGeom>
          <a:solidFill>
            <a:srgbClr val="F3962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3DE1241-AF5D-4008-2EBD-454864D52EE6}"/>
              </a:ext>
            </a:extLst>
          </p:cNvPr>
          <p:cNvSpPr txBox="1"/>
          <p:nvPr/>
        </p:nvSpPr>
        <p:spPr>
          <a:xfrm>
            <a:off x="889000" y="2921000"/>
            <a:ext cx="317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>
                <a:solidFill>
                  <a:srgbClr val="212121"/>
                </a:solidFill>
                <a:latin typeface="Microsoft YaHei" panose="020B0503020204020204" pitchFamily="34" charset="-122"/>
              </a:rPr>
              <a:t>弱美元利好</a:t>
            </a:r>
            <a:r>
              <a:rPr lang="en-US" altLang="zh-CN" sz="1100">
                <a:solidFill>
                  <a:srgbClr val="212121"/>
                </a:solidFill>
                <a:latin typeface="Microsoft YaHei" panose="020B0503020204020204" pitchFamily="34" charset="-122"/>
              </a:rPr>
              <a:t>EM</a:t>
            </a:r>
            <a:r>
              <a:rPr lang="zh-CN" altLang="en-US" sz="1100">
                <a:solidFill>
                  <a:srgbClr val="212121"/>
                </a:solidFill>
                <a:latin typeface="Microsoft YaHei" panose="020B0503020204020204" pitchFamily="34" charset="-122"/>
              </a:rPr>
              <a:t>配置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C900984-CD4E-DD83-5DAA-7926E4E6B64A}"/>
              </a:ext>
            </a:extLst>
          </p:cNvPr>
          <p:cNvSpPr/>
          <p:nvPr/>
        </p:nvSpPr>
        <p:spPr>
          <a:xfrm>
            <a:off x="698500" y="3403600"/>
            <a:ext cx="101600" cy="101600"/>
          </a:xfrm>
          <a:prstGeom prst="rect">
            <a:avLst/>
          </a:prstGeom>
          <a:solidFill>
            <a:srgbClr val="F3962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EB88001-EFE5-9749-C8E2-00135DADCB19}"/>
              </a:ext>
            </a:extLst>
          </p:cNvPr>
          <p:cNvSpPr txBox="1"/>
          <p:nvPr/>
        </p:nvSpPr>
        <p:spPr>
          <a:xfrm>
            <a:off x="889000" y="3365500"/>
            <a:ext cx="317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>
                <a:solidFill>
                  <a:srgbClr val="212121"/>
                </a:solidFill>
                <a:latin typeface="Microsoft YaHei" panose="020B0503020204020204" pitchFamily="34" charset="-122"/>
              </a:rPr>
              <a:t>大宗商品前景正面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1250850-ECFB-7543-6EEA-BC828BCDA61F}"/>
              </a:ext>
            </a:extLst>
          </p:cNvPr>
          <p:cNvSpPr/>
          <p:nvPr/>
        </p:nvSpPr>
        <p:spPr>
          <a:xfrm>
            <a:off x="698500" y="3848100"/>
            <a:ext cx="101600" cy="101600"/>
          </a:xfrm>
          <a:prstGeom prst="rect">
            <a:avLst/>
          </a:prstGeom>
          <a:solidFill>
            <a:srgbClr val="F3962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9DBF231-3584-086C-282F-E97DF2DC9DD5}"/>
              </a:ext>
            </a:extLst>
          </p:cNvPr>
          <p:cNvSpPr txBox="1"/>
          <p:nvPr/>
        </p:nvSpPr>
        <p:spPr>
          <a:xfrm>
            <a:off x="889000" y="3810000"/>
            <a:ext cx="317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>
                <a:solidFill>
                  <a:srgbClr val="212121"/>
                </a:solidFill>
                <a:latin typeface="Microsoft YaHei" panose="020B0503020204020204" pitchFamily="34" charset="-122"/>
              </a:rPr>
              <a:t>中国消费转型新机会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A784B25-C90B-8C56-1B30-941191B13E0E}"/>
              </a:ext>
            </a:extLst>
          </p:cNvPr>
          <p:cNvSpPr/>
          <p:nvPr/>
        </p:nvSpPr>
        <p:spPr>
          <a:xfrm>
            <a:off x="4445000" y="1397000"/>
            <a:ext cx="3746500" cy="35560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3643F4"/>
            </a:solidFill>
            <a:prstDash val="solid"/>
            <a:miter lim="800000"/>
          </a:ln>
          <a:effectLst>
            <a:outerShdw blurRad="101600" dist="37357" dir="2700000" rotWithShape="0">
              <a:scrgbClr r="0" g="0" b="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10F3896-9385-D749-D790-38F4536D78E7}"/>
              </a:ext>
            </a:extLst>
          </p:cNvPr>
          <p:cNvSpPr/>
          <p:nvPr/>
        </p:nvSpPr>
        <p:spPr>
          <a:xfrm>
            <a:off x="4445000" y="1397000"/>
            <a:ext cx="3746500" cy="50800"/>
          </a:xfrm>
          <a:prstGeom prst="rect">
            <a:avLst/>
          </a:prstGeom>
          <a:solidFill>
            <a:srgbClr val="3643F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58AA221-394D-CE1A-8FD7-ECC7B86CF9CF}"/>
              </a:ext>
            </a:extLst>
          </p:cNvPr>
          <p:cNvSpPr txBox="1"/>
          <p:nvPr/>
        </p:nvSpPr>
        <p:spPr>
          <a:xfrm>
            <a:off x="4635500" y="1587500"/>
            <a:ext cx="33655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600" b="1">
                <a:solidFill>
                  <a:srgbClr val="3643F4"/>
                </a:solidFill>
                <a:latin typeface="Microsoft YaHei" panose="020B0503020204020204" pitchFamily="34" charset="-122"/>
              </a:rPr>
              <a:t>🛡️ 风险对冲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28FF4A6-16CA-5AB4-6EF6-8132B9508579}"/>
              </a:ext>
            </a:extLst>
          </p:cNvPr>
          <p:cNvSpPr txBox="1"/>
          <p:nvPr/>
        </p:nvSpPr>
        <p:spPr>
          <a:xfrm>
            <a:off x="4635500" y="1968500"/>
            <a:ext cx="33655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>
                <a:solidFill>
                  <a:srgbClr val="757575"/>
                </a:solidFill>
                <a:latin typeface="Microsoft YaHei" panose="020B0503020204020204" pitchFamily="34" charset="-122"/>
              </a:rPr>
              <a:t>防御</a:t>
            </a:r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sz="1100">
                <a:solidFill>
                  <a:srgbClr val="757575"/>
                </a:solidFill>
                <a:latin typeface="Microsoft YaHei" panose="020B0503020204020204" pitchFamily="34" charset="-122"/>
              </a:rPr>
              <a:t>泡沫</a:t>
            </a:r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+</a:t>
            </a:r>
            <a:r>
              <a:rPr lang="zh-CN" altLang="en-US" sz="1100">
                <a:solidFill>
                  <a:srgbClr val="757575"/>
                </a:solidFill>
                <a:latin typeface="Microsoft YaHei" panose="020B0503020204020204" pitchFamily="34" charset="-122"/>
              </a:rPr>
              <a:t>地缘风险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FF0272B-9691-357E-178D-7F95E42AEE47}"/>
              </a:ext>
            </a:extLst>
          </p:cNvPr>
          <p:cNvSpPr/>
          <p:nvPr/>
        </p:nvSpPr>
        <p:spPr>
          <a:xfrm>
            <a:off x="4635500" y="2286000"/>
            <a:ext cx="3365500" cy="12700"/>
          </a:xfrm>
          <a:prstGeom prst="rect">
            <a:avLst/>
          </a:prstGeom>
          <a:solidFill>
            <a:srgbClr val="E0E0E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F043923-F0C4-77BC-DCE9-A3718BD05D8A}"/>
              </a:ext>
            </a:extLst>
          </p:cNvPr>
          <p:cNvSpPr/>
          <p:nvPr/>
        </p:nvSpPr>
        <p:spPr>
          <a:xfrm>
            <a:off x="4635500" y="2514600"/>
            <a:ext cx="101600" cy="101600"/>
          </a:xfrm>
          <a:prstGeom prst="rect">
            <a:avLst/>
          </a:prstGeom>
          <a:solidFill>
            <a:srgbClr val="3643F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223108F-6A25-C6D1-C152-ED75DCAA81D2}"/>
              </a:ext>
            </a:extLst>
          </p:cNvPr>
          <p:cNvSpPr txBox="1"/>
          <p:nvPr/>
        </p:nvSpPr>
        <p:spPr>
          <a:xfrm>
            <a:off x="4826000" y="2476500"/>
            <a:ext cx="317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>
                <a:solidFill>
                  <a:srgbClr val="212121"/>
                </a:solidFill>
                <a:latin typeface="Microsoft YaHei" panose="020B0503020204020204" pitchFamily="34" charset="-122"/>
              </a:rPr>
              <a:t>降低科技股权重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4279129-6649-B7FD-1392-59C3FC164EF2}"/>
              </a:ext>
            </a:extLst>
          </p:cNvPr>
          <p:cNvSpPr/>
          <p:nvPr/>
        </p:nvSpPr>
        <p:spPr>
          <a:xfrm>
            <a:off x="4635500" y="2959100"/>
            <a:ext cx="101600" cy="101600"/>
          </a:xfrm>
          <a:prstGeom prst="rect">
            <a:avLst/>
          </a:prstGeom>
          <a:solidFill>
            <a:srgbClr val="3643F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795CC3A-1529-44BB-AD00-B011BB1D1788}"/>
              </a:ext>
            </a:extLst>
          </p:cNvPr>
          <p:cNvSpPr txBox="1"/>
          <p:nvPr/>
        </p:nvSpPr>
        <p:spPr>
          <a:xfrm>
            <a:off x="4826000" y="2921000"/>
            <a:ext cx="317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>
                <a:solidFill>
                  <a:srgbClr val="212121"/>
                </a:solidFill>
                <a:latin typeface="Microsoft YaHei" panose="020B0503020204020204" pitchFamily="34" charset="-122"/>
              </a:rPr>
              <a:t>黄金</a:t>
            </a:r>
            <a:r>
              <a:rPr lang="en-US" altLang="zh-CN" sz="1100">
                <a:solidFill>
                  <a:srgbClr val="212121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100">
                <a:solidFill>
                  <a:srgbClr val="212121"/>
                </a:solidFill>
                <a:latin typeface="Microsoft YaHei" panose="020B0503020204020204" pitchFamily="34" charset="-122"/>
              </a:rPr>
              <a:t>实物对冲通胀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55700ED-0496-21E9-4C88-D8AAD95D2157}"/>
              </a:ext>
            </a:extLst>
          </p:cNvPr>
          <p:cNvSpPr/>
          <p:nvPr/>
        </p:nvSpPr>
        <p:spPr>
          <a:xfrm>
            <a:off x="4635500" y="3403600"/>
            <a:ext cx="101600" cy="101600"/>
          </a:xfrm>
          <a:prstGeom prst="rect">
            <a:avLst/>
          </a:prstGeom>
          <a:solidFill>
            <a:srgbClr val="3643F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14B7741-3EA5-2DF7-0D87-0AA6138EC647}"/>
              </a:ext>
            </a:extLst>
          </p:cNvPr>
          <p:cNvSpPr txBox="1"/>
          <p:nvPr/>
        </p:nvSpPr>
        <p:spPr>
          <a:xfrm>
            <a:off x="4826000" y="3365500"/>
            <a:ext cx="317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>
                <a:solidFill>
                  <a:srgbClr val="212121"/>
                </a:solidFill>
                <a:latin typeface="Microsoft YaHei" panose="020B0503020204020204" pitchFamily="34" charset="-122"/>
              </a:rPr>
              <a:t>关注能源安全资产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E991D00-7B8D-71ED-5E64-13267E657628}"/>
              </a:ext>
            </a:extLst>
          </p:cNvPr>
          <p:cNvSpPr/>
          <p:nvPr/>
        </p:nvSpPr>
        <p:spPr>
          <a:xfrm>
            <a:off x="4635500" y="3848100"/>
            <a:ext cx="101600" cy="101600"/>
          </a:xfrm>
          <a:prstGeom prst="rect">
            <a:avLst/>
          </a:prstGeom>
          <a:solidFill>
            <a:srgbClr val="3643F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F0419B4D-0231-0A5B-C26A-EF41F4C24331}"/>
              </a:ext>
            </a:extLst>
          </p:cNvPr>
          <p:cNvSpPr txBox="1"/>
          <p:nvPr/>
        </p:nvSpPr>
        <p:spPr>
          <a:xfrm>
            <a:off x="4826000" y="3810000"/>
            <a:ext cx="317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>
                <a:solidFill>
                  <a:srgbClr val="212121"/>
                </a:solidFill>
                <a:latin typeface="Microsoft YaHei" panose="020B0503020204020204" pitchFamily="34" charset="-122"/>
              </a:rPr>
              <a:t>分散地缘风险敞口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39CDAF7-D0E7-B48E-8858-EAFDAD0E9703}"/>
              </a:ext>
            </a:extLst>
          </p:cNvPr>
          <p:cNvSpPr/>
          <p:nvPr/>
        </p:nvSpPr>
        <p:spPr>
          <a:xfrm>
            <a:off x="8382000" y="1397000"/>
            <a:ext cx="3746500" cy="35560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50AF4C"/>
            </a:solidFill>
            <a:prstDash val="solid"/>
            <a:miter lim="800000"/>
          </a:ln>
          <a:effectLst>
            <a:outerShdw blurRad="101600" dist="37357" dir="2700000" rotWithShape="0">
              <a:scrgbClr r="0" g="0" b="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7DD807A-42EB-D9B4-C14A-0B1E54942455}"/>
              </a:ext>
            </a:extLst>
          </p:cNvPr>
          <p:cNvSpPr/>
          <p:nvPr/>
        </p:nvSpPr>
        <p:spPr>
          <a:xfrm>
            <a:off x="8382000" y="1397000"/>
            <a:ext cx="3746500" cy="50800"/>
          </a:xfrm>
          <a:prstGeom prst="rect">
            <a:avLst/>
          </a:prstGeom>
          <a:solidFill>
            <a:srgbClr val="50AF4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8A80674-9EE7-BF2A-8417-9447E9621835}"/>
              </a:ext>
            </a:extLst>
          </p:cNvPr>
          <p:cNvSpPr txBox="1"/>
          <p:nvPr/>
        </p:nvSpPr>
        <p:spPr>
          <a:xfrm>
            <a:off x="8572500" y="1587500"/>
            <a:ext cx="33655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600" b="1">
                <a:solidFill>
                  <a:srgbClr val="50AF4C"/>
                </a:solidFill>
                <a:latin typeface="Microsoft YaHei" panose="020B0503020204020204" pitchFamily="34" charset="-122"/>
              </a:rPr>
              <a:t>📈 增长捕捉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763F4D7B-D740-A5A9-0FB8-98B62248377E}"/>
              </a:ext>
            </a:extLst>
          </p:cNvPr>
          <p:cNvSpPr txBox="1"/>
          <p:nvPr/>
        </p:nvSpPr>
        <p:spPr>
          <a:xfrm>
            <a:off x="8572500" y="1968500"/>
            <a:ext cx="33655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>
                <a:solidFill>
                  <a:srgbClr val="757575"/>
                </a:solidFill>
                <a:latin typeface="Microsoft YaHei" panose="020B0503020204020204" pitchFamily="34" charset="-122"/>
              </a:rPr>
              <a:t>把握结构性趋势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25F060A-5719-C854-E7BE-FED22D06B5FE}"/>
              </a:ext>
            </a:extLst>
          </p:cNvPr>
          <p:cNvSpPr/>
          <p:nvPr/>
        </p:nvSpPr>
        <p:spPr>
          <a:xfrm>
            <a:off x="8572500" y="2286000"/>
            <a:ext cx="3365500" cy="12700"/>
          </a:xfrm>
          <a:prstGeom prst="rect">
            <a:avLst/>
          </a:prstGeom>
          <a:solidFill>
            <a:srgbClr val="E0E0E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6260834-B71D-67FC-37BE-0A3A5FA399B9}"/>
              </a:ext>
            </a:extLst>
          </p:cNvPr>
          <p:cNvSpPr/>
          <p:nvPr/>
        </p:nvSpPr>
        <p:spPr>
          <a:xfrm>
            <a:off x="8572500" y="2514600"/>
            <a:ext cx="101600" cy="101600"/>
          </a:xfrm>
          <a:prstGeom prst="rect">
            <a:avLst/>
          </a:prstGeom>
          <a:solidFill>
            <a:srgbClr val="50AF4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9F1CE269-B617-92C5-6186-556349AD3E66}"/>
              </a:ext>
            </a:extLst>
          </p:cNvPr>
          <p:cNvSpPr txBox="1"/>
          <p:nvPr/>
        </p:nvSpPr>
        <p:spPr>
          <a:xfrm>
            <a:off x="8763000" y="2476500"/>
            <a:ext cx="317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>
                <a:solidFill>
                  <a:srgbClr val="212121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sz="1100">
                <a:solidFill>
                  <a:srgbClr val="212121"/>
                </a:solidFill>
                <a:latin typeface="Microsoft YaHei" panose="020B0503020204020204" pitchFamily="34" charset="-122"/>
              </a:rPr>
              <a:t>基建长期确定性高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81A6E2DF-5739-8644-D723-20726C730AB5}"/>
              </a:ext>
            </a:extLst>
          </p:cNvPr>
          <p:cNvSpPr/>
          <p:nvPr/>
        </p:nvSpPr>
        <p:spPr>
          <a:xfrm>
            <a:off x="8572500" y="2959100"/>
            <a:ext cx="101600" cy="101600"/>
          </a:xfrm>
          <a:prstGeom prst="rect">
            <a:avLst/>
          </a:prstGeom>
          <a:solidFill>
            <a:srgbClr val="50AF4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F55AC247-37C4-1EEF-5402-342F88EE400D}"/>
              </a:ext>
            </a:extLst>
          </p:cNvPr>
          <p:cNvSpPr txBox="1"/>
          <p:nvPr/>
        </p:nvSpPr>
        <p:spPr>
          <a:xfrm>
            <a:off x="8763000" y="2921000"/>
            <a:ext cx="317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>
                <a:solidFill>
                  <a:srgbClr val="212121"/>
                </a:solidFill>
                <a:latin typeface="Microsoft YaHei" panose="020B0503020204020204" pitchFamily="34" charset="-122"/>
              </a:rPr>
              <a:t>高技术制造</a:t>
            </a:r>
            <a:r>
              <a:rPr lang="en-US" altLang="zh-CN" sz="1100">
                <a:solidFill>
                  <a:srgbClr val="212121"/>
                </a:solidFill>
                <a:latin typeface="Microsoft YaHei" panose="020B0503020204020204" pitchFamily="34" charset="-122"/>
              </a:rPr>
              <a:t>+9.4%</a:t>
            </a:r>
            <a:endParaRPr lang="zh-CN" altLang="en-US" sz="1100">
              <a:solidFill>
                <a:srgbClr val="2121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B32B6A52-A838-B30D-A63C-30F3A0F37563}"/>
              </a:ext>
            </a:extLst>
          </p:cNvPr>
          <p:cNvSpPr/>
          <p:nvPr/>
        </p:nvSpPr>
        <p:spPr>
          <a:xfrm>
            <a:off x="8572500" y="3403600"/>
            <a:ext cx="101600" cy="101600"/>
          </a:xfrm>
          <a:prstGeom prst="rect">
            <a:avLst/>
          </a:prstGeom>
          <a:solidFill>
            <a:srgbClr val="50AF4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A6FBE1BC-AB3F-96AB-08C6-D4A8AB5A43F8}"/>
              </a:ext>
            </a:extLst>
          </p:cNvPr>
          <p:cNvSpPr txBox="1"/>
          <p:nvPr/>
        </p:nvSpPr>
        <p:spPr>
          <a:xfrm>
            <a:off x="8763000" y="3365500"/>
            <a:ext cx="317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>
                <a:solidFill>
                  <a:srgbClr val="212121"/>
                </a:solidFill>
                <a:latin typeface="Microsoft YaHei" panose="020B0503020204020204" pitchFamily="34" charset="-122"/>
              </a:rPr>
              <a:t>NEV</a:t>
            </a:r>
            <a:r>
              <a:rPr lang="zh-CN" altLang="en-US" sz="1100">
                <a:solidFill>
                  <a:srgbClr val="212121"/>
                </a:solidFill>
                <a:latin typeface="Microsoft YaHei" panose="020B0503020204020204" pitchFamily="34" charset="-122"/>
              </a:rPr>
              <a:t>全球渗透加速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B87D064-E433-EEFE-5A2D-12D55DFB9E67}"/>
              </a:ext>
            </a:extLst>
          </p:cNvPr>
          <p:cNvSpPr/>
          <p:nvPr/>
        </p:nvSpPr>
        <p:spPr>
          <a:xfrm>
            <a:off x="8572500" y="3848100"/>
            <a:ext cx="101600" cy="101600"/>
          </a:xfrm>
          <a:prstGeom prst="rect">
            <a:avLst/>
          </a:prstGeom>
          <a:solidFill>
            <a:srgbClr val="50AF4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2A1B919A-F24E-4FD1-52F7-830BBB5A02DD}"/>
              </a:ext>
            </a:extLst>
          </p:cNvPr>
          <p:cNvSpPr txBox="1"/>
          <p:nvPr/>
        </p:nvSpPr>
        <p:spPr>
          <a:xfrm>
            <a:off x="8763000" y="3810000"/>
            <a:ext cx="317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>
                <a:solidFill>
                  <a:srgbClr val="212121"/>
                </a:solidFill>
                <a:latin typeface="Microsoft YaHei" panose="020B0503020204020204" pitchFamily="34" charset="-122"/>
              </a:rPr>
              <a:t>创新药出海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FE95C553-1BCE-BE38-05CC-739153685754}"/>
              </a:ext>
            </a:extLst>
          </p:cNvPr>
          <p:cNvSpPr/>
          <p:nvPr/>
        </p:nvSpPr>
        <p:spPr>
          <a:xfrm>
            <a:off x="508000" y="5207000"/>
            <a:ext cx="11176000" cy="762000"/>
          </a:xfrm>
          <a:prstGeom prst="rect">
            <a:avLst/>
          </a:prstGeom>
          <a:solidFill>
            <a:srgbClr val="32231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7093045D-E98E-1FD6-969D-513CFDAA24DB}"/>
              </a:ext>
            </a:extLst>
          </p:cNvPr>
          <p:cNvSpPr txBox="1"/>
          <p:nvPr/>
        </p:nvSpPr>
        <p:spPr>
          <a:xfrm>
            <a:off x="698500" y="5334000"/>
            <a:ext cx="1016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>
                <a:solidFill>
                  <a:srgbClr val="FFFFFF"/>
                </a:solidFill>
                <a:latin typeface="Microsoft YaHei" panose="020B0503020204020204" pitchFamily="34" charset="-122"/>
              </a:rPr>
              <a:t>🎯 </a:t>
            </a:r>
            <a:r>
              <a:rPr lang="en-US" altLang="zh-CN" sz="1100">
                <a:solidFill>
                  <a:srgbClr val="FFFFFF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sz="1100">
                <a:solidFill>
                  <a:srgbClr val="FFFFFF"/>
                </a:solidFill>
                <a:latin typeface="Microsoft YaHei" panose="020B0503020204020204" pitchFamily="34" charset="-122"/>
              </a:rPr>
              <a:t>资本支出周期可能持续</a:t>
            </a:r>
            <a:r>
              <a:rPr lang="en-US" altLang="zh-CN" sz="1100">
                <a:solidFill>
                  <a:srgbClr val="FFFFFF"/>
                </a:solidFill>
                <a:latin typeface="Microsoft YaHei" panose="020B0503020204020204" pitchFamily="34" charset="-122"/>
              </a:rPr>
              <a:t>3-5</a:t>
            </a:r>
            <a:r>
              <a:rPr lang="zh-CN" altLang="en-US" sz="1100">
                <a:solidFill>
                  <a:srgbClr val="FFFFFF"/>
                </a:solidFill>
                <a:latin typeface="Microsoft YaHei" panose="020B0503020204020204" pitchFamily="34" charset="-122"/>
              </a:rPr>
              <a:t>年，短期泡沫风险存在但长期趋势确定。分散化配置和风险管理比择时更重要。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EAC59290-F7D9-9CCB-B5E7-C9FAEF551D41}"/>
              </a:ext>
            </a:extLst>
          </p:cNvPr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32231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1E2D0FF0-575D-B037-B7C9-5968E50E622F}"/>
              </a:ext>
            </a:extLst>
          </p:cNvPr>
          <p:cNvSpPr txBox="1"/>
          <p:nvPr/>
        </p:nvSpPr>
        <p:spPr>
          <a:xfrm>
            <a:off x="508000" y="6540500"/>
            <a:ext cx="7620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800">
                <a:solidFill>
                  <a:srgbClr val="FFFFFF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sz="800">
                <a:solidFill>
                  <a:srgbClr val="FFFFFF"/>
                </a:solidFill>
                <a:latin typeface="Microsoft YaHei" panose="020B0503020204020204" pitchFamily="34" charset="-122"/>
              </a:rPr>
              <a:t>资本泡沫与全球经济走势分析 </a:t>
            </a:r>
            <a:r>
              <a:rPr lang="en-US" altLang="zh-CN" sz="800">
                <a:solidFill>
                  <a:srgbClr val="FFFFFF"/>
                </a:solidFill>
                <a:latin typeface="Microsoft YaHei" panose="020B0503020204020204" pitchFamily="34" charset="-122"/>
              </a:rPr>
              <a:t>| 2026</a:t>
            </a:r>
            <a:endParaRPr lang="zh-CN" altLang="en-US" sz="800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59878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CA5E6110-1E17-B4C0-90D3-FEAE6A9B5F5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E7ED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19A7D78-30A4-DCC6-A905-1F6CACE457F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9C1E321-947D-B48D-6A4B-8523A3316BD5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F3962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9EC68E7-8204-8E2D-3FFE-6DECFBA9C463}"/>
              </a:ext>
            </a:extLst>
          </p:cNvPr>
          <p:cNvSpPr txBox="1"/>
          <p:nvPr/>
        </p:nvSpPr>
        <p:spPr>
          <a:xfrm>
            <a:off x="508000" y="317500"/>
            <a:ext cx="762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3600" b="1">
                <a:solidFill>
                  <a:srgbClr val="F39621"/>
                </a:solidFill>
                <a:latin typeface="Microsoft YaHei" panose="020B0503020204020204" pitchFamily="34" charset="-122"/>
              </a:rPr>
              <a:t>12</a:t>
            </a:r>
            <a:endParaRPr lang="zh-CN" altLang="en-US" sz="3600" b="1">
              <a:solidFill>
                <a:srgbClr val="F396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75A3C04-67A9-A5D6-2A70-8FAFBFB5C96D}"/>
              </a:ext>
            </a:extLst>
          </p:cNvPr>
          <p:cNvSpPr/>
          <p:nvPr/>
        </p:nvSpPr>
        <p:spPr>
          <a:xfrm>
            <a:off x="1270000" y="381000"/>
            <a:ext cx="25400" cy="381000"/>
          </a:xfrm>
          <a:prstGeom prst="rect">
            <a:avLst/>
          </a:prstGeom>
          <a:solidFill>
            <a:srgbClr val="F3962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1D46DD6-76DC-1477-A6B5-A5C36D779439}"/>
              </a:ext>
            </a:extLst>
          </p:cNvPr>
          <p:cNvSpPr txBox="1"/>
          <p:nvPr/>
        </p:nvSpPr>
        <p:spPr>
          <a:xfrm>
            <a:off x="1460500" y="317500"/>
            <a:ext cx="889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 b="1">
                <a:solidFill>
                  <a:srgbClr val="212121"/>
                </a:solidFill>
                <a:latin typeface="Microsoft YaHei" panose="020B0503020204020204" pitchFamily="34" charset="-122"/>
              </a:rPr>
              <a:t>结论与政策建议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7CE6F58-BB71-E0B0-F0A7-3687AF690D98}"/>
              </a:ext>
            </a:extLst>
          </p:cNvPr>
          <p:cNvSpPr txBox="1"/>
          <p:nvPr/>
        </p:nvSpPr>
        <p:spPr>
          <a:xfrm>
            <a:off x="1460500" y="787400"/>
            <a:ext cx="889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200">
                <a:solidFill>
                  <a:srgbClr val="757575"/>
                </a:solidFill>
                <a:latin typeface="Microsoft YaHei" panose="020B0503020204020204" pitchFamily="34" charset="-122"/>
              </a:rPr>
              <a:t>核心观点 </a:t>
            </a:r>
            <a:r>
              <a:rPr lang="en-US" altLang="zh-CN" sz="1200">
                <a:solidFill>
                  <a:srgbClr val="757575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757575"/>
                </a:solidFill>
                <a:latin typeface="Microsoft YaHei" panose="020B0503020204020204" pitchFamily="34" charset="-122"/>
              </a:rPr>
              <a:t>行动方向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9F77988-635A-B528-A5EC-F76CAE7F166F}"/>
              </a:ext>
            </a:extLst>
          </p:cNvPr>
          <p:cNvSpPr/>
          <p:nvPr/>
        </p:nvSpPr>
        <p:spPr>
          <a:xfrm>
            <a:off x="508000" y="1206500"/>
            <a:ext cx="11176000" cy="12700"/>
          </a:xfrm>
          <a:prstGeom prst="rect">
            <a:avLst/>
          </a:prstGeom>
          <a:solidFill>
            <a:srgbClr val="E0E0E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E25A936-987A-8C5A-4732-6E313B78071C}"/>
              </a:ext>
            </a:extLst>
          </p:cNvPr>
          <p:cNvSpPr txBox="1"/>
          <p:nvPr/>
        </p:nvSpPr>
        <p:spPr>
          <a:xfrm>
            <a:off x="508000" y="1397000"/>
            <a:ext cx="6350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 b="1">
                <a:solidFill>
                  <a:srgbClr val="212121"/>
                </a:solidFill>
                <a:latin typeface="Microsoft YaHei" panose="020B0503020204020204" pitchFamily="34" charset="-122"/>
              </a:rPr>
              <a:t>▎六大核心结论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75DDD3E-1B61-65C5-74B7-A2BC3171928C}"/>
              </a:ext>
            </a:extLst>
          </p:cNvPr>
          <p:cNvSpPr/>
          <p:nvPr/>
        </p:nvSpPr>
        <p:spPr>
          <a:xfrm>
            <a:off x="635000" y="1905000"/>
            <a:ext cx="304800" cy="304800"/>
          </a:xfrm>
          <a:prstGeom prst="rect">
            <a:avLst/>
          </a:prstGeom>
          <a:solidFill>
            <a:srgbClr val="F3962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33EEAA0-840D-4B3F-9A04-F8FDF25E7E82}"/>
              </a:ext>
            </a:extLst>
          </p:cNvPr>
          <p:cNvSpPr txBox="1"/>
          <p:nvPr/>
        </p:nvSpPr>
        <p:spPr>
          <a:xfrm>
            <a:off x="635000" y="1930400"/>
            <a:ext cx="3048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1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E9ACF37-0443-F027-CEDA-DB5F59D08139}"/>
              </a:ext>
            </a:extLst>
          </p:cNvPr>
          <p:cNvSpPr txBox="1"/>
          <p:nvPr/>
        </p:nvSpPr>
        <p:spPr>
          <a:xfrm>
            <a:off x="1079500" y="1841500"/>
            <a:ext cx="6096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AI Capex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史上最大周期，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2026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科技巨头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&gt;$5000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亿，投入产出比待验证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12BEF51-2306-279E-FAC3-5EDC614ABFFC}"/>
              </a:ext>
            </a:extLst>
          </p:cNvPr>
          <p:cNvSpPr/>
          <p:nvPr/>
        </p:nvSpPr>
        <p:spPr>
          <a:xfrm>
            <a:off x="635000" y="2514600"/>
            <a:ext cx="304800" cy="304800"/>
          </a:xfrm>
          <a:prstGeom prst="rect">
            <a:avLst/>
          </a:prstGeom>
          <a:solidFill>
            <a:srgbClr val="3643F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13D4A53-712B-833A-4AC1-0E50763D27F2}"/>
              </a:ext>
            </a:extLst>
          </p:cNvPr>
          <p:cNvSpPr txBox="1"/>
          <p:nvPr/>
        </p:nvSpPr>
        <p:spPr>
          <a:xfrm>
            <a:off x="635000" y="2540000"/>
            <a:ext cx="3048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2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60B0663-FCDB-52D7-6C35-BD17AD9B056A}"/>
              </a:ext>
            </a:extLst>
          </p:cNvPr>
          <p:cNvSpPr txBox="1"/>
          <p:nvPr/>
        </p:nvSpPr>
        <p:spPr>
          <a:xfrm>
            <a:off x="1079500" y="2451100"/>
            <a:ext cx="6096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全球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"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低增长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+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高不确定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"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新常态，世行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2026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仅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2.5%</a:t>
            </a:r>
            <a:endParaRPr lang="zh-CN" altLang="en-US" sz="1000">
              <a:solidFill>
                <a:srgbClr val="2121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D14FC3C-BE0D-FA13-9160-866511C61B87}"/>
              </a:ext>
            </a:extLst>
          </p:cNvPr>
          <p:cNvSpPr/>
          <p:nvPr/>
        </p:nvSpPr>
        <p:spPr>
          <a:xfrm>
            <a:off x="635000" y="3124200"/>
            <a:ext cx="304800" cy="304800"/>
          </a:xfrm>
          <a:prstGeom prst="rect">
            <a:avLst/>
          </a:prstGeom>
          <a:solidFill>
            <a:srgbClr val="50AF4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F6BF4AE-E000-FD5E-379A-9132488169CB}"/>
              </a:ext>
            </a:extLst>
          </p:cNvPr>
          <p:cNvSpPr txBox="1"/>
          <p:nvPr/>
        </p:nvSpPr>
        <p:spPr>
          <a:xfrm>
            <a:off x="635000" y="3149600"/>
            <a:ext cx="3048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3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5EFB1BC-948E-747A-50DB-231CF29CFEEC}"/>
              </a:ext>
            </a:extLst>
          </p:cNvPr>
          <p:cNvSpPr txBox="1"/>
          <p:nvPr/>
        </p:nvSpPr>
        <p:spPr>
          <a:xfrm>
            <a:off x="1079500" y="3060700"/>
            <a:ext cx="6096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中国韧性：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GDP 140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万亿，高技术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+9.4%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，贸易顺差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$1.19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万亿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F1DDBD0-F898-F0C8-DFE8-537DEB3683C4}"/>
              </a:ext>
            </a:extLst>
          </p:cNvPr>
          <p:cNvSpPr/>
          <p:nvPr/>
        </p:nvSpPr>
        <p:spPr>
          <a:xfrm>
            <a:off x="635000" y="3733800"/>
            <a:ext cx="304800" cy="304800"/>
          </a:xfrm>
          <a:prstGeom prst="rect">
            <a:avLst/>
          </a:prstGeom>
          <a:solidFill>
            <a:srgbClr val="B0279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5235071-7D72-7676-BF7D-8A6EA06991C2}"/>
              </a:ext>
            </a:extLst>
          </p:cNvPr>
          <p:cNvSpPr txBox="1"/>
          <p:nvPr/>
        </p:nvSpPr>
        <p:spPr>
          <a:xfrm>
            <a:off x="635000" y="3759200"/>
            <a:ext cx="3048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4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2B9AFF0-B842-98D8-F751-4B2F2B58BFEC}"/>
              </a:ext>
            </a:extLst>
          </p:cNvPr>
          <p:cNvSpPr txBox="1"/>
          <p:nvPr/>
        </p:nvSpPr>
        <p:spPr>
          <a:xfrm>
            <a:off x="1079500" y="3670300"/>
            <a:ext cx="6096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资本从美国向全球轮动，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EM 1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月创纪录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$988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亿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BE7BED3-ACBE-C140-BB4D-0F95AEA55320}"/>
              </a:ext>
            </a:extLst>
          </p:cNvPr>
          <p:cNvSpPr/>
          <p:nvPr/>
        </p:nvSpPr>
        <p:spPr>
          <a:xfrm>
            <a:off x="635000" y="4343400"/>
            <a:ext cx="304800" cy="304800"/>
          </a:xfrm>
          <a:prstGeom prst="rect">
            <a:avLst/>
          </a:prstGeom>
          <a:solidFill>
            <a:srgbClr val="0098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7E64810-13F3-D057-ED36-4DF0BA6B71E9}"/>
              </a:ext>
            </a:extLst>
          </p:cNvPr>
          <p:cNvSpPr txBox="1"/>
          <p:nvPr/>
        </p:nvSpPr>
        <p:spPr>
          <a:xfrm>
            <a:off x="635000" y="4368800"/>
            <a:ext cx="3048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5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18D466A-ED0A-7325-48D5-E924727113B6}"/>
              </a:ext>
            </a:extLst>
          </p:cNvPr>
          <p:cNvSpPr txBox="1"/>
          <p:nvPr/>
        </p:nvSpPr>
        <p:spPr>
          <a:xfrm>
            <a:off x="1079500" y="4279900"/>
            <a:ext cx="6096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贡献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~0.5% GDP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，但中国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6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亿用户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+30%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制造使用率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01612BA-ABAC-C8E3-C113-D0BD6633E959}"/>
              </a:ext>
            </a:extLst>
          </p:cNvPr>
          <p:cNvSpPr/>
          <p:nvPr/>
        </p:nvSpPr>
        <p:spPr>
          <a:xfrm>
            <a:off x="635000" y="4953000"/>
            <a:ext cx="304800" cy="304800"/>
          </a:xfrm>
          <a:prstGeom prst="rect">
            <a:avLst/>
          </a:prstGeom>
          <a:solidFill>
            <a:srgbClr val="3643F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01698EA-F2D3-F5BA-0CBF-5977AAC1C013}"/>
              </a:ext>
            </a:extLst>
          </p:cNvPr>
          <p:cNvSpPr txBox="1"/>
          <p:nvPr/>
        </p:nvSpPr>
        <p:spPr>
          <a:xfrm>
            <a:off x="635000" y="4978400"/>
            <a:ext cx="3048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6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D876EDA-D554-B3FA-5DE8-A8C3B7CC9C27}"/>
              </a:ext>
            </a:extLst>
          </p:cNvPr>
          <p:cNvSpPr txBox="1"/>
          <p:nvPr/>
        </p:nvSpPr>
        <p:spPr>
          <a:xfrm>
            <a:off x="1079500" y="4889500"/>
            <a:ext cx="6096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尾部风险：中东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+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能源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+AI</a:t>
            </a:r>
            <a:r>
              <a:rPr lang="zh-CN" altLang="en-US" sz="1000">
                <a:solidFill>
                  <a:srgbClr val="212121"/>
                </a:solidFill>
                <a:latin typeface="Microsoft YaHei" panose="020B0503020204020204" pitchFamily="34" charset="-122"/>
              </a:rPr>
              <a:t>估值，极端降至</a:t>
            </a:r>
            <a:r>
              <a:rPr lang="en-US" altLang="zh-CN" sz="1000">
                <a:solidFill>
                  <a:srgbClr val="212121"/>
                </a:solidFill>
                <a:latin typeface="Microsoft YaHei" panose="020B0503020204020204" pitchFamily="34" charset="-122"/>
              </a:rPr>
              <a:t>1.3%</a:t>
            </a:r>
            <a:endParaRPr lang="zh-CN" altLang="en-US" sz="1000">
              <a:solidFill>
                <a:srgbClr val="21212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1F0D76F-2F47-01C0-4CD2-A89879C48400}"/>
              </a:ext>
            </a:extLst>
          </p:cNvPr>
          <p:cNvSpPr/>
          <p:nvPr/>
        </p:nvSpPr>
        <p:spPr>
          <a:xfrm>
            <a:off x="7112000" y="1397000"/>
            <a:ext cx="5080000" cy="4699000"/>
          </a:xfrm>
          <a:prstGeom prst="rect">
            <a:avLst/>
          </a:prstGeom>
          <a:solidFill>
            <a:srgbClr val="FDF2E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3CB6069-990A-CBDF-F80E-49F106A5AE7E}"/>
              </a:ext>
            </a:extLst>
          </p:cNvPr>
          <p:cNvSpPr txBox="1"/>
          <p:nvPr/>
        </p:nvSpPr>
        <p:spPr>
          <a:xfrm>
            <a:off x="7302500" y="1524000"/>
            <a:ext cx="4699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 b="1">
                <a:solidFill>
                  <a:srgbClr val="212121"/>
                </a:solidFill>
                <a:latin typeface="Microsoft YaHei" panose="020B0503020204020204" pitchFamily="34" charset="-122"/>
              </a:rPr>
              <a:t>▎政策建议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48618C6C-9750-051C-F874-FC3BCE8F8FF5}"/>
              </a:ext>
            </a:extLst>
          </p:cNvPr>
          <p:cNvSpPr txBox="1"/>
          <p:nvPr/>
        </p:nvSpPr>
        <p:spPr>
          <a:xfrm>
            <a:off x="7366000" y="1905000"/>
            <a:ext cx="457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 b="1">
                <a:solidFill>
                  <a:srgbClr val="212121"/>
                </a:solidFill>
                <a:latin typeface="Microsoft YaHei" panose="020B0503020204020204" pitchFamily="34" charset="-122"/>
              </a:rPr>
              <a:t>对中国政府：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AD6F5CAF-B358-DB6A-1D84-332F55C37A39}"/>
              </a:ext>
            </a:extLst>
          </p:cNvPr>
          <p:cNvSpPr txBox="1"/>
          <p:nvPr/>
        </p:nvSpPr>
        <p:spPr>
          <a:xfrm>
            <a:off x="7366000" y="2159000"/>
            <a:ext cx="457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  </a:t>
            </a:r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加快</a:t>
            </a:r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落地转化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E5E62C4-D9DB-4773-ED15-F92DD08E76DC}"/>
              </a:ext>
            </a:extLst>
          </p:cNvPr>
          <p:cNvSpPr txBox="1"/>
          <p:nvPr/>
        </p:nvSpPr>
        <p:spPr>
          <a:xfrm>
            <a:off x="7366000" y="2413000"/>
            <a:ext cx="457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  </a:t>
            </a:r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扩大内需降低出口依赖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0F45FA3-FDF0-7FDC-6117-5A3DB40546AF}"/>
              </a:ext>
            </a:extLst>
          </p:cNvPr>
          <p:cNvSpPr txBox="1"/>
          <p:nvPr/>
        </p:nvSpPr>
        <p:spPr>
          <a:xfrm>
            <a:off x="7366000" y="2667000"/>
            <a:ext cx="457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  </a:t>
            </a:r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房地产有序出清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F4A0F88B-DD84-A8A7-2A73-802A9946BF9C}"/>
              </a:ext>
            </a:extLst>
          </p:cNvPr>
          <p:cNvSpPr txBox="1"/>
          <p:nvPr/>
        </p:nvSpPr>
        <p:spPr>
          <a:xfrm>
            <a:off x="7366000" y="2921000"/>
            <a:ext cx="457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  </a:t>
            </a:r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扩大开放吸引高科技</a:t>
            </a:r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FDI</a:t>
            </a:r>
            <a:endParaRPr lang="zh-CN" altLang="en-US" sz="1000">
              <a:solidFill>
                <a:srgbClr val="7575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A9507760-66CF-B030-CC07-D80E59BE6FFF}"/>
              </a:ext>
            </a:extLst>
          </p:cNvPr>
          <p:cNvSpPr txBox="1"/>
          <p:nvPr/>
        </p:nvSpPr>
        <p:spPr>
          <a:xfrm>
            <a:off x="7366000" y="3175000"/>
            <a:ext cx="457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endParaRPr lang="zh-CN" altLang="en-US" sz="1000">
              <a:solidFill>
                <a:srgbClr val="7575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E3E80274-75C3-B2F6-3D4A-A4A963C4E3CF}"/>
              </a:ext>
            </a:extLst>
          </p:cNvPr>
          <p:cNvSpPr txBox="1"/>
          <p:nvPr/>
        </p:nvSpPr>
        <p:spPr>
          <a:xfrm>
            <a:off x="7366000" y="3429000"/>
            <a:ext cx="457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 b="1">
                <a:solidFill>
                  <a:srgbClr val="212121"/>
                </a:solidFill>
                <a:latin typeface="Microsoft YaHei" panose="020B0503020204020204" pitchFamily="34" charset="-122"/>
              </a:rPr>
              <a:t>对投资者：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BB3CA03-ECE0-8CD7-9A13-8D4B3A5B257E}"/>
              </a:ext>
            </a:extLst>
          </p:cNvPr>
          <p:cNvSpPr txBox="1"/>
          <p:nvPr/>
        </p:nvSpPr>
        <p:spPr>
          <a:xfrm>
            <a:off x="7366000" y="3683000"/>
            <a:ext cx="457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  </a:t>
            </a:r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分散化降低科技集中度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A43084A1-51E7-CE2C-E29B-2CF970CC43E8}"/>
              </a:ext>
            </a:extLst>
          </p:cNvPr>
          <p:cNvSpPr txBox="1"/>
          <p:nvPr/>
        </p:nvSpPr>
        <p:spPr>
          <a:xfrm>
            <a:off x="7366000" y="3937000"/>
            <a:ext cx="457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  </a:t>
            </a:r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关注</a:t>
            </a:r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EM</a:t>
            </a:r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和中国结构性机会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29BE5D5-6EFF-A166-6AED-4F4B4BEB20B3}"/>
              </a:ext>
            </a:extLst>
          </p:cNvPr>
          <p:cNvSpPr txBox="1"/>
          <p:nvPr/>
        </p:nvSpPr>
        <p:spPr>
          <a:xfrm>
            <a:off x="7366000" y="4191000"/>
            <a:ext cx="457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  </a:t>
            </a:r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配置对冲工具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A602C77A-406F-DDDE-0F36-DBA0B3F71F98}"/>
              </a:ext>
            </a:extLst>
          </p:cNvPr>
          <p:cNvSpPr txBox="1"/>
          <p:nvPr/>
        </p:nvSpPr>
        <p:spPr>
          <a:xfrm>
            <a:off x="7366000" y="4445000"/>
            <a:ext cx="457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  </a:t>
            </a:r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• AI</a:t>
            </a:r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长期趋势</a:t>
            </a:r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+</a:t>
            </a:r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警惕短期泡沫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20DE357E-39B0-9295-832B-6ADD1DACC017}"/>
              </a:ext>
            </a:extLst>
          </p:cNvPr>
          <p:cNvSpPr txBox="1"/>
          <p:nvPr/>
        </p:nvSpPr>
        <p:spPr>
          <a:xfrm>
            <a:off x="7366000" y="4699000"/>
            <a:ext cx="457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endParaRPr lang="zh-CN" altLang="en-US" sz="1000">
              <a:solidFill>
                <a:srgbClr val="7575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B6CC3134-4213-5F9B-7EB2-AF592BA15196}"/>
              </a:ext>
            </a:extLst>
          </p:cNvPr>
          <p:cNvSpPr txBox="1"/>
          <p:nvPr/>
        </p:nvSpPr>
        <p:spPr>
          <a:xfrm>
            <a:off x="7366000" y="4953000"/>
            <a:ext cx="457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 b="1">
                <a:solidFill>
                  <a:srgbClr val="212121"/>
                </a:solidFill>
                <a:latin typeface="Microsoft YaHei" panose="020B0503020204020204" pitchFamily="34" charset="-122"/>
              </a:rPr>
              <a:t>对企业：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F1595560-F1C0-C0DE-3C55-4579B3A226AA}"/>
              </a:ext>
            </a:extLst>
          </p:cNvPr>
          <p:cNvSpPr txBox="1"/>
          <p:nvPr/>
        </p:nvSpPr>
        <p:spPr>
          <a:xfrm>
            <a:off x="7366000" y="5207000"/>
            <a:ext cx="457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  </a:t>
            </a:r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加速</a:t>
            </a:r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转型提升效率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F7B14EED-8532-CAE9-41BA-47E0E9FEA37B}"/>
              </a:ext>
            </a:extLst>
          </p:cNvPr>
          <p:cNvSpPr txBox="1"/>
          <p:nvPr/>
        </p:nvSpPr>
        <p:spPr>
          <a:xfrm>
            <a:off x="7366000" y="5461000"/>
            <a:ext cx="457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  </a:t>
            </a:r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多元化供应链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3796B5BF-28B3-A6F6-1A03-DAB60AFEC335}"/>
              </a:ext>
            </a:extLst>
          </p:cNvPr>
          <p:cNvSpPr txBox="1"/>
          <p:nvPr/>
        </p:nvSpPr>
        <p:spPr>
          <a:xfrm>
            <a:off x="7366000" y="5715000"/>
            <a:ext cx="457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  </a:t>
            </a:r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关注新兴市场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AF2C0E2-4F9B-CBF9-6F4B-B2BFE18BCA2B}"/>
              </a:ext>
            </a:extLst>
          </p:cNvPr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32231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1946C74D-1AFA-B0E4-9AB9-05200FA0EFE2}"/>
              </a:ext>
            </a:extLst>
          </p:cNvPr>
          <p:cNvSpPr txBox="1"/>
          <p:nvPr/>
        </p:nvSpPr>
        <p:spPr>
          <a:xfrm>
            <a:off x="508000" y="6540500"/>
            <a:ext cx="7620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800">
                <a:solidFill>
                  <a:srgbClr val="FFFFFF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sz="800">
                <a:solidFill>
                  <a:srgbClr val="FFFFFF"/>
                </a:solidFill>
                <a:latin typeface="Microsoft YaHei" panose="020B0503020204020204" pitchFamily="34" charset="-122"/>
              </a:rPr>
              <a:t>资本泡沫与全球经济走势分析 </a:t>
            </a:r>
            <a:r>
              <a:rPr lang="en-US" altLang="zh-CN" sz="800">
                <a:solidFill>
                  <a:srgbClr val="FFFFFF"/>
                </a:solidFill>
                <a:latin typeface="Microsoft YaHei" panose="020B0503020204020204" pitchFamily="34" charset="-122"/>
              </a:rPr>
              <a:t>| 2026</a:t>
            </a:r>
            <a:endParaRPr lang="zh-CN" altLang="en-US" sz="800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69606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6C6B1648-A61D-F50C-5403-1AD324B0E70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8281B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7230C3D-54CC-542C-02FB-C6954CB5606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1B0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6D241104-31DF-22B9-8640-99A0E9C32BEA}"/>
              </a:ext>
            </a:extLst>
          </p:cNvPr>
          <p:cNvSpPr/>
          <p:nvPr/>
        </p:nvSpPr>
        <p:spPr>
          <a:xfrm>
            <a:off x="4445000" y="1270000"/>
            <a:ext cx="3302000" cy="3302000"/>
          </a:xfrm>
          <a:prstGeom prst="ellipse">
            <a:avLst/>
          </a:prstGeom>
          <a:solidFill>
            <a:srgbClr val="C06515">
              <a:alpha val="3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51EA3F3-BA7E-F6BC-C711-6F36CF1392AA}"/>
              </a:ext>
            </a:extLst>
          </p:cNvPr>
          <p:cNvSpPr/>
          <p:nvPr/>
        </p:nvSpPr>
        <p:spPr>
          <a:xfrm>
            <a:off x="5080000" y="1905000"/>
            <a:ext cx="2540000" cy="38100"/>
          </a:xfrm>
          <a:prstGeom prst="rect">
            <a:avLst/>
          </a:prstGeom>
          <a:solidFill>
            <a:srgbClr val="F3962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0C11C03-D91A-48AF-FDEC-0881B077A792}"/>
              </a:ext>
            </a:extLst>
          </p:cNvPr>
          <p:cNvSpPr txBox="1"/>
          <p:nvPr/>
        </p:nvSpPr>
        <p:spPr>
          <a:xfrm>
            <a:off x="2540000" y="2159000"/>
            <a:ext cx="7620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3600" b="1">
                <a:solidFill>
                  <a:srgbClr val="FFFFFF"/>
                </a:solidFill>
                <a:latin typeface="Microsoft YaHei" panose="020B0503020204020204" pitchFamily="34" charset="-122"/>
              </a:rPr>
              <a:t>Thank You</a:t>
            </a:r>
            <a:endParaRPr lang="zh-CN" altLang="en-US" sz="36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436F8F5-87E7-BD64-9477-B66810BF0CDB}"/>
              </a:ext>
            </a:extLst>
          </p:cNvPr>
          <p:cNvSpPr txBox="1"/>
          <p:nvPr/>
        </p:nvSpPr>
        <p:spPr>
          <a:xfrm>
            <a:off x="2540000" y="2921000"/>
            <a:ext cx="762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600">
                <a:solidFill>
                  <a:srgbClr val="F39621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sz="1600">
                <a:solidFill>
                  <a:srgbClr val="F39621"/>
                </a:solidFill>
                <a:latin typeface="Microsoft YaHei" panose="020B0503020204020204" pitchFamily="34" charset="-122"/>
              </a:rPr>
              <a:t>资本泡沫与全球经济未来影响分析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FB30C8B-C9E5-6D6E-71D1-C403C8CB9328}"/>
              </a:ext>
            </a:extLst>
          </p:cNvPr>
          <p:cNvSpPr/>
          <p:nvPr/>
        </p:nvSpPr>
        <p:spPr>
          <a:xfrm>
            <a:off x="5080000" y="3492500"/>
            <a:ext cx="2540000" cy="38100"/>
          </a:xfrm>
          <a:prstGeom prst="rect">
            <a:avLst/>
          </a:prstGeom>
          <a:solidFill>
            <a:srgbClr val="F3962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6C0918D-DCA5-022E-2866-55F21598EB26}"/>
              </a:ext>
            </a:extLst>
          </p:cNvPr>
          <p:cNvSpPr txBox="1"/>
          <p:nvPr/>
        </p:nvSpPr>
        <p:spPr>
          <a:xfrm>
            <a:off x="2540000" y="3810000"/>
            <a:ext cx="7620000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100">
                <a:solidFill>
                  <a:srgbClr val="757575"/>
                </a:solidFill>
                <a:latin typeface="Microsoft YaHei" panose="020B0503020204020204" pitchFamily="34" charset="-122"/>
              </a:rPr>
              <a:t>数据来源
</a:t>
            </a:r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IMF · </a:t>
            </a:r>
            <a:r>
              <a:rPr lang="zh-CN" altLang="en-US" sz="1100">
                <a:solidFill>
                  <a:srgbClr val="757575"/>
                </a:solidFill>
                <a:latin typeface="Microsoft YaHei" panose="020B0503020204020204" pitchFamily="34" charset="-122"/>
              </a:rPr>
              <a:t>世界银行 </a:t>
            </a:r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· UNCTAD · OECD · IDC
Goldman Sachs · J.P. Morgan · </a:t>
            </a:r>
            <a:r>
              <a:rPr lang="zh-CN" altLang="en-US" sz="1100">
                <a:solidFill>
                  <a:srgbClr val="757575"/>
                </a:solidFill>
                <a:latin typeface="Microsoft YaHei" panose="020B0503020204020204" pitchFamily="34" charset="-122"/>
              </a:rPr>
              <a:t>中国统计局 </a:t>
            </a:r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100">
                <a:solidFill>
                  <a:srgbClr val="757575"/>
                </a:solidFill>
                <a:latin typeface="Microsoft YaHei" panose="020B0503020204020204" pitchFamily="34" charset="-122"/>
              </a:rPr>
              <a:t>工信部
</a:t>
            </a:r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2026</a:t>
            </a:r>
            <a:r>
              <a:rPr lang="zh-CN" altLang="en-US" sz="1100">
                <a:solidFill>
                  <a:srgbClr val="757575"/>
                </a:solidFill>
                <a:latin typeface="Microsoft YaHei" panose="020B0503020204020204" pitchFamily="34" charset="-122"/>
              </a:rPr>
              <a:t>年</a:t>
            </a:r>
            <a:r>
              <a:rPr lang="en-US" altLang="zh-CN" sz="1100">
                <a:solidFill>
                  <a:srgbClr val="757575"/>
                </a:solidFill>
                <a:latin typeface="Microsoft YaHei" panose="020B0503020204020204" pitchFamily="34" charset="-122"/>
              </a:rPr>
              <a:t>6</a:t>
            </a:r>
            <a:r>
              <a:rPr lang="zh-CN" altLang="en-US" sz="1100">
                <a:solidFill>
                  <a:srgbClr val="757575"/>
                </a:solidFill>
                <a:latin typeface="Microsoft YaHei" panose="020B0503020204020204" pitchFamily="34" charset="-122"/>
              </a:rPr>
              <a:t>月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AEFB3F7-8B28-6882-9123-6E2E8B0C29A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7000" y="4445000"/>
            <a:ext cx="3810000" cy="1905000"/>
          </a:xfrm>
          <a:prstGeom prst="rect">
            <a:avLst/>
          </a:prstGeom>
          <a:effectLst>
            <a:outerShdw blurRad="152400" dist="37357" dir="2700000" rotWithShape="0">
              <a:scrgbClr r="0" g="0" b="0"/>
            </a:outerShdw>
          </a:effectLst>
        </p:spPr>
      </p:pic>
    </p:spTree>
    <p:extLst>
      <p:ext uri="{BB962C8B-B14F-4D97-AF65-F5344CB8AC3E}">
        <p14:creationId xmlns:p14="http://schemas.microsoft.com/office/powerpoint/2010/main" val="1717048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2448</Words>
  <Application>Microsoft Office PowerPoint</Application>
  <PresentationFormat>自定义</PresentationFormat>
  <Paragraphs>490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1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yadong Wang</dc:creator>
  <cp:lastModifiedBy>yadong Wang</cp:lastModifiedBy>
  <cp:revision>2</cp:revision>
  <dcterms:created xsi:type="dcterms:W3CDTF">2026-06-19T05:02:03Z</dcterms:created>
  <dcterms:modified xsi:type="dcterms:W3CDTF">2026-06-19T05:03:11Z</dcterms:modified>
</cp:coreProperties>
</file>